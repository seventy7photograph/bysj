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3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4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68" r:id="rId2"/>
    <p:sldId id="337" r:id="rId3"/>
    <p:sldId id="336" r:id="rId4"/>
    <p:sldId id="338" r:id="rId5"/>
    <p:sldId id="343" r:id="rId6"/>
    <p:sldId id="356" r:id="rId7"/>
    <p:sldId id="346" r:id="rId8"/>
    <p:sldId id="373" r:id="rId9"/>
    <p:sldId id="374" r:id="rId10"/>
    <p:sldId id="349" r:id="rId11"/>
    <p:sldId id="350" r:id="rId12"/>
    <p:sldId id="355" r:id="rId13"/>
    <p:sldId id="371" r:id="rId14"/>
    <p:sldId id="359" r:id="rId15"/>
    <p:sldId id="361" r:id="rId16"/>
    <p:sldId id="370" r:id="rId17"/>
    <p:sldId id="372" r:id="rId18"/>
    <p:sldId id="366" r:id="rId19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6" userDrawn="1">
          <p15:clr>
            <a:srgbClr val="A4A3A4"/>
          </p15:clr>
        </p15:guide>
        <p15:guide id="2" pos="549" userDrawn="1">
          <p15:clr>
            <a:srgbClr val="A4A3A4"/>
          </p15:clr>
        </p15:guide>
        <p15:guide id="3" pos="7038" userDrawn="1">
          <p15:clr>
            <a:srgbClr val="A4A3A4"/>
          </p15:clr>
        </p15:guide>
        <p15:guide id="4" orient="horz" pos="382" userDrawn="1">
          <p15:clr>
            <a:srgbClr val="A4A3A4"/>
          </p15:clr>
        </p15:guide>
        <p15:guide id="5" orient="horz" pos="3880" userDrawn="1">
          <p15:clr>
            <a:srgbClr val="A4A3A4"/>
          </p15:clr>
        </p15:guide>
        <p15:guide id="6" orient="horz" pos="993" userDrawn="1">
          <p15:clr>
            <a:srgbClr val="A4A3A4"/>
          </p15:clr>
        </p15:guide>
        <p15:guide id="7" pos="4021" userDrawn="1">
          <p15:clr>
            <a:srgbClr val="A4A3A4"/>
          </p15:clr>
        </p15:guide>
        <p15:guide id="8" pos="6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73BC"/>
    <a:srgbClr val="7AA8D5"/>
    <a:srgbClr val="FFFFFF"/>
    <a:srgbClr val="F3F4F5"/>
    <a:srgbClr val="CECDCC"/>
    <a:srgbClr val="BBD4EA"/>
    <a:srgbClr val="6A9DD1"/>
    <a:srgbClr val="DEEBF7"/>
    <a:srgbClr val="E2E3E3"/>
    <a:srgbClr val="EEE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26" y="108"/>
      </p:cViewPr>
      <p:guideLst>
        <p:guide orient="horz" pos="1966"/>
        <p:guide pos="549"/>
        <p:guide pos="7038"/>
        <p:guide orient="horz" pos="382"/>
        <p:guide orient="horz" pos="3880"/>
        <p:guide orient="horz" pos="993"/>
        <p:guide pos="4021"/>
        <p:guide pos="635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2026/4/10</a:t>
            </a:fld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‹#›</a:t>
            </a:fld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pPr/>
              <a:t>2026/4/10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1325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43A-5289-4565-AB31-88949A612AA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A80F-5362-4579-B8D0-444677A48F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43A-5289-4565-AB31-88949A612AA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A80F-5362-4579-B8D0-444677A48F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43A-5289-4565-AB31-88949A612AA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A80F-5362-4579-B8D0-444677A48F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43A-5289-4565-AB31-88949A612AA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A80F-5362-4579-B8D0-444677A48F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43A-5289-4565-AB31-88949A612AA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A80F-5362-4579-B8D0-444677A48F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43A-5289-4565-AB31-88949A612AA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A80F-5362-4579-B8D0-444677A48F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43A-5289-4565-AB31-88949A612AA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A80F-5362-4579-B8D0-444677A48F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43A-5289-4565-AB31-88949A612AA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A80F-5362-4579-B8D0-444677A48F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43A-5289-4565-AB31-88949A612AA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A80F-5362-4579-B8D0-444677A48F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43A-5289-4565-AB31-88949A612AA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A80F-5362-4579-B8D0-444677A48F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FB43A-5289-4565-AB31-88949A612AA3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A80F-5362-4579-B8D0-444677A48F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77FB43A-5289-4565-AB31-88949A612AA3}" type="datetimeFigureOut">
              <a:rPr lang="zh-CN" altLang="en-US" smtClean="0"/>
              <a:pPr/>
              <a:t>2026/4/10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885DA80F-5362-4579-B8D0-444677A48F3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4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image" Target="../media/image7.png"/><Relationship Id="rId4" Type="http://schemas.openxmlformats.org/officeDocument/2006/relationships/tags" Target="../tags/tag5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26" Type="http://schemas.openxmlformats.org/officeDocument/2006/relationships/tags" Target="../tags/tag33.xml"/><Relationship Id="rId3" Type="http://schemas.openxmlformats.org/officeDocument/2006/relationships/tags" Target="../tags/tag10.xml"/><Relationship Id="rId21" Type="http://schemas.openxmlformats.org/officeDocument/2006/relationships/tags" Target="../tags/tag28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5" Type="http://schemas.openxmlformats.org/officeDocument/2006/relationships/tags" Target="../tags/tag32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tags" Target="../tags/tag27.xml"/><Relationship Id="rId29" Type="http://schemas.openxmlformats.org/officeDocument/2006/relationships/notesSlide" Target="../notesSlides/notesSlide3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24" Type="http://schemas.openxmlformats.org/officeDocument/2006/relationships/tags" Target="../tags/tag31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tags" Target="../tags/tag30.xml"/><Relationship Id="rId28" Type="http://schemas.openxmlformats.org/officeDocument/2006/relationships/slideLayout" Target="../slideLayouts/slideLayout1.xml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tags" Target="../tags/tag29.xml"/><Relationship Id="rId27" Type="http://schemas.openxmlformats.org/officeDocument/2006/relationships/tags" Target="../tags/tag34.xml"/><Relationship Id="rId30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tags" Target="../tags/tag52.xml"/><Relationship Id="rId3" Type="http://schemas.openxmlformats.org/officeDocument/2006/relationships/tags" Target="../tags/tag37.xml"/><Relationship Id="rId21" Type="http://schemas.openxmlformats.org/officeDocument/2006/relationships/image" Target="../media/image5.png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tags" Target="../tags/tag53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2" Type="http://schemas.openxmlformats.org/officeDocument/2006/relationships/tags" Target="../tags/tag55.xml"/><Relationship Id="rId16" Type="http://schemas.openxmlformats.org/officeDocument/2006/relationships/image" Target="../media/image5.png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63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image" Target="../media/image5.png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260850" y="1104900"/>
            <a:ext cx="4245610" cy="4245610"/>
            <a:chOff x="7297" y="2629"/>
            <a:chExt cx="5542" cy="5542"/>
          </a:xfrm>
        </p:grpSpPr>
        <p:sp>
          <p:nvSpPr>
            <p:cNvPr id="5" name="矩形 4"/>
            <p:cNvSpPr/>
            <p:nvPr/>
          </p:nvSpPr>
          <p:spPr>
            <a:xfrm rot="2700000">
              <a:off x="7297" y="2629"/>
              <a:ext cx="5542" cy="5542"/>
            </a:xfrm>
            <a:prstGeom prst="rect">
              <a:avLst/>
            </a:prstGeom>
            <a:solidFill>
              <a:srgbClr val="CECDCC">
                <a:alpha val="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 rot="2700000">
              <a:off x="7831" y="3163"/>
              <a:ext cx="4474" cy="4474"/>
            </a:xfrm>
            <a:prstGeom prst="rect">
              <a:avLst/>
            </a:prstGeom>
            <a:solidFill>
              <a:srgbClr val="7AA8D5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pic>
        <p:nvPicPr>
          <p:cNvPr id="24" name="图片 23" descr="vecteezy_graduation-cap-icon-vector-graduation-gown-symbol-for_6935150 [转换]-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482" y="940373"/>
            <a:ext cx="1236345" cy="63881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4181067" y="3763415"/>
            <a:ext cx="4405176" cy="345440"/>
            <a:chOff x="4773" y="6521"/>
            <a:chExt cx="10008" cy="544"/>
          </a:xfrm>
        </p:grpSpPr>
        <p:sp>
          <p:nvSpPr>
            <p:cNvPr id="25" name="圆角矩形 24"/>
            <p:cNvSpPr/>
            <p:nvPr/>
          </p:nvSpPr>
          <p:spPr>
            <a:xfrm>
              <a:off x="4773" y="6521"/>
              <a:ext cx="10008" cy="544"/>
            </a:xfrm>
            <a:prstGeom prst="roundRect">
              <a:avLst>
                <a:gd name="adj" fmla="val 50000"/>
              </a:avLst>
            </a:prstGeom>
            <a:solidFill>
              <a:srgbClr val="2A73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158" y="6574"/>
              <a:ext cx="926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基于</a:t>
              </a:r>
              <a:r>
                <a:rPr lang="en-US" altLang="zh-CN" sz="1200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Spring Boot + Vue 3</a:t>
              </a:r>
              <a:r>
                <a:rPr lang="zh-CN" altLang="en-US" sz="1200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的全栈解决方案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15521" y="2551132"/>
            <a:ext cx="10687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摄影器材交易系统设计与实现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5F3D749-1450-8E98-7C41-BCEABDA25A61}"/>
              </a:ext>
            </a:extLst>
          </p:cNvPr>
          <p:cNvGrpSpPr/>
          <p:nvPr/>
        </p:nvGrpSpPr>
        <p:grpSpPr>
          <a:xfrm>
            <a:off x="4367588" y="4528248"/>
            <a:ext cx="3983406" cy="703629"/>
            <a:chOff x="4350531" y="4541196"/>
            <a:chExt cx="4235712" cy="703629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28FDEB6-485E-2C4A-BC3B-93DEF8B4B8FB}"/>
                </a:ext>
              </a:extLst>
            </p:cNvPr>
            <p:cNvGrpSpPr/>
            <p:nvPr/>
          </p:nvGrpSpPr>
          <p:grpSpPr>
            <a:xfrm>
              <a:off x="4350531" y="4541196"/>
              <a:ext cx="4235712" cy="700845"/>
              <a:chOff x="4350531" y="4541196"/>
              <a:chExt cx="3530713" cy="700845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4355150" y="4551507"/>
                <a:ext cx="3526094" cy="690534"/>
                <a:chOff x="6719" y="8904"/>
                <a:chExt cx="4580" cy="572"/>
              </a:xfrm>
            </p:grpSpPr>
            <p:sp>
              <p:nvSpPr>
                <p:cNvPr id="29" name="文本框 28"/>
                <p:cNvSpPr txBox="1"/>
                <p:nvPr/>
              </p:nvSpPr>
              <p:spPr>
                <a:xfrm>
                  <a:off x="6719" y="9234"/>
                  <a:ext cx="2227" cy="2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zh-CN" altLang="en-US" sz="1300" spc="200" dirty="0">
                      <a:solidFill>
                        <a:srgbClr val="2A73B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宋体" panose="02010600030101010101" pitchFamily="2" charset="-122"/>
                    </a:rPr>
                    <a:t>指导老师：</a:t>
                  </a:r>
                  <a:r>
                    <a:rPr lang="zh-CN" altLang="en-US" sz="1300" spc="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宋体" panose="02010600030101010101" pitchFamily="2" charset="-122"/>
                    </a:rPr>
                    <a:t>王建红</a:t>
                  </a:r>
                  <a:endParaRPr lang="en-US" altLang="zh-CN" sz="1300" spc="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9274" y="8904"/>
                  <a:ext cx="2025" cy="2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zh-CN" altLang="en-US" sz="1300" spc="200" dirty="0">
                      <a:solidFill>
                        <a:srgbClr val="2A73B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宋体" panose="02010600030101010101" pitchFamily="2" charset="-122"/>
                    </a:rPr>
                    <a:t>答辩人：</a:t>
                  </a:r>
                  <a:r>
                    <a:rPr lang="zh-CN" altLang="en-US" sz="1300" spc="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宋体" panose="02010600030101010101" pitchFamily="2" charset="-122"/>
                    </a:rPr>
                    <a:t>詹仕杰</a:t>
                  </a:r>
                  <a:endParaRPr lang="en-US" altLang="zh-CN" sz="1300" spc="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endParaRPr>
                </a:p>
              </p:txBody>
            </p: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A749FC9-628B-14A9-74F1-8722E8719A02}"/>
                  </a:ext>
                </a:extLst>
              </p:cNvPr>
              <p:cNvSpPr txBox="1"/>
              <p:nvPr/>
            </p:nvSpPr>
            <p:spPr>
              <a:xfrm>
                <a:off x="4350531" y="4541196"/>
                <a:ext cx="2039966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1300" spc="200" dirty="0">
                    <a:solidFill>
                      <a:srgbClr val="2A73B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学号：</a:t>
                </a:r>
                <a:r>
                  <a:rPr lang="en-US" altLang="zh-CN" sz="1300" spc="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2240709305</a:t>
                </a:r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FFC6CCD-F4FC-894F-6CEB-0D4F391D594D}"/>
                </a:ext>
              </a:extLst>
            </p:cNvPr>
            <p:cNvSpPr txBox="1"/>
            <p:nvPr/>
          </p:nvSpPr>
          <p:spPr>
            <a:xfrm>
              <a:off x="6722106" y="4952437"/>
              <a:ext cx="1864137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300" spc="200" dirty="0">
                  <a:solidFill>
                    <a:srgbClr val="2A73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日期：</a:t>
              </a:r>
              <a:r>
                <a:rPr lang="en-US" altLang="zh-CN" sz="1300" spc="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2026</a:t>
              </a:r>
              <a:r>
                <a:rPr lang="zh-CN" altLang="en-US" sz="1300" spc="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年</a:t>
              </a:r>
              <a:r>
                <a:rPr lang="en-US" altLang="zh-CN" sz="1300" spc="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4</a:t>
              </a:r>
              <a:r>
                <a:rPr lang="zh-CN" altLang="en-US" sz="1300" spc="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月</a:t>
              </a:r>
              <a:endParaRPr lang="en-US" altLang="zh-CN" sz="130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44928C2A-153E-51B7-532B-0ADD27F003C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6110" y="264140"/>
            <a:ext cx="1080000" cy="1080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5172510-E741-B6E0-C7A4-249640A5B81E}"/>
              </a:ext>
            </a:extLst>
          </p:cNvPr>
          <p:cNvSpPr txBox="1"/>
          <p:nvPr/>
        </p:nvSpPr>
        <p:spPr>
          <a:xfrm>
            <a:off x="2101095" y="1549045"/>
            <a:ext cx="8578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2026</a:t>
            </a:r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届本科生毕业设计（论文）答辩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未标题-1-03"/>
          <p:cNvPicPr>
            <a:picLocks noChangeAspect="1"/>
          </p:cNvPicPr>
          <p:nvPr/>
        </p:nvPicPr>
        <p:blipFill>
          <a:blip r:embed="rId2"/>
          <a:srcRect l="7610" t="30374" r="28889" b="2470"/>
          <a:stretch>
            <a:fillRect/>
          </a:stretch>
        </p:blipFill>
        <p:spPr>
          <a:xfrm rot="10800000">
            <a:off x="0" y="3129915"/>
            <a:ext cx="2439670" cy="3728085"/>
          </a:xfrm>
          <a:prstGeom prst="rect">
            <a:avLst/>
          </a:prstGeom>
        </p:spPr>
      </p:pic>
      <p:pic>
        <p:nvPicPr>
          <p:cNvPr id="8" name="图片 7" descr="未标题-1-02"/>
          <p:cNvPicPr>
            <a:picLocks noChangeAspect="1"/>
          </p:cNvPicPr>
          <p:nvPr/>
        </p:nvPicPr>
        <p:blipFill>
          <a:blip r:embed="rId3"/>
          <a:srcRect l="28423" b="26938"/>
          <a:stretch>
            <a:fillRect/>
          </a:stretch>
        </p:blipFill>
        <p:spPr>
          <a:xfrm rot="10800000">
            <a:off x="9777095" y="0"/>
            <a:ext cx="2414905" cy="379349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620520" y="868045"/>
            <a:ext cx="4374515" cy="1014730"/>
            <a:chOff x="1600" y="1246"/>
            <a:chExt cx="6889" cy="1598"/>
          </a:xfrm>
        </p:grpSpPr>
        <p:sp>
          <p:nvSpPr>
            <p:cNvPr id="9" name="文本框 8"/>
            <p:cNvSpPr txBox="1"/>
            <p:nvPr/>
          </p:nvSpPr>
          <p:spPr>
            <a:xfrm>
              <a:off x="1600" y="1246"/>
              <a:ext cx="2808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60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目录</a:t>
              </a: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4408" y="1683"/>
              <a:ext cx="408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2A73BC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CONTENTS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2083118" y="2503170"/>
            <a:ext cx="8025765" cy="2642235"/>
            <a:chOff x="3968" y="4017"/>
            <a:chExt cx="12639" cy="4161"/>
          </a:xfrm>
        </p:grpSpPr>
        <p:grpSp>
          <p:nvGrpSpPr>
            <p:cNvPr id="48" name="组合 47"/>
            <p:cNvGrpSpPr/>
            <p:nvPr/>
          </p:nvGrpSpPr>
          <p:grpSpPr>
            <a:xfrm>
              <a:off x="3968" y="7266"/>
              <a:ext cx="5322" cy="912"/>
              <a:chOff x="-2084" y="7877"/>
              <a:chExt cx="5322" cy="912"/>
            </a:xfrm>
          </p:grpSpPr>
          <p:sp>
            <p:nvSpPr>
              <p:cNvPr id="49" name="椭圆 48"/>
              <p:cNvSpPr/>
              <p:nvPr/>
            </p:nvSpPr>
            <p:spPr>
              <a:xfrm>
                <a:off x="-2084" y="7877"/>
                <a:ext cx="664" cy="664"/>
              </a:xfrm>
              <a:prstGeom prst="ellipse">
                <a:avLst/>
              </a:prstGeom>
              <a:solidFill>
                <a:srgbClr val="7AA8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-1948" y="7967"/>
                <a:ext cx="1310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8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03.</a:t>
                </a: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-650" y="8012"/>
                <a:ext cx="3888" cy="6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功能实现与核心模块</a:t>
                </a:r>
                <a:endPara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651" y="4017"/>
              <a:ext cx="3340" cy="912"/>
              <a:chOff x="5599" y="2930"/>
              <a:chExt cx="3340" cy="912"/>
            </a:xfrm>
          </p:grpSpPr>
          <p:sp>
            <p:nvSpPr>
              <p:cNvPr id="53" name="椭圆 52"/>
              <p:cNvSpPr/>
              <p:nvPr/>
            </p:nvSpPr>
            <p:spPr>
              <a:xfrm>
                <a:off x="5599" y="2930"/>
                <a:ext cx="664" cy="664"/>
              </a:xfrm>
              <a:prstGeom prst="ellipse">
                <a:avLst/>
              </a:prstGeom>
              <a:solidFill>
                <a:srgbClr val="7AA8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5735" y="3020"/>
                <a:ext cx="1310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8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04.</a:t>
                </a: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7033" y="3065"/>
                <a:ext cx="1906" cy="6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关键技术</a:t>
                </a:r>
                <a:endPara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11651" y="5715"/>
              <a:ext cx="4956" cy="912"/>
              <a:chOff x="5599" y="2930"/>
              <a:chExt cx="4956" cy="912"/>
            </a:xfrm>
          </p:grpSpPr>
          <p:sp>
            <p:nvSpPr>
              <p:cNvPr id="57" name="椭圆 56"/>
              <p:cNvSpPr/>
              <p:nvPr/>
            </p:nvSpPr>
            <p:spPr>
              <a:xfrm>
                <a:off x="5599" y="2930"/>
                <a:ext cx="664" cy="664"/>
              </a:xfrm>
              <a:prstGeom prst="ellipse">
                <a:avLst/>
              </a:prstGeom>
              <a:solidFill>
                <a:srgbClr val="7AA8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5735" y="3020"/>
                <a:ext cx="1310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8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05.</a:t>
                </a:r>
              </a:p>
            </p:txBody>
          </p:sp>
          <p:sp>
            <p:nvSpPr>
              <p:cNvPr id="59" name="文本框 58"/>
              <p:cNvSpPr txBox="1"/>
              <p:nvPr/>
            </p:nvSpPr>
            <p:spPr>
              <a:xfrm>
                <a:off x="7033" y="3065"/>
                <a:ext cx="3522" cy="6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毕业论文核心内容</a:t>
                </a:r>
                <a:endPara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3969" y="4017"/>
              <a:ext cx="5764" cy="912"/>
              <a:chOff x="5599" y="2930"/>
              <a:chExt cx="5764" cy="912"/>
            </a:xfrm>
          </p:grpSpPr>
          <p:sp>
            <p:nvSpPr>
              <p:cNvPr id="61" name="椭圆 60"/>
              <p:cNvSpPr/>
              <p:nvPr/>
            </p:nvSpPr>
            <p:spPr>
              <a:xfrm>
                <a:off x="5599" y="2930"/>
                <a:ext cx="664" cy="664"/>
              </a:xfrm>
              <a:prstGeom prst="ellipse">
                <a:avLst/>
              </a:prstGeom>
              <a:solidFill>
                <a:srgbClr val="7AA8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5735" y="3020"/>
                <a:ext cx="1310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8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01.</a:t>
                </a: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7033" y="3065"/>
                <a:ext cx="4330" cy="6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课题任务、目的与意义</a:t>
                </a:r>
                <a:endPara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3968" y="5715"/>
              <a:ext cx="4956" cy="912"/>
              <a:chOff x="5598" y="2930"/>
              <a:chExt cx="4956" cy="912"/>
            </a:xfrm>
          </p:grpSpPr>
          <p:sp>
            <p:nvSpPr>
              <p:cNvPr id="65" name="椭圆 64"/>
              <p:cNvSpPr/>
              <p:nvPr/>
            </p:nvSpPr>
            <p:spPr>
              <a:xfrm>
                <a:off x="5598" y="2930"/>
                <a:ext cx="664" cy="664"/>
              </a:xfrm>
              <a:prstGeom prst="ellipse">
                <a:avLst/>
              </a:prstGeom>
              <a:solidFill>
                <a:srgbClr val="7AA8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5734" y="3020"/>
                <a:ext cx="1310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800" spc="3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02.</a:t>
                </a:r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7032" y="3065"/>
                <a:ext cx="3522" cy="6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系统架构和技术栈</a:t>
                </a:r>
                <a:endPara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</p:grpSp>
      </p:grpSp>
      <p:sp>
        <p:nvSpPr>
          <p:cNvPr id="2" name="椭圆 1">
            <a:extLst>
              <a:ext uri="{FF2B5EF4-FFF2-40B4-BE49-F238E27FC236}">
                <a16:creationId xmlns:a16="http://schemas.microsoft.com/office/drawing/2014/main" id="{EB2DBD03-33EC-C79C-C1BE-DF08EBC429BE}"/>
              </a:ext>
            </a:extLst>
          </p:cNvPr>
          <p:cNvSpPr/>
          <p:nvPr/>
        </p:nvSpPr>
        <p:spPr>
          <a:xfrm>
            <a:off x="6961822" y="4566285"/>
            <a:ext cx="421640" cy="421640"/>
          </a:xfrm>
          <a:prstGeom prst="ellipse">
            <a:avLst/>
          </a:prstGeom>
          <a:solidFill>
            <a:srgbClr val="7AA8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FABCB8-2FE7-B1A9-8928-733196E77B72}"/>
              </a:ext>
            </a:extLst>
          </p:cNvPr>
          <p:cNvSpPr txBox="1"/>
          <p:nvPr/>
        </p:nvSpPr>
        <p:spPr>
          <a:xfrm>
            <a:off x="7048182" y="4623435"/>
            <a:ext cx="806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06.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A49FF5-9809-FBEB-D371-1EFE05FC342F}"/>
              </a:ext>
            </a:extLst>
          </p:cNvPr>
          <p:cNvSpPr txBox="1"/>
          <p:nvPr/>
        </p:nvSpPr>
        <p:spPr>
          <a:xfrm>
            <a:off x="7872412" y="4652010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成果价值、创新点与总结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4260850" y="1104900"/>
            <a:ext cx="4245610" cy="4245610"/>
            <a:chOff x="7297" y="2629"/>
            <a:chExt cx="5542" cy="5542"/>
          </a:xfrm>
        </p:grpSpPr>
        <p:sp>
          <p:nvSpPr>
            <p:cNvPr id="27" name="矩形 26"/>
            <p:cNvSpPr/>
            <p:nvPr/>
          </p:nvSpPr>
          <p:spPr>
            <a:xfrm rot="2700000">
              <a:off x="7297" y="2629"/>
              <a:ext cx="5542" cy="5542"/>
            </a:xfrm>
            <a:prstGeom prst="rect">
              <a:avLst/>
            </a:prstGeom>
            <a:solidFill>
              <a:srgbClr val="CECDCC">
                <a:alpha val="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 rot="2700000">
              <a:off x="7831" y="3163"/>
              <a:ext cx="4474" cy="4474"/>
            </a:xfrm>
            <a:prstGeom prst="rect">
              <a:avLst/>
            </a:prstGeom>
            <a:solidFill>
              <a:srgbClr val="7AA8D5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2369004" y="2719873"/>
            <a:ext cx="80293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课题任务、目的与意义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457508" y="1980565"/>
            <a:ext cx="18522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spc="300" dirty="0">
                <a:solidFill>
                  <a:srgbClr val="2A73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PART 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平行四边形 23"/>
          <p:cNvSpPr/>
          <p:nvPr/>
        </p:nvSpPr>
        <p:spPr>
          <a:xfrm>
            <a:off x="10803255" y="997585"/>
            <a:ext cx="913765" cy="3688715"/>
          </a:xfrm>
          <a:prstGeom prst="parallelogram">
            <a:avLst/>
          </a:prstGeom>
          <a:solidFill>
            <a:srgbClr val="2A73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未标题-1-02"/>
          <p:cNvPicPr>
            <a:picLocks noChangeAspect="1"/>
          </p:cNvPicPr>
          <p:nvPr/>
        </p:nvPicPr>
        <p:blipFill>
          <a:blip r:embed="rId2"/>
          <a:srcRect l="28423" b="26938"/>
          <a:stretch>
            <a:fillRect/>
          </a:stretch>
        </p:blipFill>
        <p:spPr>
          <a:xfrm rot="10800000" flipH="1">
            <a:off x="0" y="0"/>
            <a:ext cx="1744980" cy="27412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2865" y="196215"/>
            <a:ext cx="3329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课题任务、目的与意义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DA2EC98-F14D-CD9D-387D-60BB03BDBE0D}"/>
              </a:ext>
            </a:extLst>
          </p:cNvPr>
          <p:cNvGrpSpPr/>
          <p:nvPr/>
        </p:nvGrpSpPr>
        <p:grpSpPr>
          <a:xfrm>
            <a:off x="1122043" y="1001242"/>
            <a:ext cx="5380990" cy="1887927"/>
            <a:chOff x="1122045" y="1376255"/>
            <a:chExt cx="5380990" cy="1887927"/>
          </a:xfrm>
        </p:grpSpPr>
        <p:sp>
          <p:nvSpPr>
            <p:cNvPr id="3" name="文本框 2"/>
            <p:cNvSpPr txBox="1"/>
            <p:nvPr/>
          </p:nvSpPr>
          <p:spPr>
            <a:xfrm>
              <a:off x="1122045" y="1917275"/>
              <a:ext cx="5380990" cy="1346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rPr>
                <a:t>设计并实现一个功能完善的摄影器材交易系统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rPr>
                <a:t>支持用户注册、登录、商品浏览、购买、租赁等功能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rPr>
                <a:t>实现用户管理、商品管理、订单管理、数据统计等后台功能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rPr>
                <a:t>确保系统的安全性、可靠性和可扩展性</a:t>
              </a: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918CAF6-F20C-93EE-FD48-FE2A3B2AA05E}"/>
                </a:ext>
              </a:extLst>
            </p:cNvPr>
            <p:cNvGrpSpPr/>
            <p:nvPr/>
          </p:nvGrpSpPr>
          <p:grpSpPr>
            <a:xfrm>
              <a:off x="1122045" y="1376255"/>
              <a:ext cx="1757680" cy="421005"/>
              <a:chOff x="1122045" y="1376255"/>
              <a:chExt cx="1757680" cy="421005"/>
            </a:xfrm>
          </p:grpSpPr>
          <p:sp>
            <p:nvSpPr>
              <p:cNvPr id="4" name="文本框 3"/>
              <p:cNvSpPr txBox="1"/>
              <p:nvPr/>
            </p:nvSpPr>
            <p:spPr>
              <a:xfrm>
                <a:off x="1122045" y="1376255"/>
                <a:ext cx="17576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课题任务</a:t>
                </a:r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5" name="直接连接符 4"/>
              <p:cNvCxnSpPr/>
              <p:nvPr/>
            </p:nvCxnSpPr>
            <p:spPr>
              <a:xfrm>
                <a:off x="1217930" y="1797260"/>
                <a:ext cx="1369060" cy="0"/>
              </a:xfrm>
              <a:prstGeom prst="line">
                <a:avLst/>
              </a:prstGeom>
              <a:ln w="15875">
                <a:solidFill>
                  <a:srgbClr val="2A73B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任意多边形 19"/>
          <p:cNvSpPr/>
          <p:nvPr/>
        </p:nvSpPr>
        <p:spPr>
          <a:xfrm>
            <a:off x="6631305" y="0"/>
            <a:ext cx="4910455" cy="685800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7733" h="10800">
                <a:moveTo>
                  <a:pt x="0" y="10800"/>
                </a:moveTo>
                <a:lnTo>
                  <a:pt x="551" y="1909"/>
                </a:lnTo>
                <a:lnTo>
                  <a:pt x="2203" y="1909"/>
                </a:lnTo>
                <a:lnTo>
                  <a:pt x="1652" y="10800"/>
                </a:lnTo>
                <a:lnTo>
                  <a:pt x="0" y="10800"/>
                </a:lnTo>
                <a:close/>
                <a:moveTo>
                  <a:pt x="1934" y="8891"/>
                </a:moveTo>
                <a:lnTo>
                  <a:pt x="2485" y="0"/>
                </a:lnTo>
                <a:lnTo>
                  <a:pt x="4137" y="0"/>
                </a:lnTo>
                <a:lnTo>
                  <a:pt x="3586" y="8891"/>
                </a:lnTo>
                <a:lnTo>
                  <a:pt x="1934" y="8891"/>
                </a:lnTo>
                <a:close/>
                <a:moveTo>
                  <a:pt x="3611" y="10800"/>
                </a:moveTo>
                <a:lnTo>
                  <a:pt x="4162" y="1909"/>
                </a:lnTo>
                <a:lnTo>
                  <a:pt x="5814" y="1909"/>
                </a:lnTo>
                <a:lnTo>
                  <a:pt x="5263" y="10800"/>
                </a:lnTo>
                <a:lnTo>
                  <a:pt x="3611" y="10800"/>
                </a:lnTo>
                <a:close/>
                <a:moveTo>
                  <a:pt x="5530" y="8891"/>
                </a:moveTo>
                <a:lnTo>
                  <a:pt x="6081" y="0"/>
                </a:lnTo>
                <a:lnTo>
                  <a:pt x="7733" y="0"/>
                </a:lnTo>
                <a:lnTo>
                  <a:pt x="7182" y="8891"/>
                </a:lnTo>
                <a:lnTo>
                  <a:pt x="5530" y="8891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80F8102-5C7A-94EB-5712-EEC3FC34F992}"/>
              </a:ext>
            </a:extLst>
          </p:cNvPr>
          <p:cNvGrpSpPr/>
          <p:nvPr/>
        </p:nvGrpSpPr>
        <p:grpSpPr>
          <a:xfrm>
            <a:off x="1122043" y="3082802"/>
            <a:ext cx="5380989" cy="1720215"/>
            <a:chOff x="1122045" y="3593819"/>
            <a:chExt cx="5380989" cy="1720215"/>
          </a:xfrm>
        </p:grpSpPr>
        <p:grpSp>
          <p:nvGrpSpPr>
            <p:cNvPr id="14" name="组合 13"/>
            <p:cNvGrpSpPr/>
            <p:nvPr/>
          </p:nvGrpSpPr>
          <p:grpSpPr>
            <a:xfrm>
              <a:off x="1122045" y="3593819"/>
              <a:ext cx="5380989" cy="1720215"/>
              <a:chOff x="1767" y="6993"/>
              <a:chExt cx="3160" cy="2709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1767" y="6993"/>
                <a:ext cx="276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目的</a:t>
                </a:r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1767" y="7581"/>
                <a:ext cx="3160" cy="2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  <a:sym typeface="+mn-lt"/>
                  </a:rPr>
                  <a:t>为摄影爱好者和专业摄影师提供一个便捷的器材交易平台</a:t>
                </a:r>
                <a:endPara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  <a:sym typeface="+mn-lt"/>
                  </a:rPr>
                  <a:t>解决传统交易方式中的信息不对称、交易安全等问题</a:t>
                </a:r>
                <a:endPara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  <a:sym typeface="+mn-lt"/>
                  </a:rPr>
                  <a:t>提升摄影器材交易的效率和透明度</a:t>
                </a:r>
                <a:endPara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  <a:sym typeface="+mn-lt"/>
                  </a:rPr>
                  <a:t>学习和实践全栈开发技术，提升软件开发能力</a:t>
                </a:r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A961640-0D7D-A2DE-D16D-C1F87EA94221}"/>
                </a:ext>
              </a:extLst>
            </p:cNvPr>
            <p:cNvCxnSpPr/>
            <p:nvPr/>
          </p:nvCxnSpPr>
          <p:spPr>
            <a:xfrm>
              <a:off x="1217930" y="3995613"/>
              <a:ext cx="1369060" cy="0"/>
            </a:xfrm>
            <a:prstGeom prst="line">
              <a:avLst/>
            </a:prstGeom>
            <a:ln w="15875">
              <a:solidFill>
                <a:srgbClr val="2A73B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E7D1C68-0987-C8AC-CF4A-CEECA56E5ABA}"/>
              </a:ext>
            </a:extLst>
          </p:cNvPr>
          <p:cNvGrpSpPr/>
          <p:nvPr/>
        </p:nvGrpSpPr>
        <p:grpSpPr>
          <a:xfrm>
            <a:off x="1122043" y="4996650"/>
            <a:ext cx="5380989" cy="1720215"/>
            <a:chOff x="1122045" y="3593819"/>
            <a:chExt cx="5380989" cy="1720215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511B29AE-A677-1011-28FD-2B046C176F4C}"/>
                </a:ext>
              </a:extLst>
            </p:cNvPr>
            <p:cNvGrpSpPr/>
            <p:nvPr/>
          </p:nvGrpSpPr>
          <p:grpSpPr>
            <a:xfrm>
              <a:off x="1122045" y="3593819"/>
              <a:ext cx="5380989" cy="1720215"/>
              <a:chOff x="1767" y="6993"/>
              <a:chExt cx="3160" cy="2709"/>
            </a:xfrm>
          </p:grpSpPr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6CD0E12-D97E-39F0-DA94-7C7352003E37}"/>
                  </a:ext>
                </a:extLst>
              </p:cNvPr>
              <p:cNvSpPr txBox="1"/>
              <p:nvPr/>
            </p:nvSpPr>
            <p:spPr>
              <a:xfrm>
                <a:off x="1767" y="6993"/>
                <a:ext cx="276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意义</a:t>
                </a: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3EECEAF-80E8-6898-935E-2E96C4E487F5}"/>
                  </a:ext>
                </a:extLst>
              </p:cNvPr>
              <p:cNvSpPr txBox="1"/>
              <p:nvPr/>
            </p:nvSpPr>
            <p:spPr>
              <a:xfrm>
                <a:off x="1767" y="7581"/>
                <a:ext cx="3160" cy="2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  <a:sym typeface="+mn-lt"/>
                  </a:rPr>
                  <a:t>促进摄影器材的流通和共享，降低摄影爱好者的入门成本</a:t>
                </a:r>
                <a:endPara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  <a:sym typeface="+mn-lt"/>
                  </a:rPr>
                  <a:t>为摄影器材商家提供一个线上销售渠道，扩大市场覆盖</a:t>
                </a:r>
                <a:endPara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  <a:sym typeface="+mn-lt"/>
                  </a:rPr>
                  <a:t>推动摄影产业的数字化转型</a:t>
                </a:r>
                <a:endPara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+mn-lt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  <a:sym typeface="+mn-lt"/>
                  </a:rPr>
                  <a:t>为相关领域的系统开发提供参考</a:t>
                </a:r>
              </a:p>
            </p:txBody>
          </p:sp>
        </p:grp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4E5433EE-B4B2-B027-D99D-51DCFE9E930E}"/>
                </a:ext>
              </a:extLst>
            </p:cNvPr>
            <p:cNvCxnSpPr/>
            <p:nvPr/>
          </p:nvCxnSpPr>
          <p:spPr>
            <a:xfrm>
              <a:off x="1217930" y="3995613"/>
              <a:ext cx="1369060" cy="0"/>
            </a:xfrm>
            <a:prstGeom prst="line">
              <a:avLst/>
            </a:prstGeom>
            <a:ln w="15875">
              <a:solidFill>
                <a:srgbClr val="2A73B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4260850" y="1104900"/>
            <a:ext cx="4245610" cy="4245610"/>
            <a:chOff x="7297" y="2629"/>
            <a:chExt cx="5542" cy="5542"/>
          </a:xfrm>
        </p:grpSpPr>
        <p:sp>
          <p:nvSpPr>
            <p:cNvPr id="27" name="矩形 26"/>
            <p:cNvSpPr/>
            <p:nvPr/>
          </p:nvSpPr>
          <p:spPr>
            <a:xfrm rot="2700000">
              <a:off x="7297" y="2629"/>
              <a:ext cx="5542" cy="5542"/>
            </a:xfrm>
            <a:prstGeom prst="rect">
              <a:avLst/>
            </a:prstGeom>
            <a:solidFill>
              <a:srgbClr val="CECDCC">
                <a:alpha val="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 rot="2700000">
              <a:off x="7832" y="3163"/>
              <a:ext cx="4474" cy="4474"/>
            </a:xfrm>
            <a:prstGeom prst="rect">
              <a:avLst/>
            </a:prstGeom>
            <a:solidFill>
              <a:srgbClr val="7AA8D5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3186430" y="2719873"/>
            <a:ext cx="63944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系统架构和技术栈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457508" y="1980565"/>
            <a:ext cx="18522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spc="300" dirty="0">
                <a:solidFill>
                  <a:srgbClr val="2A73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PART 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未标题-1-02"/>
          <p:cNvPicPr>
            <a:picLocks noChangeAspect="1"/>
          </p:cNvPicPr>
          <p:nvPr/>
        </p:nvPicPr>
        <p:blipFill>
          <a:blip r:embed="rId9"/>
          <a:srcRect l="28423" b="26938"/>
          <a:stretch>
            <a:fillRect/>
          </a:stretch>
        </p:blipFill>
        <p:spPr>
          <a:xfrm rot="10800000" flipH="1">
            <a:off x="0" y="0"/>
            <a:ext cx="1744980" cy="27412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2865" y="196215"/>
            <a:ext cx="30321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系统架构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A0B66B0-BA63-41A4-F4D3-3E6539D4431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950" y="1226493"/>
            <a:ext cx="3723568" cy="4964757"/>
          </a:xfrm>
          <a:prstGeom prst="rect">
            <a:avLst/>
          </a:prstGeom>
        </p:spPr>
      </p:pic>
      <p:grpSp>
        <p:nvGrpSpPr>
          <p:cNvPr id="37" name="组合 5">
            <a:extLst>
              <a:ext uri="{FF2B5EF4-FFF2-40B4-BE49-F238E27FC236}">
                <a16:creationId xmlns:a16="http://schemas.microsoft.com/office/drawing/2014/main" id="{5D659787-B444-B490-3D91-73AFC6880725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364990" y="1226493"/>
            <a:ext cx="7979439" cy="3507749"/>
            <a:chOff x="1617303" y="1446394"/>
            <a:chExt cx="9129566" cy="4013341"/>
          </a:xfrm>
        </p:grpSpPr>
        <p:grpSp>
          <p:nvGrpSpPr>
            <p:cNvPr id="38" name="组合 0">
              <a:extLst>
                <a:ext uri="{FF2B5EF4-FFF2-40B4-BE49-F238E27FC236}">
                  <a16:creationId xmlns:a16="http://schemas.microsoft.com/office/drawing/2014/main" id="{77AD7C78-3AE5-9363-3B98-2CCECBE2A0B1}"/>
                </a:ext>
              </a:extLst>
            </p:cNvPr>
            <p:cNvGrpSpPr/>
            <p:nvPr/>
          </p:nvGrpSpPr>
          <p:grpSpPr>
            <a:xfrm>
              <a:off x="1853330" y="1446394"/>
              <a:ext cx="8485340" cy="3724988"/>
              <a:chOff x="1853330" y="1807819"/>
              <a:chExt cx="8485340" cy="3724988"/>
            </a:xfrm>
          </p:grpSpPr>
          <p:sp>
            <p:nvSpPr>
              <p:cNvPr id="58" name="0">
                <a:extLst>
                  <a:ext uri="{FF2B5EF4-FFF2-40B4-BE49-F238E27FC236}">
                    <a16:creationId xmlns:a16="http://schemas.microsoft.com/office/drawing/2014/main" id="{B3D1D53B-7049-0013-786D-14E9BD65DFD2}"/>
                  </a:ext>
                </a:extLst>
              </p:cNvPr>
              <p:cNvSpPr/>
              <p:nvPr/>
            </p:nvSpPr>
            <p:spPr>
              <a:xfrm>
                <a:off x="1853330" y="2454729"/>
                <a:ext cx="8485340" cy="2311829"/>
              </a:xfrm>
              <a:prstGeom prst="ellipse">
                <a:avLst/>
              </a:prstGeom>
              <a:noFill/>
              <a:ln w="19050">
                <a:gradFill>
                  <a:gsLst>
                    <a:gs pos="100000">
                      <a:schemeClr val="accent1"/>
                    </a:gs>
                    <a:gs pos="59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0">
                <a:extLst>
                  <a:ext uri="{FF2B5EF4-FFF2-40B4-BE49-F238E27FC236}">
                    <a16:creationId xmlns:a16="http://schemas.microsoft.com/office/drawing/2014/main" id="{088D72E9-B293-A947-0552-CC11611F75CE}"/>
                  </a:ext>
                </a:extLst>
              </p:cNvPr>
              <p:cNvSpPr/>
              <p:nvPr/>
            </p:nvSpPr>
            <p:spPr>
              <a:xfrm flipV="1">
                <a:off x="4528096" y="1968277"/>
                <a:ext cx="3135808" cy="356453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21000"/>
                      <a:lumOff val="79000"/>
                    </a:schemeClr>
                  </a:gs>
                  <a:gs pos="100000">
                    <a:srgbClr val="FFFFFF">
                      <a:alpha val="0"/>
                    </a:srgbClr>
                  </a:gs>
                </a:gsLst>
                <a:lin ang="16200000" scaled="1"/>
                <a:tileRect/>
              </a:gradFill>
              <a:ln w="22225">
                <a:gradFill>
                  <a:gsLst>
                    <a:gs pos="60000">
                      <a:schemeClr val="accent1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0"/>
                </a:gradFill>
              </a:ln>
              <a:effectLst>
                <a:outerShdw blurRad="520700" dist="228600" dir="8100000" sx="103000" sy="103000" algn="tr" rotWithShape="0">
                  <a:schemeClr val="accent1">
                    <a:alpha val="40000"/>
                  </a:schemeClr>
                </a:outerShdw>
              </a:effectLst>
              <a:scene3d>
                <a:camera prst="orthographicFront">
                  <a:rot lat="18742868" lon="17318523" rev="4647342"/>
                </a:camera>
                <a:lightRig rig="contrasting" dir="t">
                  <a:rot lat="0" lon="0" rev="21000000"/>
                </a:lightRig>
              </a:scene3d>
              <a:sp3d prstMaterial="plastic">
                <a:bevelT w="25400" h="254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宋体 CN Medium" panose="02020500000000000000" charset="-122"/>
                </a:endParaRPr>
              </a:p>
            </p:txBody>
          </p:sp>
          <p:sp>
            <p:nvSpPr>
              <p:cNvPr id="60" name="0">
                <a:extLst>
                  <a:ext uri="{FF2B5EF4-FFF2-40B4-BE49-F238E27FC236}">
                    <a16:creationId xmlns:a16="http://schemas.microsoft.com/office/drawing/2014/main" id="{B7525DC8-0BAC-B361-C079-93453516B347}"/>
                  </a:ext>
                </a:extLst>
              </p:cNvPr>
              <p:cNvSpPr/>
              <p:nvPr/>
            </p:nvSpPr>
            <p:spPr>
              <a:xfrm>
                <a:off x="5039985" y="1807819"/>
                <a:ext cx="2112031" cy="211202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>
                <a:solidFill>
                  <a:schemeClr val="accent1"/>
                </a:solidFill>
              </a:ln>
              <a:effectLst>
                <a:outerShdw blurRad="330200" dist="190500" dir="8100000" sx="94000" sy="94000" algn="tr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宋体 CN Medium" panose="02020500000000000000" charset="-122"/>
                </a:endParaRPr>
              </a:p>
            </p:txBody>
          </p:sp>
          <p:sp>
            <p:nvSpPr>
              <p:cNvPr id="61" name="0">
                <a:extLst>
                  <a:ext uri="{FF2B5EF4-FFF2-40B4-BE49-F238E27FC236}">
                    <a16:creationId xmlns:a16="http://schemas.microsoft.com/office/drawing/2014/main" id="{33383ABC-0EF4-4E3D-BED3-72AB1192DC5B}"/>
                  </a:ext>
                </a:extLst>
              </p:cNvPr>
              <p:cNvSpPr/>
              <p:nvPr/>
            </p:nvSpPr>
            <p:spPr>
              <a:xfrm>
                <a:off x="5189826" y="1957660"/>
                <a:ext cx="1812348" cy="18123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330200" dist="190500" dir="8100000" sx="94000" sy="94000" algn="tr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宋体 CN Medium" panose="02020500000000000000" charset="-122"/>
                </a:endParaRPr>
              </a:p>
            </p:txBody>
          </p:sp>
          <p:sp>
            <p:nvSpPr>
              <p:cNvPr id="62" name="0">
                <a:extLst>
                  <a:ext uri="{FF2B5EF4-FFF2-40B4-BE49-F238E27FC236}">
                    <a16:creationId xmlns:a16="http://schemas.microsoft.com/office/drawing/2014/main" id="{C5122E17-E08C-A93A-38C6-F13D4C71D113}"/>
                  </a:ext>
                </a:extLst>
              </p:cNvPr>
              <p:cNvSpPr/>
              <p:nvPr/>
            </p:nvSpPr>
            <p:spPr>
              <a:xfrm>
                <a:off x="5782891" y="2331169"/>
                <a:ext cx="626219" cy="625272"/>
              </a:xfrm>
              <a:custGeom>
                <a:avLst/>
                <a:gdLst>
                  <a:gd name="connsiteX0" fmla="*/ 212477 w 607639"/>
                  <a:gd name="connsiteY0" fmla="*/ 325103 h 606722"/>
                  <a:gd name="connsiteX1" fmla="*/ 181466 w 607639"/>
                  <a:gd name="connsiteY1" fmla="*/ 333535 h 606722"/>
                  <a:gd name="connsiteX2" fmla="*/ 228022 w 607639"/>
                  <a:gd name="connsiteY2" fmla="*/ 385174 h 606722"/>
                  <a:gd name="connsiteX3" fmla="*/ 279029 w 607639"/>
                  <a:gd name="connsiteY3" fmla="*/ 386240 h 606722"/>
                  <a:gd name="connsiteX4" fmla="*/ 243333 w 607639"/>
                  <a:gd name="connsiteY4" fmla="*/ 371842 h 606722"/>
                  <a:gd name="connsiteX5" fmla="*/ 236478 w 607639"/>
                  <a:gd name="connsiteY5" fmla="*/ 355755 h 606722"/>
                  <a:gd name="connsiteX6" fmla="*/ 252591 w 607639"/>
                  <a:gd name="connsiteY6" fmla="*/ 348911 h 606722"/>
                  <a:gd name="connsiteX7" fmla="*/ 288286 w 607639"/>
                  <a:gd name="connsiteY7" fmla="*/ 363310 h 606722"/>
                  <a:gd name="connsiteX8" fmla="*/ 250899 w 607639"/>
                  <a:gd name="connsiteY8" fmla="*/ 328736 h 606722"/>
                  <a:gd name="connsiteX9" fmla="*/ 212477 w 607639"/>
                  <a:gd name="connsiteY9" fmla="*/ 325103 h 606722"/>
                  <a:gd name="connsiteX10" fmla="*/ 407658 w 607639"/>
                  <a:gd name="connsiteY10" fmla="*/ 219771 h 606722"/>
                  <a:gd name="connsiteX11" fmla="*/ 341785 w 607639"/>
                  <a:gd name="connsiteY11" fmla="*/ 242346 h 606722"/>
                  <a:gd name="connsiteX12" fmla="*/ 320777 w 607639"/>
                  <a:gd name="connsiteY12" fmla="*/ 288919 h 606722"/>
                  <a:gd name="connsiteX13" fmla="*/ 348105 w 607639"/>
                  <a:gd name="connsiteY13" fmla="*/ 261633 h 606722"/>
                  <a:gd name="connsiteX14" fmla="*/ 365642 w 607639"/>
                  <a:gd name="connsiteY14" fmla="*/ 261633 h 606722"/>
                  <a:gd name="connsiteX15" fmla="*/ 365642 w 607639"/>
                  <a:gd name="connsiteY15" fmla="*/ 279142 h 606722"/>
                  <a:gd name="connsiteX16" fmla="*/ 338403 w 607639"/>
                  <a:gd name="connsiteY16" fmla="*/ 306339 h 606722"/>
                  <a:gd name="connsiteX17" fmla="*/ 384958 w 607639"/>
                  <a:gd name="connsiteY17" fmla="*/ 285452 h 606722"/>
                  <a:gd name="connsiteX18" fmla="*/ 407658 w 607639"/>
                  <a:gd name="connsiteY18" fmla="*/ 219771 h 606722"/>
                  <a:gd name="connsiteX19" fmla="*/ 266317 w 607639"/>
                  <a:gd name="connsiteY19" fmla="*/ 181658 h 606722"/>
                  <a:gd name="connsiteX20" fmla="*/ 273435 w 607639"/>
                  <a:gd name="connsiteY20" fmla="*/ 187945 h 606722"/>
                  <a:gd name="connsiteX21" fmla="*/ 274594 w 607639"/>
                  <a:gd name="connsiteY21" fmla="*/ 190344 h 606722"/>
                  <a:gd name="connsiteX22" fmla="*/ 268712 w 607639"/>
                  <a:gd name="connsiteY22" fmla="*/ 206872 h 606722"/>
                  <a:gd name="connsiteX23" fmla="*/ 263365 w 607639"/>
                  <a:gd name="connsiteY23" fmla="*/ 208027 h 606722"/>
                  <a:gd name="connsiteX24" fmla="*/ 252137 w 607639"/>
                  <a:gd name="connsiteY24" fmla="*/ 201007 h 606722"/>
                  <a:gd name="connsiteX25" fmla="*/ 251068 w 607639"/>
                  <a:gd name="connsiteY25" fmla="*/ 198697 h 606722"/>
                  <a:gd name="connsiteX26" fmla="*/ 256860 w 607639"/>
                  <a:gd name="connsiteY26" fmla="*/ 182169 h 606722"/>
                  <a:gd name="connsiteX27" fmla="*/ 266317 w 607639"/>
                  <a:gd name="connsiteY27" fmla="*/ 181658 h 606722"/>
                  <a:gd name="connsiteX28" fmla="*/ 303775 w 607639"/>
                  <a:gd name="connsiteY28" fmla="*/ 123782 h 606722"/>
                  <a:gd name="connsiteX29" fmla="*/ 123961 w 607639"/>
                  <a:gd name="connsiteY29" fmla="*/ 303317 h 606722"/>
                  <a:gd name="connsiteX30" fmla="*/ 296031 w 607639"/>
                  <a:gd name="connsiteY30" fmla="*/ 482673 h 606722"/>
                  <a:gd name="connsiteX31" fmla="*/ 302885 w 607639"/>
                  <a:gd name="connsiteY31" fmla="*/ 404816 h 606722"/>
                  <a:gd name="connsiteX32" fmla="*/ 253125 w 607639"/>
                  <a:gd name="connsiteY32" fmla="*/ 414415 h 606722"/>
                  <a:gd name="connsiteX33" fmla="*/ 218675 w 607639"/>
                  <a:gd name="connsiteY33" fmla="*/ 408193 h 606722"/>
                  <a:gd name="connsiteX34" fmla="*/ 153693 w 607639"/>
                  <a:gd name="connsiteY34" fmla="*/ 330869 h 606722"/>
                  <a:gd name="connsiteX35" fmla="*/ 159657 w 607639"/>
                  <a:gd name="connsiteY35" fmla="*/ 316204 h 606722"/>
                  <a:gd name="connsiteX36" fmla="*/ 260157 w 607639"/>
                  <a:gd name="connsiteY36" fmla="*/ 305717 h 606722"/>
                  <a:gd name="connsiteX37" fmla="*/ 295319 w 607639"/>
                  <a:gd name="connsiteY37" fmla="*/ 331313 h 606722"/>
                  <a:gd name="connsiteX38" fmla="*/ 293271 w 607639"/>
                  <a:gd name="connsiteY38" fmla="*/ 320826 h 606722"/>
                  <a:gd name="connsiteX39" fmla="*/ 272797 w 607639"/>
                  <a:gd name="connsiteY39" fmla="*/ 250079 h 606722"/>
                  <a:gd name="connsiteX40" fmla="*/ 280186 w 607639"/>
                  <a:gd name="connsiteY40" fmla="*/ 234169 h 606722"/>
                  <a:gd name="connsiteX41" fmla="*/ 296120 w 607639"/>
                  <a:gd name="connsiteY41" fmla="*/ 241546 h 606722"/>
                  <a:gd name="connsiteX42" fmla="*/ 302618 w 607639"/>
                  <a:gd name="connsiteY42" fmla="*/ 260211 h 606722"/>
                  <a:gd name="connsiteX43" fmla="*/ 324249 w 607639"/>
                  <a:gd name="connsiteY43" fmla="*/ 224837 h 606722"/>
                  <a:gd name="connsiteX44" fmla="*/ 420921 w 607639"/>
                  <a:gd name="connsiteY44" fmla="*/ 195330 h 606722"/>
                  <a:gd name="connsiteX45" fmla="*/ 432137 w 607639"/>
                  <a:gd name="connsiteY45" fmla="*/ 206528 h 606722"/>
                  <a:gd name="connsiteX46" fmla="*/ 402495 w 607639"/>
                  <a:gd name="connsiteY46" fmla="*/ 302961 h 606722"/>
                  <a:gd name="connsiteX47" fmla="*/ 320777 w 607639"/>
                  <a:gd name="connsiteY47" fmla="*/ 332824 h 606722"/>
                  <a:gd name="connsiteX48" fmla="*/ 321579 w 607639"/>
                  <a:gd name="connsiteY48" fmla="*/ 482051 h 606722"/>
                  <a:gd name="connsiteX49" fmla="*/ 483589 w 607639"/>
                  <a:gd name="connsiteY49" fmla="*/ 303317 h 606722"/>
                  <a:gd name="connsiteX50" fmla="*/ 303775 w 607639"/>
                  <a:gd name="connsiteY50" fmla="*/ 123782 h 606722"/>
                  <a:gd name="connsiteX51" fmla="*/ 303775 w 607639"/>
                  <a:gd name="connsiteY51" fmla="*/ 99074 h 606722"/>
                  <a:gd name="connsiteX52" fmla="*/ 508424 w 607639"/>
                  <a:gd name="connsiteY52" fmla="*/ 303317 h 606722"/>
                  <a:gd name="connsiteX53" fmla="*/ 303775 w 607639"/>
                  <a:gd name="connsiteY53" fmla="*/ 507648 h 606722"/>
                  <a:gd name="connsiteX54" fmla="*/ 99215 w 607639"/>
                  <a:gd name="connsiteY54" fmla="*/ 303317 h 606722"/>
                  <a:gd name="connsiteX55" fmla="*/ 303775 w 607639"/>
                  <a:gd name="connsiteY55" fmla="*/ 99074 h 606722"/>
                  <a:gd name="connsiteX56" fmla="*/ 279032 w 607639"/>
                  <a:gd name="connsiteY56" fmla="*/ 24795 h 606722"/>
                  <a:gd name="connsiteX57" fmla="*/ 279032 w 607639"/>
                  <a:gd name="connsiteY57" fmla="*/ 58477 h 606722"/>
                  <a:gd name="connsiteX58" fmla="*/ 268440 w 607639"/>
                  <a:gd name="connsiteY58" fmla="*/ 70741 h 606722"/>
                  <a:gd name="connsiteX59" fmla="*/ 217885 w 607639"/>
                  <a:gd name="connsiteY59" fmla="*/ 84249 h 606722"/>
                  <a:gd name="connsiteX60" fmla="*/ 202665 w 607639"/>
                  <a:gd name="connsiteY60" fmla="*/ 78917 h 606722"/>
                  <a:gd name="connsiteX61" fmla="*/ 185754 w 607639"/>
                  <a:gd name="connsiteY61" fmla="*/ 49679 h 606722"/>
                  <a:gd name="connsiteX62" fmla="*/ 142853 w 607639"/>
                  <a:gd name="connsiteY62" fmla="*/ 74474 h 606722"/>
                  <a:gd name="connsiteX63" fmla="*/ 159764 w 607639"/>
                  <a:gd name="connsiteY63" fmla="*/ 103712 h 606722"/>
                  <a:gd name="connsiteX64" fmla="*/ 156738 w 607639"/>
                  <a:gd name="connsiteY64" fmla="*/ 119531 h 606722"/>
                  <a:gd name="connsiteX65" fmla="*/ 119712 w 607639"/>
                  <a:gd name="connsiteY65" fmla="*/ 156502 h 606722"/>
                  <a:gd name="connsiteX66" fmla="*/ 103869 w 607639"/>
                  <a:gd name="connsiteY66" fmla="*/ 159523 h 606722"/>
                  <a:gd name="connsiteX67" fmla="*/ 74586 w 607639"/>
                  <a:gd name="connsiteY67" fmla="*/ 142638 h 606722"/>
                  <a:gd name="connsiteX68" fmla="*/ 49754 w 607639"/>
                  <a:gd name="connsiteY68" fmla="*/ 185474 h 606722"/>
                  <a:gd name="connsiteX69" fmla="*/ 79036 w 607639"/>
                  <a:gd name="connsiteY69" fmla="*/ 202359 h 606722"/>
                  <a:gd name="connsiteX70" fmla="*/ 84377 w 607639"/>
                  <a:gd name="connsiteY70" fmla="*/ 217556 h 606722"/>
                  <a:gd name="connsiteX71" fmla="*/ 70848 w 607639"/>
                  <a:gd name="connsiteY71" fmla="*/ 268035 h 606722"/>
                  <a:gd name="connsiteX72" fmla="*/ 58565 w 607639"/>
                  <a:gd name="connsiteY72" fmla="*/ 278611 h 606722"/>
                  <a:gd name="connsiteX73" fmla="*/ 24832 w 607639"/>
                  <a:gd name="connsiteY73" fmla="*/ 278611 h 606722"/>
                  <a:gd name="connsiteX74" fmla="*/ 24832 w 607639"/>
                  <a:gd name="connsiteY74" fmla="*/ 328112 h 606722"/>
                  <a:gd name="connsiteX75" fmla="*/ 58565 w 607639"/>
                  <a:gd name="connsiteY75" fmla="*/ 328112 h 606722"/>
                  <a:gd name="connsiteX76" fmla="*/ 70848 w 607639"/>
                  <a:gd name="connsiteY76" fmla="*/ 338687 h 606722"/>
                  <a:gd name="connsiteX77" fmla="*/ 84377 w 607639"/>
                  <a:gd name="connsiteY77" fmla="*/ 389077 h 606722"/>
                  <a:gd name="connsiteX78" fmla="*/ 79036 w 607639"/>
                  <a:gd name="connsiteY78" fmla="*/ 404363 h 606722"/>
                  <a:gd name="connsiteX79" fmla="*/ 49754 w 607639"/>
                  <a:gd name="connsiteY79" fmla="*/ 421160 h 606722"/>
                  <a:gd name="connsiteX80" fmla="*/ 74586 w 607639"/>
                  <a:gd name="connsiteY80" fmla="*/ 464084 h 606722"/>
                  <a:gd name="connsiteX81" fmla="*/ 103869 w 607639"/>
                  <a:gd name="connsiteY81" fmla="*/ 447199 h 606722"/>
                  <a:gd name="connsiteX82" fmla="*/ 119712 w 607639"/>
                  <a:gd name="connsiteY82" fmla="*/ 450220 h 606722"/>
                  <a:gd name="connsiteX83" fmla="*/ 156738 w 607639"/>
                  <a:gd name="connsiteY83" fmla="*/ 487102 h 606722"/>
                  <a:gd name="connsiteX84" fmla="*/ 159764 w 607639"/>
                  <a:gd name="connsiteY84" fmla="*/ 503010 h 606722"/>
                  <a:gd name="connsiteX85" fmla="*/ 142853 w 607639"/>
                  <a:gd name="connsiteY85" fmla="*/ 532248 h 606722"/>
                  <a:gd name="connsiteX86" fmla="*/ 185754 w 607639"/>
                  <a:gd name="connsiteY86" fmla="*/ 556954 h 606722"/>
                  <a:gd name="connsiteX87" fmla="*/ 202665 w 607639"/>
                  <a:gd name="connsiteY87" fmla="*/ 527805 h 606722"/>
                  <a:gd name="connsiteX88" fmla="*/ 217885 w 607639"/>
                  <a:gd name="connsiteY88" fmla="*/ 522473 h 606722"/>
                  <a:gd name="connsiteX89" fmla="*/ 268440 w 607639"/>
                  <a:gd name="connsiteY89" fmla="*/ 535981 h 606722"/>
                  <a:gd name="connsiteX90" fmla="*/ 279032 w 607639"/>
                  <a:gd name="connsiteY90" fmla="*/ 548245 h 606722"/>
                  <a:gd name="connsiteX91" fmla="*/ 279032 w 607639"/>
                  <a:gd name="connsiteY91" fmla="*/ 581927 h 606722"/>
                  <a:gd name="connsiteX92" fmla="*/ 328608 w 607639"/>
                  <a:gd name="connsiteY92" fmla="*/ 581927 h 606722"/>
                  <a:gd name="connsiteX93" fmla="*/ 328608 w 607639"/>
                  <a:gd name="connsiteY93" fmla="*/ 548245 h 606722"/>
                  <a:gd name="connsiteX94" fmla="*/ 339199 w 607639"/>
                  <a:gd name="connsiteY94" fmla="*/ 535981 h 606722"/>
                  <a:gd name="connsiteX95" fmla="*/ 389665 w 607639"/>
                  <a:gd name="connsiteY95" fmla="*/ 522473 h 606722"/>
                  <a:gd name="connsiteX96" fmla="*/ 404974 w 607639"/>
                  <a:gd name="connsiteY96" fmla="*/ 527805 h 606722"/>
                  <a:gd name="connsiteX97" fmla="*/ 421796 w 607639"/>
                  <a:gd name="connsiteY97" fmla="*/ 556954 h 606722"/>
                  <a:gd name="connsiteX98" fmla="*/ 464786 w 607639"/>
                  <a:gd name="connsiteY98" fmla="*/ 532248 h 606722"/>
                  <a:gd name="connsiteX99" fmla="*/ 447875 w 607639"/>
                  <a:gd name="connsiteY99" fmla="*/ 503010 h 606722"/>
                  <a:gd name="connsiteX100" fmla="*/ 450901 w 607639"/>
                  <a:gd name="connsiteY100" fmla="*/ 487102 h 606722"/>
                  <a:gd name="connsiteX101" fmla="*/ 487838 w 607639"/>
                  <a:gd name="connsiteY101" fmla="*/ 450220 h 606722"/>
                  <a:gd name="connsiteX102" fmla="*/ 503770 w 607639"/>
                  <a:gd name="connsiteY102" fmla="*/ 447199 h 606722"/>
                  <a:gd name="connsiteX103" fmla="*/ 533053 w 607639"/>
                  <a:gd name="connsiteY103" fmla="*/ 464084 h 606722"/>
                  <a:gd name="connsiteX104" fmla="*/ 557796 w 607639"/>
                  <a:gd name="connsiteY104" fmla="*/ 421160 h 606722"/>
                  <a:gd name="connsiteX105" fmla="*/ 528603 w 607639"/>
                  <a:gd name="connsiteY105" fmla="*/ 404363 h 606722"/>
                  <a:gd name="connsiteX106" fmla="*/ 523262 w 607639"/>
                  <a:gd name="connsiteY106" fmla="*/ 389077 h 606722"/>
                  <a:gd name="connsiteX107" fmla="*/ 536791 w 607639"/>
                  <a:gd name="connsiteY107" fmla="*/ 338687 h 606722"/>
                  <a:gd name="connsiteX108" fmla="*/ 549074 w 607639"/>
                  <a:gd name="connsiteY108" fmla="*/ 328112 h 606722"/>
                  <a:gd name="connsiteX109" fmla="*/ 582807 w 607639"/>
                  <a:gd name="connsiteY109" fmla="*/ 328112 h 606722"/>
                  <a:gd name="connsiteX110" fmla="*/ 582807 w 607639"/>
                  <a:gd name="connsiteY110" fmla="*/ 278611 h 606722"/>
                  <a:gd name="connsiteX111" fmla="*/ 549074 w 607639"/>
                  <a:gd name="connsiteY111" fmla="*/ 278611 h 606722"/>
                  <a:gd name="connsiteX112" fmla="*/ 536791 w 607639"/>
                  <a:gd name="connsiteY112" fmla="*/ 268035 h 606722"/>
                  <a:gd name="connsiteX113" fmla="*/ 523262 w 607639"/>
                  <a:gd name="connsiteY113" fmla="*/ 217556 h 606722"/>
                  <a:gd name="connsiteX114" fmla="*/ 528603 w 607639"/>
                  <a:gd name="connsiteY114" fmla="*/ 202359 h 606722"/>
                  <a:gd name="connsiteX115" fmla="*/ 557796 w 607639"/>
                  <a:gd name="connsiteY115" fmla="*/ 185474 h 606722"/>
                  <a:gd name="connsiteX116" fmla="*/ 533053 w 607639"/>
                  <a:gd name="connsiteY116" fmla="*/ 142638 h 606722"/>
                  <a:gd name="connsiteX117" fmla="*/ 503770 w 607639"/>
                  <a:gd name="connsiteY117" fmla="*/ 159523 h 606722"/>
                  <a:gd name="connsiteX118" fmla="*/ 487838 w 607639"/>
                  <a:gd name="connsiteY118" fmla="*/ 156502 h 606722"/>
                  <a:gd name="connsiteX119" fmla="*/ 450901 w 607639"/>
                  <a:gd name="connsiteY119" fmla="*/ 119531 h 606722"/>
                  <a:gd name="connsiteX120" fmla="*/ 447875 w 607639"/>
                  <a:gd name="connsiteY120" fmla="*/ 103712 h 606722"/>
                  <a:gd name="connsiteX121" fmla="*/ 464786 w 607639"/>
                  <a:gd name="connsiteY121" fmla="*/ 74474 h 606722"/>
                  <a:gd name="connsiteX122" fmla="*/ 421796 w 607639"/>
                  <a:gd name="connsiteY122" fmla="*/ 49679 h 606722"/>
                  <a:gd name="connsiteX123" fmla="*/ 404974 w 607639"/>
                  <a:gd name="connsiteY123" fmla="*/ 78917 h 606722"/>
                  <a:gd name="connsiteX124" fmla="*/ 389665 w 607639"/>
                  <a:gd name="connsiteY124" fmla="*/ 84249 h 606722"/>
                  <a:gd name="connsiteX125" fmla="*/ 339199 w 607639"/>
                  <a:gd name="connsiteY125" fmla="*/ 70741 h 606722"/>
                  <a:gd name="connsiteX126" fmla="*/ 328608 w 607639"/>
                  <a:gd name="connsiteY126" fmla="*/ 58477 h 606722"/>
                  <a:gd name="connsiteX127" fmla="*/ 328608 w 607639"/>
                  <a:gd name="connsiteY127" fmla="*/ 24795 h 606722"/>
                  <a:gd name="connsiteX128" fmla="*/ 266571 w 607639"/>
                  <a:gd name="connsiteY128" fmla="*/ 0 h 606722"/>
                  <a:gd name="connsiteX129" fmla="*/ 340979 w 607639"/>
                  <a:gd name="connsiteY129" fmla="*/ 0 h 606722"/>
                  <a:gd name="connsiteX130" fmla="*/ 353440 w 607639"/>
                  <a:gd name="connsiteY130" fmla="*/ 12353 h 606722"/>
                  <a:gd name="connsiteX131" fmla="*/ 353440 w 607639"/>
                  <a:gd name="connsiteY131" fmla="*/ 48079 h 606722"/>
                  <a:gd name="connsiteX132" fmla="*/ 388686 w 607639"/>
                  <a:gd name="connsiteY132" fmla="*/ 57499 h 606722"/>
                  <a:gd name="connsiteX133" fmla="*/ 406576 w 607639"/>
                  <a:gd name="connsiteY133" fmla="*/ 26572 h 606722"/>
                  <a:gd name="connsiteX134" fmla="*/ 414053 w 607639"/>
                  <a:gd name="connsiteY134" fmla="*/ 20796 h 606722"/>
                  <a:gd name="connsiteX135" fmla="*/ 423487 w 607639"/>
                  <a:gd name="connsiteY135" fmla="*/ 22040 h 606722"/>
                  <a:gd name="connsiteX136" fmla="*/ 487927 w 607639"/>
                  <a:gd name="connsiteY136" fmla="*/ 59188 h 606722"/>
                  <a:gd name="connsiteX137" fmla="*/ 493712 w 607639"/>
                  <a:gd name="connsiteY137" fmla="*/ 66742 h 606722"/>
                  <a:gd name="connsiteX138" fmla="*/ 492466 w 607639"/>
                  <a:gd name="connsiteY138" fmla="*/ 76162 h 606722"/>
                  <a:gd name="connsiteX139" fmla="*/ 474576 w 607639"/>
                  <a:gd name="connsiteY139" fmla="*/ 107089 h 606722"/>
                  <a:gd name="connsiteX140" fmla="*/ 500388 w 607639"/>
                  <a:gd name="connsiteY140" fmla="*/ 132862 h 606722"/>
                  <a:gd name="connsiteX141" fmla="*/ 531362 w 607639"/>
                  <a:gd name="connsiteY141" fmla="*/ 114999 h 606722"/>
                  <a:gd name="connsiteX142" fmla="*/ 548273 w 607639"/>
                  <a:gd name="connsiteY142" fmla="*/ 119531 h 606722"/>
                  <a:gd name="connsiteX143" fmla="*/ 585477 w 607639"/>
                  <a:gd name="connsiteY143" fmla="*/ 183874 h 606722"/>
                  <a:gd name="connsiteX144" fmla="*/ 580938 w 607639"/>
                  <a:gd name="connsiteY144" fmla="*/ 200760 h 606722"/>
                  <a:gd name="connsiteX145" fmla="*/ 550053 w 607639"/>
                  <a:gd name="connsiteY145" fmla="*/ 218623 h 606722"/>
                  <a:gd name="connsiteX146" fmla="*/ 559487 w 607639"/>
                  <a:gd name="connsiteY146" fmla="*/ 253816 h 606722"/>
                  <a:gd name="connsiteX147" fmla="*/ 595178 w 607639"/>
                  <a:gd name="connsiteY147" fmla="*/ 253816 h 606722"/>
                  <a:gd name="connsiteX148" fmla="*/ 607639 w 607639"/>
                  <a:gd name="connsiteY148" fmla="*/ 266169 h 606722"/>
                  <a:gd name="connsiteX149" fmla="*/ 607639 w 607639"/>
                  <a:gd name="connsiteY149" fmla="*/ 340465 h 606722"/>
                  <a:gd name="connsiteX150" fmla="*/ 595178 w 607639"/>
                  <a:gd name="connsiteY150" fmla="*/ 352907 h 606722"/>
                  <a:gd name="connsiteX151" fmla="*/ 559487 w 607639"/>
                  <a:gd name="connsiteY151" fmla="*/ 352907 h 606722"/>
                  <a:gd name="connsiteX152" fmla="*/ 550053 w 607639"/>
                  <a:gd name="connsiteY152" fmla="*/ 388100 h 606722"/>
                  <a:gd name="connsiteX153" fmla="*/ 580938 w 607639"/>
                  <a:gd name="connsiteY153" fmla="*/ 405963 h 606722"/>
                  <a:gd name="connsiteX154" fmla="*/ 585477 w 607639"/>
                  <a:gd name="connsiteY154" fmla="*/ 422848 h 606722"/>
                  <a:gd name="connsiteX155" fmla="*/ 548273 w 607639"/>
                  <a:gd name="connsiteY155" fmla="*/ 487191 h 606722"/>
                  <a:gd name="connsiteX156" fmla="*/ 531362 w 607639"/>
                  <a:gd name="connsiteY156" fmla="*/ 491723 h 606722"/>
                  <a:gd name="connsiteX157" fmla="*/ 500388 w 607639"/>
                  <a:gd name="connsiteY157" fmla="*/ 473860 h 606722"/>
                  <a:gd name="connsiteX158" fmla="*/ 474576 w 607639"/>
                  <a:gd name="connsiteY158" fmla="*/ 499633 h 606722"/>
                  <a:gd name="connsiteX159" fmla="*/ 492466 w 607639"/>
                  <a:gd name="connsiteY159" fmla="*/ 530560 h 606722"/>
                  <a:gd name="connsiteX160" fmla="*/ 493712 w 607639"/>
                  <a:gd name="connsiteY160" fmla="*/ 539980 h 606722"/>
                  <a:gd name="connsiteX161" fmla="*/ 487927 w 607639"/>
                  <a:gd name="connsiteY161" fmla="*/ 547445 h 606722"/>
                  <a:gd name="connsiteX162" fmla="*/ 423487 w 607639"/>
                  <a:gd name="connsiteY162" fmla="*/ 584593 h 606722"/>
                  <a:gd name="connsiteX163" fmla="*/ 414053 w 607639"/>
                  <a:gd name="connsiteY163" fmla="*/ 585838 h 606722"/>
                  <a:gd name="connsiteX164" fmla="*/ 406576 w 607639"/>
                  <a:gd name="connsiteY164" fmla="*/ 580061 h 606722"/>
                  <a:gd name="connsiteX165" fmla="*/ 388686 w 607639"/>
                  <a:gd name="connsiteY165" fmla="*/ 549223 h 606722"/>
                  <a:gd name="connsiteX166" fmla="*/ 353440 w 607639"/>
                  <a:gd name="connsiteY166" fmla="*/ 558643 h 606722"/>
                  <a:gd name="connsiteX167" fmla="*/ 353440 w 607639"/>
                  <a:gd name="connsiteY167" fmla="*/ 594280 h 606722"/>
                  <a:gd name="connsiteX168" fmla="*/ 340979 w 607639"/>
                  <a:gd name="connsiteY168" fmla="*/ 606722 h 606722"/>
                  <a:gd name="connsiteX169" fmla="*/ 266571 w 607639"/>
                  <a:gd name="connsiteY169" fmla="*/ 606722 h 606722"/>
                  <a:gd name="connsiteX170" fmla="*/ 254199 w 607639"/>
                  <a:gd name="connsiteY170" fmla="*/ 594280 h 606722"/>
                  <a:gd name="connsiteX171" fmla="*/ 254199 w 607639"/>
                  <a:gd name="connsiteY171" fmla="*/ 558643 h 606722"/>
                  <a:gd name="connsiteX172" fmla="*/ 218953 w 607639"/>
                  <a:gd name="connsiteY172" fmla="*/ 549223 h 606722"/>
                  <a:gd name="connsiteX173" fmla="*/ 201063 w 607639"/>
                  <a:gd name="connsiteY173" fmla="*/ 580061 h 606722"/>
                  <a:gd name="connsiteX174" fmla="*/ 193497 w 607639"/>
                  <a:gd name="connsiteY174" fmla="*/ 585838 h 606722"/>
                  <a:gd name="connsiteX175" fmla="*/ 184152 w 607639"/>
                  <a:gd name="connsiteY175" fmla="*/ 584593 h 606722"/>
                  <a:gd name="connsiteX176" fmla="*/ 119712 w 607639"/>
                  <a:gd name="connsiteY176" fmla="*/ 547445 h 606722"/>
                  <a:gd name="connsiteX177" fmla="*/ 113927 w 607639"/>
                  <a:gd name="connsiteY177" fmla="*/ 539980 h 606722"/>
                  <a:gd name="connsiteX178" fmla="*/ 115173 w 607639"/>
                  <a:gd name="connsiteY178" fmla="*/ 530560 h 606722"/>
                  <a:gd name="connsiteX179" fmla="*/ 133063 w 607639"/>
                  <a:gd name="connsiteY179" fmla="*/ 499633 h 606722"/>
                  <a:gd name="connsiteX180" fmla="*/ 107251 w 607639"/>
                  <a:gd name="connsiteY180" fmla="*/ 473860 h 606722"/>
                  <a:gd name="connsiteX181" fmla="*/ 76277 w 607639"/>
                  <a:gd name="connsiteY181" fmla="*/ 491723 h 606722"/>
                  <a:gd name="connsiteX182" fmla="*/ 59277 w 607639"/>
                  <a:gd name="connsiteY182" fmla="*/ 487191 h 606722"/>
                  <a:gd name="connsiteX183" fmla="*/ 22073 w 607639"/>
                  <a:gd name="connsiteY183" fmla="*/ 422848 h 606722"/>
                  <a:gd name="connsiteX184" fmla="*/ 26612 w 607639"/>
                  <a:gd name="connsiteY184" fmla="*/ 405963 h 606722"/>
                  <a:gd name="connsiteX185" fmla="*/ 57586 w 607639"/>
                  <a:gd name="connsiteY185" fmla="*/ 388100 h 606722"/>
                  <a:gd name="connsiteX186" fmla="*/ 48152 w 607639"/>
                  <a:gd name="connsiteY186" fmla="*/ 352907 h 606722"/>
                  <a:gd name="connsiteX187" fmla="*/ 12371 w 607639"/>
                  <a:gd name="connsiteY187" fmla="*/ 352907 h 606722"/>
                  <a:gd name="connsiteX188" fmla="*/ 0 w 607639"/>
                  <a:gd name="connsiteY188" fmla="*/ 340465 h 606722"/>
                  <a:gd name="connsiteX189" fmla="*/ 0 w 607639"/>
                  <a:gd name="connsiteY189" fmla="*/ 266169 h 606722"/>
                  <a:gd name="connsiteX190" fmla="*/ 12371 w 607639"/>
                  <a:gd name="connsiteY190" fmla="*/ 253816 h 606722"/>
                  <a:gd name="connsiteX191" fmla="*/ 48152 w 607639"/>
                  <a:gd name="connsiteY191" fmla="*/ 253816 h 606722"/>
                  <a:gd name="connsiteX192" fmla="*/ 57586 w 607639"/>
                  <a:gd name="connsiteY192" fmla="*/ 218534 h 606722"/>
                  <a:gd name="connsiteX193" fmla="*/ 26612 w 607639"/>
                  <a:gd name="connsiteY193" fmla="*/ 200760 h 606722"/>
                  <a:gd name="connsiteX194" fmla="*/ 22073 w 607639"/>
                  <a:gd name="connsiteY194" fmla="*/ 183874 h 606722"/>
                  <a:gd name="connsiteX195" fmla="*/ 59277 w 607639"/>
                  <a:gd name="connsiteY195" fmla="*/ 119531 h 606722"/>
                  <a:gd name="connsiteX196" fmla="*/ 76277 w 607639"/>
                  <a:gd name="connsiteY196" fmla="*/ 114999 h 606722"/>
                  <a:gd name="connsiteX197" fmla="*/ 107251 w 607639"/>
                  <a:gd name="connsiteY197" fmla="*/ 132862 h 606722"/>
                  <a:gd name="connsiteX198" fmla="*/ 133063 w 607639"/>
                  <a:gd name="connsiteY198" fmla="*/ 107089 h 606722"/>
                  <a:gd name="connsiteX199" fmla="*/ 115173 w 607639"/>
                  <a:gd name="connsiteY199" fmla="*/ 76162 h 606722"/>
                  <a:gd name="connsiteX200" fmla="*/ 113927 w 607639"/>
                  <a:gd name="connsiteY200" fmla="*/ 66742 h 606722"/>
                  <a:gd name="connsiteX201" fmla="*/ 119712 w 607639"/>
                  <a:gd name="connsiteY201" fmla="*/ 59188 h 606722"/>
                  <a:gd name="connsiteX202" fmla="*/ 184152 w 607639"/>
                  <a:gd name="connsiteY202" fmla="*/ 22040 h 606722"/>
                  <a:gd name="connsiteX203" fmla="*/ 193497 w 607639"/>
                  <a:gd name="connsiteY203" fmla="*/ 20796 h 606722"/>
                  <a:gd name="connsiteX204" fmla="*/ 201063 w 607639"/>
                  <a:gd name="connsiteY204" fmla="*/ 26572 h 606722"/>
                  <a:gd name="connsiteX205" fmla="*/ 218953 w 607639"/>
                  <a:gd name="connsiteY205" fmla="*/ 57499 h 606722"/>
                  <a:gd name="connsiteX206" fmla="*/ 254199 w 607639"/>
                  <a:gd name="connsiteY206" fmla="*/ 48079 h 606722"/>
                  <a:gd name="connsiteX207" fmla="*/ 254199 w 607639"/>
                  <a:gd name="connsiteY207" fmla="*/ 12353 h 606722"/>
                  <a:gd name="connsiteX208" fmla="*/ 266571 w 607639"/>
                  <a:gd name="connsiteY208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</a:cxnLst>
                <a:rect l="l" t="t" r="r" b="b"/>
                <a:pathLst>
                  <a:path w="607639" h="606722">
                    <a:moveTo>
                      <a:pt x="212477" y="325103"/>
                    </a:moveTo>
                    <a:cubicBezTo>
                      <a:pt x="200115" y="326803"/>
                      <a:pt x="188988" y="330513"/>
                      <a:pt x="181466" y="333535"/>
                    </a:cubicBezTo>
                    <a:cubicBezTo>
                      <a:pt x="188142" y="348378"/>
                      <a:pt x="203275" y="375219"/>
                      <a:pt x="228022" y="385174"/>
                    </a:cubicBezTo>
                    <a:cubicBezTo>
                      <a:pt x="244846" y="391929"/>
                      <a:pt x="263807" y="390062"/>
                      <a:pt x="279029" y="386240"/>
                    </a:cubicBezTo>
                    <a:lnTo>
                      <a:pt x="243333" y="371842"/>
                    </a:lnTo>
                    <a:cubicBezTo>
                      <a:pt x="236923" y="369265"/>
                      <a:pt x="233897" y="362065"/>
                      <a:pt x="236478" y="355755"/>
                    </a:cubicBezTo>
                    <a:cubicBezTo>
                      <a:pt x="239060" y="349445"/>
                      <a:pt x="246270" y="346334"/>
                      <a:pt x="252591" y="348911"/>
                    </a:cubicBezTo>
                    <a:lnTo>
                      <a:pt x="288286" y="363310"/>
                    </a:lnTo>
                    <a:cubicBezTo>
                      <a:pt x="280008" y="350067"/>
                      <a:pt x="267635" y="335491"/>
                      <a:pt x="250899" y="328736"/>
                    </a:cubicBezTo>
                    <a:cubicBezTo>
                      <a:pt x="238437" y="323715"/>
                      <a:pt x="224839" y="323403"/>
                      <a:pt x="212477" y="325103"/>
                    </a:cubicBezTo>
                    <a:close/>
                    <a:moveTo>
                      <a:pt x="407658" y="219771"/>
                    </a:moveTo>
                    <a:cubicBezTo>
                      <a:pt x="391367" y="220127"/>
                      <a:pt x="360746" y="223504"/>
                      <a:pt x="341785" y="242346"/>
                    </a:cubicBezTo>
                    <a:cubicBezTo>
                      <a:pt x="328878" y="255234"/>
                      <a:pt x="323270" y="273454"/>
                      <a:pt x="320777" y="288919"/>
                    </a:cubicBezTo>
                    <a:lnTo>
                      <a:pt x="348105" y="261633"/>
                    </a:lnTo>
                    <a:cubicBezTo>
                      <a:pt x="353001" y="256833"/>
                      <a:pt x="360835" y="256833"/>
                      <a:pt x="365642" y="261633"/>
                    </a:cubicBezTo>
                    <a:cubicBezTo>
                      <a:pt x="370538" y="266521"/>
                      <a:pt x="370538" y="274342"/>
                      <a:pt x="365642" y="279142"/>
                    </a:cubicBezTo>
                    <a:lnTo>
                      <a:pt x="338403" y="306339"/>
                    </a:lnTo>
                    <a:cubicBezTo>
                      <a:pt x="353892" y="303939"/>
                      <a:pt x="372140" y="298251"/>
                      <a:pt x="384958" y="285452"/>
                    </a:cubicBezTo>
                    <a:cubicBezTo>
                      <a:pt x="403919" y="266521"/>
                      <a:pt x="407301" y="236036"/>
                      <a:pt x="407658" y="219771"/>
                    </a:cubicBezTo>
                    <a:close/>
                    <a:moveTo>
                      <a:pt x="266317" y="181658"/>
                    </a:moveTo>
                    <a:cubicBezTo>
                      <a:pt x="269314" y="182702"/>
                      <a:pt x="271920" y="184879"/>
                      <a:pt x="273435" y="187945"/>
                    </a:cubicBezTo>
                    <a:lnTo>
                      <a:pt x="274594" y="190344"/>
                    </a:lnTo>
                    <a:cubicBezTo>
                      <a:pt x="277534" y="196475"/>
                      <a:pt x="274861" y="203940"/>
                      <a:pt x="268712" y="206872"/>
                    </a:cubicBezTo>
                    <a:cubicBezTo>
                      <a:pt x="267019" y="207672"/>
                      <a:pt x="265148" y="208027"/>
                      <a:pt x="263365" y="208027"/>
                    </a:cubicBezTo>
                    <a:cubicBezTo>
                      <a:pt x="258732" y="208027"/>
                      <a:pt x="254276" y="205450"/>
                      <a:pt x="252137" y="201007"/>
                    </a:cubicBezTo>
                    <a:lnTo>
                      <a:pt x="251068" y="198697"/>
                    </a:lnTo>
                    <a:cubicBezTo>
                      <a:pt x="248038" y="192565"/>
                      <a:pt x="250712" y="185190"/>
                      <a:pt x="256860" y="182169"/>
                    </a:cubicBezTo>
                    <a:cubicBezTo>
                      <a:pt x="259935" y="180703"/>
                      <a:pt x="263321" y="180614"/>
                      <a:pt x="266317" y="181658"/>
                    </a:cubicBezTo>
                    <a:close/>
                    <a:moveTo>
                      <a:pt x="303775" y="123782"/>
                    </a:moveTo>
                    <a:cubicBezTo>
                      <a:pt x="204610" y="123782"/>
                      <a:pt x="123961" y="204306"/>
                      <a:pt x="123961" y="303317"/>
                    </a:cubicBezTo>
                    <a:cubicBezTo>
                      <a:pt x="123961" y="399750"/>
                      <a:pt x="200516" y="478674"/>
                      <a:pt x="296031" y="482673"/>
                    </a:cubicBezTo>
                    <a:cubicBezTo>
                      <a:pt x="298701" y="470941"/>
                      <a:pt x="303597" y="443478"/>
                      <a:pt x="302885" y="404816"/>
                    </a:cubicBezTo>
                    <a:cubicBezTo>
                      <a:pt x="290601" y="409349"/>
                      <a:pt x="272530" y="414415"/>
                      <a:pt x="253125" y="414415"/>
                    </a:cubicBezTo>
                    <a:cubicBezTo>
                      <a:pt x="241819" y="414415"/>
                      <a:pt x="230069" y="412726"/>
                      <a:pt x="218675" y="408193"/>
                    </a:cubicBezTo>
                    <a:cubicBezTo>
                      <a:pt x="173009" y="389707"/>
                      <a:pt x="154494" y="333269"/>
                      <a:pt x="153693" y="330869"/>
                    </a:cubicBezTo>
                    <a:cubicBezTo>
                      <a:pt x="151913" y="325270"/>
                      <a:pt x="154405" y="319048"/>
                      <a:pt x="159657" y="316204"/>
                    </a:cubicBezTo>
                    <a:cubicBezTo>
                      <a:pt x="161882" y="315049"/>
                      <a:pt x="214491" y="287319"/>
                      <a:pt x="260157" y="305717"/>
                    </a:cubicBezTo>
                    <a:cubicBezTo>
                      <a:pt x="274400" y="311494"/>
                      <a:pt x="286061" y="320915"/>
                      <a:pt x="295319" y="331313"/>
                    </a:cubicBezTo>
                    <a:cubicBezTo>
                      <a:pt x="294696" y="327847"/>
                      <a:pt x="293983" y="324381"/>
                      <a:pt x="293271" y="320826"/>
                    </a:cubicBezTo>
                    <a:cubicBezTo>
                      <a:pt x="288286" y="297273"/>
                      <a:pt x="281432" y="273454"/>
                      <a:pt x="272797" y="250079"/>
                    </a:cubicBezTo>
                    <a:cubicBezTo>
                      <a:pt x="270483" y="243591"/>
                      <a:pt x="273777" y="236480"/>
                      <a:pt x="280186" y="234169"/>
                    </a:cubicBezTo>
                    <a:cubicBezTo>
                      <a:pt x="286684" y="231859"/>
                      <a:pt x="293805" y="235147"/>
                      <a:pt x="296120" y="241546"/>
                    </a:cubicBezTo>
                    <a:cubicBezTo>
                      <a:pt x="298434" y="247768"/>
                      <a:pt x="300571" y="253989"/>
                      <a:pt x="302618" y="260211"/>
                    </a:cubicBezTo>
                    <a:cubicBezTo>
                      <a:pt x="307069" y="247679"/>
                      <a:pt x="313923" y="235236"/>
                      <a:pt x="324249" y="224837"/>
                    </a:cubicBezTo>
                    <a:cubicBezTo>
                      <a:pt x="359144" y="190086"/>
                      <a:pt x="418340" y="195063"/>
                      <a:pt x="420921" y="195330"/>
                    </a:cubicBezTo>
                    <a:cubicBezTo>
                      <a:pt x="426796" y="195863"/>
                      <a:pt x="431514" y="200573"/>
                      <a:pt x="432137" y="206528"/>
                    </a:cubicBezTo>
                    <a:cubicBezTo>
                      <a:pt x="432315" y="209017"/>
                      <a:pt x="437300" y="268210"/>
                      <a:pt x="402495" y="302961"/>
                    </a:cubicBezTo>
                    <a:cubicBezTo>
                      <a:pt x="377926" y="327492"/>
                      <a:pt x="341162" y="332291"/>
                      <a:pt x="320777" y="332824"/>
                    </a:cubicBezTo>
                    <a:cubicBezTo>
                      <a:pt x="333329" y="404549"/>
                      <a:pt x="326474" y="457787"/>
                      <a:pt x="321579" y="482051"/>
                    </a:cubicBezTo>
                    <a:cubicBezTo>
                      <a:pt x="412464" y="473075"/>
                      <a:pt x="483589" y="396372"/>
                      <a:pt x="483589" y="303317"/>
                    </a:cubicBezTo>
                    <a:cubicBezTo>
                      <a:pt x="483589" y="204306"/>
                      <a:pt x="402940" y="123782"/>
                      <a:pt x="303775" y="123782"/>
                    </a:cubicBezTo>
                    <a:close/>
                    <a:moveTo>
                      <a:pt x="303775" y="99074"/>
                    </a:moveTo>
                    <a:cubicBezTo>
                      <a:pt x="416648" y="99074"/>
                      <a:pt x="508424" y="190708"/>
                      <a:pt x="508424" y="303317"/>
                    </a:cubicBezTo>
                    <a:cubicBezTo>
                      <a:pt x="508424" y="416015"/>
                      <a:pt x="416648" y="507648"/>
                      <a:pt x="303775" y="507648"/>
                    </a:cubicBezTo>
                    <a:cubicBezTo>
                      <a:pt x="190991" y="507648"/>
                      <a:pt x="99215" y="416015"/>
                      <a:pt x="99215" y="303317"/>
                    </a:cubicBezTo>
                    <a:cubicBezTo>
                      <a:pt x="99215" y="190708"/>
                      <a:pt x="190991" y="99074"/>
                      <a:pt x="303775" y="99074"/>
                    </a:cubicBezTo>
                    <a:close/>
                    <a:moveTo>
                      <a:pt x="279032" y="24795"/>
                    </a:moveTo>
                    <a:lnTo>
                      <a:pt x="279032" y="58477"/>
                    </a:lnTo>
                    <a:cubicBezTo>
                      <a:pt x="279032" y="64609"/>
                      <a:pt x="274492" y="69852"/>
                      <a:pt x="268440" y="70741"/>
                    </a:cubicBezTo>
                    <a:cubicBezTo>
                      <a:pt x="251173" y="73318"/>
                      <a:pt x="234173" y="77851"/>
                      <a:pt x="217885" y="84249"/>
                    </a:cubicBezTo>
                    <a:cubicBezTo>
                      <a:pt x="212188" y="86471"/>
                      <a:pt x="205691" y="84161"/>
                      <a:pt x="202665" y="78917"/>
                    </a:cubicBezTo>
                    <a:lnTo>
                      <a:pt x="185754" y="49679"/>
                    </a:lnTo>
                    <a:lnTo>
                      <a:pt x="142853" y="74474"/>
                    </a:lnTo>
                    <a:lnTo>
                      <a:pt x="159764" y="103712"/>
                    </a:lnTo>
                    <a:cubicBezTo>
                      <a:pt x="162790" y="109044"/>
                      <a:pt x="161544" y="115710"/>
                      <a:pt x="156738" y="119531"/>
                    </a:cubicBezTo>
                    <a:cubicBezTo>
                      <a:pt x="143120" y="130462"/>
                      <a:pt x="130659" y="142904"/>
                      <a:pt x="119712" y="156502"/>
                    </a:cubicBezTo>
                    <a:cubicBezTo>
                      <a:pt x="115885" y="161301"/>
                      <a:pt x="109209" y="162545"/>
                      <a:pt x="103869" y="159523"/>
                    </a:cubicBezTo>
                    <a:lnTo>
                      <a:pt x="74586" y="142638"/>
                    </a:lnTo>
                    <a:lnTo>
                      <a:pt x="49754" y="185474"/>
                    </a:lnTo>
                    <a:lnTo>
                      <a:pt x="79036" y="202359"/>
                    </a:lnTo>
                    <a:cubicBezTo>
                      <a:pt x="84288" y="205381"/>
                      <a:pt x="86602" y="211869"/>
                      <a:pt x="84377" y="217556"/>
                    </a:cubicBezTo>
                    <a:cubicBezTo>
                      <a:pt x="77968" y="233820"/>
                      <a:pt x="73429" y="250794"/>
                      <a:pt x="70848" y="268035"/>
                    </a:cubicBezTo>
                    <a:cubicBezTo>
                      <a:pt x="69958" y="274078"/>
                      <a:pt x="64707" y="278611"/>
                      <a:pt x="58565" y="278611"/>
                    </a:cubicBezTo>
                    <a:lnTo>
                      <a:pt x="24832" y="278611"/>
                    </a:lnTo>
                    <a:lnTo>
                      <a:pt x="24832" y="328112"/>
                    </a:lnTo>
                    <a:lnTo>
                      <a:pt x="58565" y="328112"/>
                    </a:lnTo>
                    <a:cubicBezTo>
                      <a:pt x="64707" y="328112"/>
                      <a:pt x="69958" y="332555"/>
                      <a:pt x="70848" y="338687"/>
                    </a:cubicBezTo>
                    <a:cubicBezTo>
                      <a:pt x="73429" y="355928"/>
                      <a:pt x="77968" y="372903"/>
                      <a:pt x="84377" y="389077"/>
                    </a:cubicBezTo>
                    <a:cubicBezTo>
                      <a:pt x="86602" y="394765"/>
                      <a:pt x="84288" y="401253"/>
                      <a:pt x="79036" y="404363"/>
                    </a:cubicBezTo>
                    <a:lnTo>
                      <a:pt x="49754" y="421160"/>
                    </a:lnTo>
                    <a:lnTo>
                      <a:pt x="74586" y="464084"/>
                    </a:lnTo>
                    <a:lnTo>
                      <a:pt x="103869" y="447199"/>
                    </a:lnTo>
                    <a:cubicBezTo>
                      <a:pt x="109209" y="444177"/>
                      <a:pt x="115885" y="445421"/>
                      <a:pt x="119712" y="450220"/>
                    </a:cubicBezTo>
                    <a:cubicBezTo>
                      <a:pt x="130659" y="463818"/>
                      <a:pt x="143120" y="476260"/>
                      <a:pt x="156738" y="487102"/>
                    </a:cubicBezTo>
                    <a:cubicBezTo>
                      <a:pt x="161544" y="490923"/>
                      <a:pt x="162790" y="497678"/>
                      <a:pt x="159764" y="503010"/>
                    </a:cubicBezTo>
                    <a:lnTo>
                      <a:pt x="142853" y="532248"/>
                    </a:lnTo>
                    <a:lnTo>
                      <a:pt x="185754" y="556954"/>
                    </a:lnTo>
                    <a:lnTo>
                      <a:pt x="202665" y="527805"/>
                    </a:lnTo>
                    <a:cubicBezTo>
                      <a:pt x="205691" y="522473"/>
                      <a:pt x="212188" y="520251"/>
                      <a:pt x="217885" y="522473"/>
                    </a:cubicBezTo>
                    <a:cubicBezTo>
                      <a:pt x="234173" y="528782"/>
                      <a:pt x="251173" y="533404"/>
                      <a:pt x="268440" y="535981"/>
                    </a:cubicBezTo>
                    <a:cubicBezTo>
                      <a:pt x="274492" y="536870"/>
                      <a:pt x="279032" y="542113"/>
                      <a:pt x="279032" y="548245"/>
                    </a:cubicBezTo>
                    <a:lnTo>
                      <a:pt x="279032" y="581927"/>
                    </a:lnTo>
                    <a:lnTo>
                      <a:pt x="328608" y="581927"/>
                    </a:lnTo>
                    <a:lnTo>
                      <a:pt x="328608" y="548245"/>
                    </a:lnTo>
                    <a:cubicBezTo>
                      <a:pt x="328608" y="542113"/>
                      <a:pt x="333058" y="536870"/>
                      <a:pt x="339199" y="535981"/>
                    </a:cubicBezTo>
                    <a:cubicBezTo>
                      <a:pt x="356466" y="533404"/>
                      <a:pt x="373466" y="528782"/>
                      <a:pt x="389665" y="522473"/>
                    </a:cubicBezTo>
                    <a:cubicBezTo>
                      <a:pt x="395362" y="520251"/>
                      <a:pt x="401859" y="522473"/>
                      <a:pt x="404974" y="527805"/>
                    </a:cubicBezTo>
                    <a:lnTo>
                      <a:pt x="421796" y="556954"/>
                    </a:lnTo>
                    <a:lnTo>
                      <a:pt x="464786" y="532248"/>
                    </a:lnTo>
                    <a:lnTo>
                      <a:pt x="447875" y="503010"/>
                    </a:lnTo>
                    <a:cubicBezTo>
                      <a:pt x="444849" y="497678"/>
                      <a:pt x="446095" y="490923"/>
                      <a:pt x="450901" y="487102"/>
                    </a:cubicBezTo>
                    <a:cubicBezTo>
                      <a:pt x="464519" y="476260"/>
                      <a:pt x="476979" y="463818"/>
                      <a:pt x="487838" y="450220"/>
                    </a:cubicBezTo>
                    <a:cubicBezTo>
                      <a:pt x="491665" y="445421"/>
                      <a:pt x="498430" y="444177"/>
                      <a:pt x="503770" y="447199"/>
                    </a:cubicBezTo>
                    <a:lnTo>
                      <a:pt x="533053" y="464084"/>
                    </a:lnTo>
                    <a:lnTo>
                      <a:pt x="557796" y="421160"/>
                    </a:lnTo>
                    <a:lnTo>
                      <a:pt x="528603" y="404363"/>
                    </a:lnTo>
                    <a:cubicBezTo>
                      <a:pt x="523262" y="401253"/>
                      <a:pt x="521037" y="394765"/>
                      <a:pt x="523262" y="389077"/>
                    </a:cubicBezTo>
                    <a:cubicBezTo>
                      <a:pt x="529582" y="372903"/>
                      <a:pt x="534210" y="355928"/>
                      <a:pt x="536791" y="338687"/>
                    </a:cubicBezTo>
                    <a:cubicBezTo>
                      <a:pt x="537681" y="332555"/>
                      <a:pt x="542932" y="328112"/>
                      <a:pt x="549074" y="328112"/>
                    </a:cubicBezTo>
                    <a:lnTo>
                      <a:pt x="582807" y="328112"/>
                    </a:lnTo>
                    <a:lnTo>
                      <a:pt x="582807" y="278611"/>
                    </a:lnTo>
                    <a:lnTo>
                      <a:pt x="549074" y="278611"/>
                    </a:lnTo>
                    <a:cubicBezTo>
                      <a:pt x="542932" y="278611"/>
                      <a:pt x="537681" y="274078"/>
                      <a:pt x="536791" y="268035"/>
                    </a:cubicBezTo>
                    <a:cubicBezTo>
                      <a:pt x="534210" y="250794"/>
                      <a:pt x="529582" y="233820"/>
                      <a:pt x="523262" y="217556"/>
                    </a:cubicBezTo>
                    <a:cubicBezTo>
                      <a:pt x="521037" y="211869"/>
                      <a:pt x="523262" y="205381"/>
                      <a:pt x="528603" y="202359"/>
                    </a:cubicBezTo>
                    <a:lnTo>
                      <a:pt x="557796" y="185474"/>
                    </a:lnTo>
                    <a:lnTo>
                      <a:pt x="533053" y="142638"/>
                    </a:lnTo>
                    <a:lnTo>
                      <a:pt x="503770" y="159523"/>
                    </a:lnTo>
                    <a:cubicBezTo>
                      <a:pt x="498430" y="162545"/>
                      <a:pt x="491665" y="161301"/>
                      <a:pt x="487838" y="156502"/>
                    </a:cubicBezTo>
                    <a:cubicBezTo>
                      <a:pt x="476979" y="142904"/>
                      <a:pt x="464519" y="130462"/>
                      <a:pt x="450901" y="119531"/>
                    </a:cubicBezTo>
                    <a:cubicBezTo>
                      <a:pt x="446095" y="115710"/>
                      <a:pt x="444849" y="109044"/>
                      <a:pt x="447875" y="103712"/>
                    </a:cubicBezTo>
                    <a:lnTo>
                      <a:pt x="464786" y="74474"/>
                    </a:lnTo>
                    <a:lnTo>
                      <a:pt x="421796" y="49679"/>
                    </a:lnTo>
                    <a:lnTo>
                      <a:pt x="404974" y="78917"/>
                    </a:lnTo>
                    <a:cubicBezTo>
                      <a:pt x="401859" y="84161"/>
                      <a:pt x="395451" y="86471"/>
                      <a:pt x="389665" y="84249"/>
                    </a:cubicBezTo>
                    <a:cubicBezTo>
                      <a:pt x="373466" y="77851"/>
                      <a:pt x="356466" y="73318"/>
                      <a:pt x="339199" y="70741"/>
                    </a:cubicBezTo>
                    <a:cubicBezTo>
                      <a:pt x="333058" y="69852"/>
                      <a:pt x="328608" y="64609"/>
                      <a:pt x="328608" y="58477"/>
                    </a:cubicBezTo>
                    <a:lnTo>
                      <a:pt x="328608" y="24795"/>
                    </a:lnTo>
                    <a:close/>
                    <a:moveTo>
                      <a:pt x="266571" y="0"/>
                    </a:moveTo>
                    <a:lnTo>
                      <a:pt x="340979" y="0"/>
                    </a:lnTo>
                    <a:cubicBezTo>
                      <a:pt x="347833" y="0"/>
                      <a:pt x="353440" y="5510"/>
                      <a:pt x="353440" y="12353"/>
                    </a:cubicBezTo>
                    <a:lnTo>
                      <a:pt x="353440" y="48079"/>
                    </a:lnTo>
                    <a:cubicBezTo>
                      <a:pt x="365367" y="50390"/>
                      <a:pt x="377205" y="53500"/>
                      <a:pt x="388686" y="57499"/>
                    </a:cubicBezTo>
                    <a:lnTo>
                      <a:pt x="406576" y="26572"/>
                    </a:lnTo>
                    <a:cubicBezTo>
                      <a:pt x="408178" y="23728"/>
                      <a:pt x="410938" y="21684"/>
                      <a:pt x="414053" y="20796"/>
                    </a:cubicBezTo>
                    <a:cubicBezTo>
                      <a:pt x="417257" y="19996"/>
                      <a:pt x="420639" y="20440"/>
                      <a:pt x="423487" y="22040"/>
                    </a:cubicBezTo>
                    <a:lnTo>
                      <a:pt x="487927" y="59188"/>
                    </a:lnTo>
                    <a:cubicBezTo>
                      <a:pt x="490775" y="60876"/>
                      <a:pt x="492822" y="63542"/>
                      <a:pt x="493712" y="66742"/>
                    </a:cubicBezTo>
                    <a:cubicBezTo>
                      <a:pt x="494514" y="69941"/>
                      <a:pt x="494069" y="73318"/>
                      <a:pt x="492466" y="76162"/>
                    </a:cubicBezTo>
                    <a:lnTo>
                      <a:pt x="474576" y="107089"/>
                    </a:lnTo>
                    <a:cubicBezTo>
                      <a:pt x="483744" y="115088"/>
                      <a:pt x="492377" y="123708"/>
                      <a:pt x="500388" y="132862"/>
                    </a:cubicBezTo>
                    <a:lnTo>
                      <a:pt x="531362" y="114999"/>
                    </a:lnTo>
                    <a:cubicBezTo>
                      <a:pt x="537325" y="111533"/>
                      <a:pt x="544891" y="113577"/>
                      <a:pt x="548273" y="119531"/>
                    </a:cubicBezTo>
                    <a:lnTo>
                      <a:pt x="585477" y="183874"/>
                    </a:lnTo>
                    <a:cubicBezTo>
                      <a:pt x="588948" y="189740"/>
                      <a:pt x="586901" y="197294"/>
                      <a:pt x="580938" y="200760"/>
                    </a:cubicBezTo>
                    <a:lnTo>
                      <a:pt x="550053" y="218623"/>
                    </a:lnTo>
                    <a:cubicBezTo>
                      <a:pt x="553969" y="230087"/>
                      <a:pt x="557173" y="241907"/>
                      <a:pt x="559487" y="253816"/>
                    </a:cubicBezTo>
                    <a:lnTo>
                      <a:pt x="595178" y="253816"/>
                    </a:lnTo>
                    <a:cubicBezTo>
                      <a:pt x="602032" y="253816"/>
                      <a:pt x="607639" y="259326"/>
                      <a:pt x="607639" y="266169"/>
                    </a:cubicBezTo>
                    <a:lnTo>
                      <a:pt x="607639" y="340465"/>
                    </a:lnTo>
                    <a:cubicBezTo>
                      <a:pt x="607639" y="347308"/>
                      <a:pt x="602032" y="352907"/>
                      <a:pt x="595178" y="352907"/>
                    </a:cubicBezTo>
                    <a:lnTo>
                      <a:pt x="559487" y="352907"/>
                    </a:lnTo>
                    <a:cubicBezTo>
                      <a:pt x="557173" y="364815"/>
                      <a:pt x="553969" y="376635"/>
                      <a:pt x="550053" y="388100"/>
                    </a:cubicBezTo>
                    <a:lnTo>
                      <a:pt x="580938" y="405963"/>
                    </a:lnTo>
                    <a:cubicBezTo>
                      <a:pt x="586901" y="409340"/>
                      <a:pt x="588948" y="416894"/>
                      <a:pt x="585477" y="422848"/>
                    </a:cubicBezTo>
                    <a:lnTo>
                      <a:pt x="548273" y="487191"/>
                    </a:lnTo>
                    <a:cubicBezTo>
                      <a:pt x="544891" y="493145"/>
                      <a:pt x="537325" y="495100"/>
                      <a:pt x="531362" y="491723"/>
                    </a:cubicBezTo>
                    <a:lnTo>
                      <a:pt x="500388" y="473860"/>
                    </a:lnTo>
                    <a:cubicBezTo>
                      <a:pt x="492377" y="483014"/>
                      <a:pt x="483744" y="491634"/>
                      <a:pt x="474576" y="499633"/>
                    </a:cubicBezTo>
                    <a:lnTo>
                      <a:pt x="492466" y="530560"/>
                    </a:lnTo>
                    <a:cubicBezTo>
                      <a:pt x="494069" y="533404"/>
                      <a:pt x="494514" y="536781"/>
                      <a:pt x="493712" y="539980"/>
                    </a:cubicBezTo>
                    <a:cubicBezTo>
                      <a:pt x="492822" y="543091"/>
                      <a:pt x="490775" y="545846"/>
                      <a:pt x="487927" y="547445"/>
                    </a:cubicBezTo>
                    <a:lnTo>
                      <a:pt x="423487" y="584593"/>
                    </a:lnTo>
                    <a:cubicBezTo>
                      <a:pt x="420639" y="586282"/>
                      <a:pt x="417257" y="586726"/>
                      <a:pt x="414053" y="585838"/>
                    </a:cubicBezTo>
                    <a:cubicBezTo>
                      <a:pt x="410938" y="585038"/>
                      <a:pt x="408178" y="582905"/>
                      <a:pt x="406576" y="580061"/>
                    </a:cubicBezTo>
                    <a:lnTo>
                      <a:pt x="388686" y="549223"/>
                    </a:lnTo>
                    <a:cubicBezTo>
                      <a:pt x="377205" y="553133"/>
                      <a:pt x="365367" y="556332"/>
                      <a:pt x="353440" y="558643"/>
                    </a:cubicBezTo>
                    <a:lnTo>
                      <a:pt x="353440" y="594280"/>
                    </a:lnTo>
                    <a:cubicBezTo>
                      <a:pt x="353440" y="601123"/>
                      <a:pt x="347833" y="606722"/>
                      <a:pt x="340979" y="606722"/>
                    </a:cubicBezTo>
                    <a:lnTo>
                      <a:pt x="266571" y="606722"/>
                    </a:lnTo>
                    <a:cubicBezTo>
                      <a:pt x="259718" y="606722"/>
                      <a:pt x="254199" y="601123"/>
                      <a:pt x="254199" y="594280"/>
                    </a:cubicBezTo>
                    <a:lnTo>
                      <a:pt x="254199" y="558643"/>
                    </a:lnTo>
                    <a:cubicBezTo>
                      <a:pt x="242272" y="556332"/>
                      <a:pt x="230434" y="553133"/>
                      <a:pt x="218953" y="549223"/>
                    </a:cubicBezTo>
                    <a:lnTo>
                      <a:pt x="201063" y="580061"/>
                    </a:lnTo>
                    <a:cubicBezTo>
                      <a:pt x="199372" y="582905"/>
                      <a:pt x="196701" y="585038"/>
                      <a:pt x="193497" y="585838"/>
                    </a:cubicBezTo>
                    <a:cubicBezTo>
                      <a:pt x="190382" y="586726"/>
                      <a:pt x="187000" y="586282"/>
                      <a:pt x="184152" y="584593"/>
                    </a:cubicBezTo>
                    <a:lnTo>
                      <a:pt x="119712" y="547445"/>
                    </a:lnTo>
                    <a:cubicBezTo>
                      <a:pt x="116864" y="545846"/>
                      <a:pt x="114728" y="543091"/>
                      <a:pt x="113927" y="539980"/>
                    </a:cubicBezTo>
                    <a:cubicBezTo>
                      <a:pt x="113036" y="536781"/>
                      <a:pt x="113481" y="533404"/>
                      <a:pt x="115173" y="530560"/>
                    </a:cubicBezTo>
                    <a:lnTo>
                      <a:pt x="133063" y="499633"/>
                    </a:lnTo>
                    <a:cubicBezTo>
                      <a:pt x="123895" y="491634"/>
                      <a:pt x="115173" y="483014"/>
                      <a:pt x="107251" y="473860"/>
                    </a:cubicBezTo>
                    <a:lnTo>
                      <a:pt x="76277" y="491723"/>
                    </a:lnTo>
                    <a:cubicBezTo>
                      <a:pt x="70314" y="495100"/>
                      <a:pt x="62748" y="493145"/>
                      <a:pt x="59277" y="487191"/>
                    </a:cubicBezTo>
                    <a:lnTo>
                      <a:pt x="22073" y="422848"/>
                    </a:lnTo>
                    <a:cubicBezTo>
                      <a:pt x="18691" y="416894"/>
                      <a:pt x="20738" y="409340"/>
                      <a:pt x="26612" y="405963"/>
                    </a:cubicBezTo>
                    <a:lnTo>
                      <a:pt x="57586" y="388100"/>
                    </a:lnTo>
                    <a:cubicBezTo>
                      <a:pt x="53581" y="376635"/>
                      <a:pt x="50466" y="364815"/>
                      <a:pt x="48152" y="352907"/>
                    </a:cubicBezTo>
                    <a:lnTo>
                      <a:pt x="12371" y="352907"/>
                    </a:lnTo>
                    <a:cubicBezTo>
                      <a:pt x="5518" y="352907"/>
                      <a:pt x="0" y="347308"/>
                      <a:pt x="0" y="340465"/>
                    </a:cubicBezTo>
                    <a:lnTo>
                      <a:pt x="0" y="266169"/>
                    </a:lnTo>
                    <a:cubicBezTo>
                      <a:pt x="0" y="259326"/>
                      <a:pt x="5518" y="253816"/>
                      <a:pt x="12371" y="253816"/>
                    </a:cubicBezTo>
                    <a:lnTo>
                      <a:pt x="48152" y="253816"/>
                    </a:lnTo>
                    <a:cubicBezTo>
                      <a:pt x="50466" y="241907"/>
                      <a:pt x="53581" y="230087"/>
                      <a:pt x="57586" y="218534"/>
                    </a:cubicBezTo>
                    <a:lnTo>
                      <a:pt x="26612" y="200760"/>
                    </a:lnTo>
                    <a:cubicBezTo>
                      <a:pt x="20738" y="197294"/>
                      <a:pt x="18691" y="189740"/>
                      <a:pt x="22073" y="183874"/>
                    </a:cubicBezTo>
                    <a:lnTo>
                      <a:pt x="59277" y="119531"/>
                    </a:lnTo>
                    <a:cubicBezTo>
                      <a:pt x="62748" y="113577"/>
                      <a:pt x="70314" y="111533"/>
                      <a:pt x="76277" y="114999"/>
                    </a:cubicBezTo>
                    <a:lnTo>
                      <a:pt x="107251" y="132862"/>
                    </a:lnTo>
                    <a:cubicBezTo>
                      <a:pt x="115262" y="123708"/>
                      <a:pt x="123895" y="114999"/>
                      <a:pt x="133063" y="107089"/>
                    </a:cubicBezTo>
                    <a:lnTo>
                      <a:pt x="115173" y="76162"/>
                    </a:lnTo>
                    <a:cubicBezTo>
                      <a:pt x="113481" y="73318"/>
                      <a:pt x="113036" y="69941"/>
                      <a:pt x="113927" y="66742"/>
                    </a:cubicBezTo>
                    <a:cubicBezTo>
                      <a:pt x="114728" y="63542"/>
                      <a:pt x="116864" y="60876"/>
                      <a:pt x="119712" y="59188"/>
                    </a:cubicBezTo>
                    <a:lnTo>
                      <a:pt x="184152" y="22040"/>
                    </a:lnTo>
                    <a:cubicBezTo>
                      <a:pt x="187000" y="20440"/>
                      <a:pt x="190382" y="19996"/>
                      <a:pt x="193497" y="20796"/>
                    </a:cubicBezTo>
                    <a:cubicBezTo>
                      <a:pt x="196701" y="21684"/>
                      <a:pt x="199461" y="23728"/>
                      <a:pt x="201063" y="26572"/>
                    </a:cubicBezTo>
                    <a:lnTo>
                      <a:pt x="218953" y="57499"/>
                    </a:lnTo>
                    <a:cubicBezTo>
                      <a:pt x="230434" y="53500"/>
                      <a:pt x="242272" y="50390"/>
                      <a:pt x="254199" y="48079"/>
                    </a:cubicBezTo>
                    <a:lnTo>
                      <a:pt x="254199" y="12353"/>
                    </a:lnTo>
                    <a:cubicBezTo>
                      <a:pt x="254199" y="5510"/>
                      <a:pt x="259718" y="0"/>
                      <a:pt x="26657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思源宋体 CN Medium" panose="02020500000000000000" charset="-122"/>
                </a:endParaRPr>
              </a:p>
            </p:txBody>
          </p:sp>
          <p:sp>
            <p:nvSpPr>
              <p:cNvPr id="63" name="Title-0">
                <a:extLst>
                  <a:ext uri="{FF2B5EF4-FFF2-40B4-BE49-F238E27FC236}">
                    <a16:creationId xmlns:a16="http://schemas.microsoft.com/office/drawing/2014/main" id="{E32EB07A-3CBB-B867-CA40-1A36470811DD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163432" y="3042385"/>
                <a:ext cx="1865137" cy="809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chemeClr val="bg1"/>
                    </a:solidFill>
                    <a:latin typeface="+mj-ea"/>
                    <a:ea typeface="+mj-ea"/>
                    <a:cs typeface="思源宋体 CN Medium" panose="02020500000000000000" charset="-122"/>
                  </a:rPr>
                  <a:t>架构模式（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+mj-ea"/>
                    <a:ea typeface="+mj-ea"/>
                    <a:cs typeface="思源宋体 CN Medium" panose="02020500000000000000" charset="-122"/>
                  </a:rPr>
                  <a:t>MVC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+mj-ea"/>
                    <a:ea typeface="+mj-ea"/>
                    <a:cs typeface="思源宋体 CN Medium" panose="02020500000000000000" charset="-122"/>
                  </a:rPr>
                  <a:t>）</a:t>
                </a:r>
              </a:p>
            </p:txBody>
          </p:sp>
        </p:grpSp>
        <p:grpSp>
          <p:nvGrpSpPr>
            <p:cNvPr id="39" name="组合 1">
              <a:extLst>
                <a:ext uri="{FF2B5EF4-FFF2-40B4-BE49-F238E27FC236}">
                  <a16:creationId xmlns:a16="http://schemas.microsoft.com/office/drawing/2014/main" id="{BDB437FE-F086-22A8-E326-E761EDC7CB51}"/>
                </a:ext>
              </a:extLst>
            </p:cNvPr>
            <p:cNvGrpSpPr/>
            <p:nvPr/>
          </p:nvGrpSpPr>
          <p:grpSpPr>
            <a:xfrm>
              <a:off x="1617303" y="3615444"/>
              <a:ext cx="1902752" cy="1482732"/>
              <a:chOff x="1005034" y="4035972"/>
              <a:chExt cx="1902752" cy="1482732"/>
            </a:xfrm>
          </p:grpSpPr>
          <p:sp>
            <p:nvSpPr>
              <p:cNvPr id="55" name="1">
                <a:extLst>
                  <a:ext uri="{FF2B5EF4-FFF2-40B4-BE49-F238E27FC236}">
                    <a16:creationId xmlns:a16="http://schemas.microsoft.com/office/drawing/2014/main" id="{B369DC0D-0B51-E62D-0E68-1356942075F0}"/>
                  </a:ext>
                </a:extLst>
              </p:cNvPr>
              <p:cNvSpPr/>
              <p:nvPr/>
            </p:nvSpPr>
            <p:spPr>
              <a:xfrm>
                <a:off x="1667968" y="4035972"/>
                <a:ext cx="576884" cy="57688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20700" dist="228600" dir="8100000" sx="103000" sy="103000" algn="tr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宋体 CN Medium" panose="02020500000000000000" charset="-122"/>
                </a:endParaRPr>
              </a:p>
            </p:txBody>
          </p:sp>
          <p:sp>
            <p:nvSpPr>
              <p:cNvPr id="56" name="Body-1">
                <a:extLst>
                  <a:ext uri="{FF2B5EF4-FFF2-40B4-BE49-F238E27FC236}">
                    <a16:creationId xmlns:a16="http://schemas.microsoft.com/office/drawing/2014/main" id="{05ACCF48-C512-CFEF-3DA1-EC712CE922F9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005034" y="4721477"/>
                <a:ext cx="1902752" cy="797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400" dirty="0">
                    <a:latin typeface="+mn-ea"/>
                    <a:cs typeface="思源宋体 CN Medium" panose="02020500000000000000" charset="-122"/>
                  </a:rPr>
                  <a:t>前端：</a:t>
                </a:r>
                <a:endParaRPr lang="en-US" altLang="zh-CN" sz="1400" dirty="0">
                  <a:latin typeface="+mn-ea"/>
                  <a:cs typeface="思源宋体 CN Medium" panose="02020500000000000000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cs typeface="+mn-ea"/>
                    <a:sym typeface="+mn-lt"/>
                  </a:rPr>
                  <a:t>负责视图（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cs typeface="+mn-ea"/>
                    <a:sym typeface="+mn-lt"/>
                  </a:rPr>
                  <a:t>View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cs typeface="+mn-ea"/>
                    <a:sym typeface="+mn-lt"/>
                  </a:rPr>
                  <a:t>）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7" name="1">
                <a:extLst>
                  <a:ext uri="{FF2B5EF4-FFF2-40B4-BE49-F238E27FC236}">
                    <a16:creationId xmlns:a16="http://schemas.microsoft.com/office/drawing/2014/main" id="{4D631BAC-9DA5-3074-9E92-28917D0BCE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25394" y="4193398"/>
                <a:ext cx="262033" cy="262033"/>
              </a:xfrm>
              <a:custGeom>
                <a:avLst/>
                <a:gdLst>
                  <a:gd name="T0" fmla="*/ 3509 w 8665"/>
                  <a:gd name="T1" fmla="*/ 4140 h 8525"/>
                  <a:gd name="T2" fmla="*/ 221 w 8665"/>
                  <a:gd name="T3" fmla="*/ 4140 h 8525"/>
                  <a:gd name="T4" fmla="*/ 0 w 8665"/>
                  <a:gd name="T5" fmla="*/ 3919 h 8525"/>
                  <a:gd name="T6" fmla="*/ 0 w 8665"/>
                  <a:gd name="T7" fmla="*/ 629 h 8525"/>
                  <a:gd name="T8" fmla="*/ 221 w 8665"/>
                  <a:gd name="T9" fmla="*/ 408 h 8525"/>
                  <a:gd name="T10" fmla="*/ 3509 w 8665"/>
                  <a:gd name="T11" fmla="*/ 408 h 8525"/>
                  <a:gd name="T12" fmla="*/ 3730 w 8665"/>
                  <a:gd name="T13" fmla="*/ 629 h 8525"/>
                  <a:gd name="T14" fmla="*/ 3730 w 8665"/>
                  <a:gd name="T15" fmla="*/ 3919 h 8525"/>
                  <a:gd name="T16" fmla="*/ 3509 w 8665"/>
                  <a:gd name="T17" fmla="*/ 4140 h 8525"/>
                  <a:gd name="T18" fmla="*/ 442 w 8665"/>
                  <a:gd name="T19" fmla="*/ 3698 h 8525"/>
                  <a:gd name="T20" fmla="*/ 3288 w 8665"/>
                  <a:gd name="T21" fmla="*/ 3698 h 8525"/>
                  <a:gd name="T22" fmla="*/ 3288 w 8665"/>
                  <a:gd name="T23" fmla="*/ 849 h 8525"/>
                  <a:gd name="T24" fmla="*/ 442 w 8665"/>
                  <a:gd name="T25" fmla="*/ 849 h 8525"/>
                  <a:gd name="T26" fmla="*/ 442 w 8665"/>
                  <a:gd name="T27" fmla="*/ 3698 h 8525"/>
                  <a:gd name="T28" fmla="*/ 3509 w 8665"/>
                  <a:gd name="T29" fmla="*/ 8525 h 8525"/>
                  <a:gd name="T30" fmla="*/ 221 w 8665"/>
                  <a:gd name="T31" fmla="*/ 8525 h 8525"/>
                  <a:gd name="T32" fmla="*/ 0 w 8665"/>
                  <a:gd name="T33" fmla="*/ 8304 h 8525"/>
                  <a:gd name="T34" fmla="*/ 0 w 8665"/>
                  <a:gd name="T35" fmla="*/ 5014 h 8525"/>
                  <a:gd name="T36" fmla="*/ 221 w 8665"/>
                  <a:gd name="T37" fmla="*/ 4793 h 8525"/>
                  <a:gd name="T38" fmla="*/ 3509 w 8665"/>
                  <a:gd name="T39" fmla="*/ 4793 h 8525"/>
                  <a:gd name="T40" fmla="*/ 3730 w 8665"/>
                  <a:gd name="T41" fmla="*/ 5014 h 8525"/>
                  <a:gd name="T42" fmla="*/ 3730 w 8665"/>
                  <a:gd name="T43" fmla="*/ 8304 h 8525"/>
                  <a:gd name="T44" fmla="*/ 3509 w 8665"/>
                  <a:gd name="T45" fmla="*/ 8525 h 8525"/>
                  <a:gd name="T46" fmla="*/ 442 w 8665"/>
                  <a:gd name="T47" fmla="*/ 8083 h 8525"/>
                  <a:gd name="T48" fmla="*/ 3288 w 8665"/>
                  <a:gd name="T49" fmla="*/ 8083 h 8525"/>
                  <a:gd name="T50" fmla="*/ 3288 w 8665"/>
                  <a:gd name="T51" fmla="*/ 5234 h 8525"/>
                  <a:gd name="T52" fmla="*/ 442 w 8665"/>
                  <a:gd name="T53" fmla="*/ 5234 h 8525"/>
                  <a:gd name="T54" fmla="*/ 442 w 8665"/>
                  <a:gd name="T55" fmla="*/ 8083 h 8525"/>
                  <a:gd name="T56" fmla="*/ 7855 w 8665"/>
                  <a:gd name="T57" fmla="*/ 8525 h 8525"/>
                  <a:gd name="T58" fmla="*/ 4564 w 8665"/>
                  <a:gd name="T59" fmla="*/ 8525 h 8525"/>
                  <a:gd name="T60" fmla="*/ 4343 w 8665"/>
                  <a:gd name="T61" fmla="*/ 8304 h 8525"/>
                  <a:gd name="T62" fmla="*/ 4343 w 8665"/>
                  <a:gd name="T63" fmla="*/ 5014 h 8525"/>
                  <a:gd name="T64" fmla="*/ 4564 w 8665"/>
                  <a:gd name="T65" fmla="*/ 4793 h 8525"/>
                  <a:gd name="T66" fmla="*/ 7855 w 8665"/>
                  <a:gd name="T67" fmla="*/ 4793 h 8525"/>
                  <a:gd name="T68" fmla="*/ 8075 w 8665"/>
                  <a:gd name="T69" fmla="*/ 5014 h 8525"/>
                  <a:gd name="T70" fmla="*/ 8075 w 8665"/>
                  <a:gd name="T71" fmla="*/ 8304 h 8525"/>
                  <a:gd name="T72" fmla="*/ 7855 w 8665"/>
                  <a:gd name="T73" fmla="*/ 8525 h 8525"/>
                  <a:gd name="T74" fmla="*/ 4785 w 8665"/>
                  <a:gd name="T75" fmla="*/ 8083 h 8525"/>
                  <a:gd name="T76" fmla="*/ 7634 w 8665"/>
                  <a:gd name="T77" fmla="*/ 8083 h 8525"/>
                  <a:gd name="T78" fmla="*/ 7634 w 8665"/>
                  <a:gd name="T79" fmla="*/ 5234 h 8525"/>
                  <a:gd name="T80" fmla="*/ 4785 w 8665"/>
                  <a:gd name="T81" fmla="*/ 5234 h 8525"/>
                  <a:gd name="T82" fmla="*/ 4785 w 8665"/>
                  <a:gd name="T83" fmla="*/ 8083 h 8525"/>
                  <a:gd name="T84" fmla="*/ 6232 w 8665"/>
                  <a:gd name="T85" fmla="*/ 4546 h 8525"/>
                  <a:gd name="T86" fmla="*/ 6065 w 8665"/>
                  <a:gd name="T87" fmla="*/ 4473 h 8525"/>
                  <a:gd name="T88" fmla="*/ 4189 w 8665"/>
                  <a:gd name="T89" fmla="*/ 2266 h 8525"/>
                  <a:gd name="T90" fmla="*/ 4213 w 8665"/>
                  <a:gd name="T91" fmla="*/ 1955 h 8525"/>
                  <a:gd name="T92" fmla="*/ 6420 w 8665"/>
                  <a:gd name="T93" fmla="*/ 79 h 8525"/>
                  <a:gd name="T94" fmla="*/ 6731 w 8665"/>
                  <a:gd name="T95" fmla="*/ 103 h 8525"/>
                  <a:gd name="T96" fmla="*/ 8609 w 8665"/>
                  <a:gd name="T97" fmla="*/ 2310 h 8525"/>
                  <a:gd name="T98" fmla="*/ 8660 w 8665"/>
                  <a:gd name="T99" fmla="*/ 2471 h 8525"/>
                  <a:gd name="T100" fmla="*/ 8585 w 8665"/>
                  <a:gd name="T101" fmla="*/ 2621 h 8525"/>
                  <a:gd name="T102" fmla="*/ 6378 w 8665"/>
                  <a:gd name="T103" fmla="*/ 4499 h 8525"/>
                  <a:gd name="T104" fmla="*/ 6232 w 8665"/>
                  <a:gd name="T105" fmla="*/ 4546 h 8525"/>
                  <a:gd name="T106" fmla="*/ 4668 w 8665"/>
                  <a:gd name="T107" fmla="*/ 2151 h 8525"/>
                  <a:gd name="T108" fmla="*/ 6259 w 8665"/>
                  <a:gd name="T109" fmla="*/ 4014 h 8525"/>
                  <a:gd name="T110" fmla="*/ 8117 w 8665"/>
                  <a:gd name="T111" fmla="*/ 2425 h 8525"/>
                  <a:gd name="T112" fmla="*/ 6526 w 8665"/>
                  <a:gd name="T113" fmla="*/ 562 h 8525"/>
                  <a:gd name="T114" fmla="*/ 4668 w 8665"/>
                  <a:gd name="T115" fmla="*/ 2151 h 8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665" h="8525">
                    <a:moveTo>
                      <a:pt x="3509" y="4140"/>
                    </a:moveTo>
                    <a:lnTo>
                      <a:pt x="221" y="4140"/>
                    </a:lnTo>
                    <a:cubicBezTo>
                      <a:pt x="99" y="4140"/>
                      <a:pt x="0" y="4041"/>
                      <a:pt x="0" y="3919"/>
                    </a:cubicBezTo>
                    <a:lnTo>
                      <a:pt x="0" y="629"/>
                    </a:lnTo>
                    <a:cubicBezTo>
                      <a:pt x="0" y="507"/>
                      <a:pt x="99" y="408"/>
                      <a:pt x="221" y="408"/>
                    </a:cubicBezTo>
                    <a:lnTo>
                      <a:pt x="3509" y="408"/>
                    </a:lnTo>
                    <a:cubicBezTo>
                      <a:pt x="3631" y="408"/>
                      <a:pt x="3730" y="507"/>
                      <a:pt x="3730" y="629"/>
                    </a:cubicBezTo>
                    <a:lnTo>
                      <a:pt x="3730" y="3919"/>
                    </a:lnTo>
                    <a:cubicBezTo>
                      <a:pt x="3730" y="4041"/>
                      <a:pt x="3631" y="4140"/>
                      <a:pt x="3509" y="4140"/>
                    </a:cubicBezTo>
                    <a:close/>
                    <a:moveTo>
                      <a:pt x="442" y="3698"/>
                    </a:moveTo>
                    <a:lnTo>
                      <a:pt x="3288" y="3698"/>
                    </a:lnTo>
                    <a:lnTo>
                      <a:pt x="3288" y="849"/>
                    </a:lnTo>
                    <a:lnTo>
                      <a:pt x="442" y="849"/>
                    </a:lnTo>
                    <a:lnTo>
                      <a:pt x="442" y="3698"/>
                    </a:lnTo>
                    <a:close/>
                    <a:moveTo>
                      <a:pt x="3509" y="8525"/>
                    </a:moveTo>
                    <a:lnTo>
                      <a:pt x="221" y="8525"/>
                    </a:lnTo>
                    <a:cubicBezTo>
                      <a:pt x="99" y="8525"/>
                      <a:pt x="0" y="8426"/>
                      <a:pt x="0" y="8304"/>
                    </a:cubicBezTo>
                    <a:lnTo>
                      <a:pt x="0" y="5014"/>
                    </a:lnTo>
                    <a:cubicBezTo>
                      <a:pt x="0" y="4892"/>
                      <a:pt x="99" y="4793"/>
                      <a:pt x="221" y="4793"/>
                    </a:cubicBezTo>
                    <a:lnTo>
                      <a:pt x="3509" y="4793"/>
                    </a:lnTo>
                    <a:cubicBezTo>
                      <a:pt x="3631" y="4793"/>
                      <a:pt x="3730" y="4892"/>
                      <a:pt x="3730" y="5014"/>
                    </a:cubicBezTo>
                    <a:lnTo>
                      <a:pt x="3730" y="8304"/>
                    </a:lnTo>
                    <a:cubicBezTo>
                      <a:pt x="3730" y="8426"/>
                      <a:pt x="3631" y="8525"/>
                      <a:pt x="3509" y="8525"/>
                    </a:cubicBezTo>
                    <a:close/>
                    <a:moveTo>
                      <a:pt x="442" y="8083"/>
                    </a:moveTo>
                    <a:lnTo>
                      <a:pt x="3288" y="8083"/>
                    </a:lnTo>
                    <a:lnTo>
                      <a:pt x="3288" y="5234"/>
                    </a:lnTo>
                    <a:lnTo>
                      <a:pt x="442" y="5234"/>
                    </a:lnTo>
                    <a:lnTo>
                      <a:pt x="442" y="8083"/>
                    </a:lnTo>
                    <a:close/>
                    <a:moveTo>
                      <a:pt x="7855" y="8525"/>
                    </a:moveTo>
                    <a:lnTo>
                      <a:pt x="4564" y="8525"/>
                    </a:lnTo>
                    <a:cubicBezTo>
                      <a:pt x="4442" y="8525"/>
                      <a:pt x="4343" y="8426"/>
                      <a:pt x="4343" y="8304"/>
                    </a:cubicBezTo>
                    <a:lnTo>
                      <a:pt x="4343" y="5014"/>
                    </a:lnTo>
                    <a:cubicBezTo>
                      <a:pt x="4343" y="4892"/>
                      <a:pt x="4442" y="4793"/>
                      <a:pt x="4564" y="4793"/>
                    </a:cubicBezTo>
                    <a:lnTo>
                      <a:pt x="7855" y="4793"/>
                    </a:lnTo>
                    <a:cubicBezTo>
                      <a:pt x="7976" y="4793"/>
                      <a:pt x="8075" y="4892"/>
                      <a:pt x="8075" y="5014"/>
                    </a:cubicBezTo>
                    <a:lnTo>
                      <a:pt x="8075" y="8304"/>
                    </a:lnTo>
                    <a:cubicBezTo>
                      <a:pt x="8075" y="8426"/>
                      <a:pt x="7976" y="8525"/>
                      <a:pt x="7855" y="8525"/>
                    </a:cubicBezTo>
                    <a:close/>
                    <a:moveTo>
                      <a:pt x="4785" y="8083"/>
                    </a:moveTo>
                    <a:lnTo>
                      <a:pt x="7634" y="8083"/>
                    </a:lnTo>
                    <a:lnTo>
                      <a:pt x="7634" y="5234"/>
                    </a:lnTo>
                    <a:lnTo>
                      <a:pt x="4785" y="5234"/>
                    </a:lnTo>
                    <a:lnTo>
                      <a:pt x="4785" y="8083"/>
                    </a:lnTo>
                    <a:close/>
                    <a:moveTo>
                      <a:pt x="6232" y="4546"/>
                    </a:moveTo>
                    <a:cubicBezTo>
                      <a:pt x="6169" y="4547"/>
                      <a:pt x="6108" y="4520"/>
                      <a:pt x="6065" y="4473"/>
                    </a:cubicBezTo>
                    <a:lnTo>
                      <a:pt x="4189" y="2266"/>
                    </a:lnTo>
                    <a:cubicBezTo>
                      <a:pt x="4110" y="2173"/>
                      <a:pt x="4121" y="2034"/>
                      <a:pt x="4213" y="1955"/>
                    </a:cubicBezTo>
                    <a:lnTo>
                      <a:pt x="6420" y="79"/>
                    </a:lnTo>
                    <a:cubicBezTo>
                      <a:pt x="6513" y="0"/>
                      <a:pt x="6652" y="11"/>
                      <a:pt x="6731" y="103"/>
                    </a:cubicBezTo>
                    <a:lnTo>
                      <a:pt x="8609" y="2310"/>
                    </a:lnTo>
                    <a:cubicBezTo>
                      <a:pt x="8647" y="2355"/>
                      <a:pt x="8665" y="2413"/>
                      <a:pt x="8660" y="2471"/>
                    </a:cubicBezTo>
                    <a:cubicBezTo>
                      <a:pt x="8656" y="2529"/>
                      <a:pt x="8629" y="2583"/>
                      <a:pt x="8585" y="2621"/>
                    </a:cubicBezTo>
                    <a:lnTo>
                      <a:pt x="6378" y="4499"/>
                    </a:lnTo>
                    <a:cubicBezTo>
                      <a:pt x="6337" y="4532"/>
                      <a:pt x="6285" y="4548"/>
                      <a:pt x="6232" y="4546"/>
                    </a:cubicBezTo>
                    <a:close/>
                    <a:moveTo>
                      <a:pt x="4668" y="2151"/>
                    </a:moveTo>
                    <a:lnTo>
                      <a:pt x="6259" y="4014"/>
                    </a:lnTo>
                    <a:lnTo>
                      <a:pt x="8117" y="2425"/>
                    </a:lnTo>
                    <a:lnTo>
                      <a:pt x="6526" y="562"/>
                    </a:lnTo>
                    <a:lnTo>
                      <a:pt x="4668" y="215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cs typeface="思源宋体 CN Medium" panose="02020500000000000000" charset="-122"/>
                </a:endParaRPr>
              </a:p>
            </p:txBody>
          </p:sp>
        </p:grpSp>
        <p:grpSp>
          <p:nvGrpSpPr>
            <p:cNvPr id="40" name="组合 2">
              <a:extLst>
                <a:ext uri="{FF2B5EF4-FFF2-40B4-BE49-F238E27FC236}">
                  <a16:creationId xmlns:a16="http://schemas.microsoft.com/office/drawing/2014/main" id="{3B6CFDF7-879B-613B-A536-433605F3058F}"/>
                </a:ext>
              </a:extLst>
            </p:cNvPr>
            <p:cNvGrpSpPr/>
            <p:nvPr/>
          </p:nvGrpSpPr>
          <p:grpSpPr>
            <a:xfrm>
              <a:off x="3572373" y="4021476"/>
              <a:ext cx="2695703" cy="1438259"/>
              <a:chOff x="2143067" y="4599283"/>
              <a:chExt cx="2695703" cy="1438259"/>
            </a:xfrm>
          </p:grpSpPr>
          <p:sp>
            <p:nvSpPr>
              <p:cNvPr id="49" name="2">
                <a:extLst>
                  <a:ext uri="{FF2B5EF4-FFF2-40B4-BE49-F238E27FC236}">
                    <a16:creationId xmlns:a16="http://schemas.microsoft.com/office/drawing/2014/main" id="{4FB3B9D5-CB40-9FD2-3122-C00D20D55D1E}"/>
                  </a:ext>
                </a:extLst>
              </p:cNvPr>
              <p:cNvSpPr/>
              <p:nvPr/>
            </p:nvSpPr>
            <p:spPr>
              <a:xfrm>
                <a:off x="3202478" y="4599283"/>
                <a:ext cx="576884" cy="57688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20700" dist="228600" dir="8100000" sx="103000" sy="103000" algn="tr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宋体 CN Medium" panose="02020500000000000000" charset="-122"/>
                </a:endParaRPr>
              </a:p>
            </p:txBody>
          </p:sp>
          <p:sp>
            <p:nvSpPr>
              <p:cNvPr id="50" name="2">
                <a:extLst>
                  <a:ext uri="{FF2B5EF4-FFF2-40B4-BE49-F238E27FC236}">
                    <a16:creationId xmlns:a16="http://schemas.microsoft.com/office/drawing/2014/main" id="{BC040FA0-851E-B477-BE85-F37EA7C6A2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59904" y="4756709"/>
                <a:ext cx="262033" cy="262033"/>
              </a:xfrm>
              <a:custGeom>
                <a:avLst/>
                <a:gdLst>
                  <a:gd name="connsiteX0" fmla="*/ 303008 w 605937"/>
                  <a:gd name="connsiteY0" fmla="*/ 353603 h 531499"/>
                  <a:gd name="connsiteX1" fmla="*/ 391900 w 605937"/>
                  <a:gd name="connsiteY1" fmla="*/ 442551 h 531499"/>
                  <a:gd name="connsiteX2" fmla="*/ 373722 w 605937"/>
                  <a:gd name="connsiteY2" fmla="*/ 460704 h 531499"/>
                  <a:gd name="connsiteX3" fmla="*/ 355544 w 605937"/>
                  <a:gd name="connsiteY3" fmla="*/ 442551 h 531499"/>
                  <a:gd name="connsiteX4" fmla="*/ 303008 w 605937"/>
                  <a:gd name="connsiteY4" fmla="*/ 389908 h 531499"/>
                  <a:gd name="connsiteX5" fmla="*/ 250291 w 605937"/>
                  <a:gd name="connsiteY5" fmla="*/ 442551 h 531499"/>
                  <a:gd name="connsiteX6" fmla="*/ 303008 w 605937"/>
                  <a:gd name="connsiteY6" fmla="*/ 495194 h 531499"/>
                  <a:gd name="connsiteX7" fmla="*/ 321186 w 605937"/>
                  <a:gd name="connsiteY7" fmla="*/ 513346 h 531499"/>
                  <a:gd name="connsiteX8" fmla="*/ 303008 w 605937"/>
                  <a:gd name="connsiteY8" fmla="*/ 531499 h 531499"/>
                  <a:gd name="connsiteX9" fmla="*/ 213934 w 605937"/>
                  <a:gd name="connsiteY9" fmla="*/ 442551 h 531499"/>
                  <a:gd name="connsiteX10" fmla="*/ 303008 w 605937"/>
                  <a:gd name="connsiteY10" fmla="*/ 353603 h 531499"/>
                  <a:gd name="connsiteX11" fmla="*/ 303023 w 605937"/>
                  <a:gd name="connsiteY11" fmla="*/ 239640 h 531499"/>
                  <a:gd name="connsiteX12" fmla="*/ 441890 w 605937"/>
                  <a:gd name="connsiteY12" fmla="*/ 306757 h 531499"/>
                  <a:gd name="connsiteX13" fmla="*/ 438800 w 605937"/>
                  <a:gd name="connsiteY13" fmla="*/ 332334 h 531499"/>
                  <a:gd name="connsiteX14" fmla="*/ 427531 w 605937"/>
                  <a:gd name="connsiteY14" fmla="*/ 336325 h 531499"/>
                  <a:gd name="connsiteX15" fmla="*/ 413353 w 605937"/>
                  <a:gd name="connsiteY15" fmla="*/ 329432 h 531499"/>
                  <a:gd name="connsiteX16" fmla="*/ 303023 w 605937"/>
                  <a:gd name="connsiteY16" fmla="*/ 275920 h 531499"/>
                  <a:gd name="connsiteX17" fmla="*/ 192693 w 605937"/>
                  <a:gd name="connsiteY17" fmla="*/ 329432 h 531499"/>
                  <a:gd name="connsiteX18" fmla="*/ 167064 w 605937"/>
                  <a:gd name="connsiteY18" fmla="*/ 332334 h 531499"/>
                  <a:gd name="connsiteX19" fmla="*/ 164156 w 605937"/>
                  <a:gd name="connsiteY19" fmla="*/ 306757 h 531499"/>
                  <a:gd name="connsiteX20" fmla="*/ 303023 w 605937"/>
                  <a:gd name="connsiteY20" fmla="*/ 239640 h 531499"/>
                  <a:gd name="connsiteX21" fmla="*/ 303008 w 605937"/>
                  <a:gd name="connsiteY21" fmla="*/ 115445 h 531499"/>
                  <a:gd name="connsiteX22" fmla="*/ 520771 w 605937"/>
                  <a:gd name="connsiteY22" fmla="*/ 217105 h 531499"/>
                  <a:gd name="connsiteX23" fmla="*/ 518590 w 605937"/>
                  <a:gd name="connsiteY23" fmla="*/ 242702 h 531499"/>
                  <a:gd name="connsiteX24" fmla="*/ 506957 w 605937"/>
                  <a:gd name="connsiteY24" fmla="*/ 247059 h 531499"/>
                  <a:gd name="connsiteX25" fmla="*/ 492960 w 605937"/>
                  <a:gd name="connsiteY25" fmla="*/ 240523 h 531499"/>
                  <a:gd name="connsiteX26" fmla="*/ 303008 w 605937"/>
                  <a:gd name="connsiteY26" fmla="*/ 151752 h 531499"/>
                  <a:gd name="connsiteX27" fmla="*/ 112874 w 605937"/>
                  <a:gd name="connsiteY27" fmla="*/ 240523 h 531499"/>
                  <a:gd name="connsiteX28" fmla="*/ 87244 w 605937"/>
                  <a:gd name="connsiteY28" fmla="*/ 242702 h 531499"/>
                  <a:gd name="connsiteX29" fmla="*/ 85063 w 605937"/>
                  <a:gd name="connsiteY29" fmla="*/ 217105 h 531499"/>
                  <a:gd name="connsiteX30" fmla="*/ 303008 w 605937"/>
                  <a:gd name="connsiteY30" fmla="*/ 115445 h 531499"/>
                  <a:gd name="connsiteX31" fmla="*/ 303023 w 605937"/>
                  <a:gd name="connsiteY31" fmla="*/ 0 h 531499"/>
                  <a:gd name="connsiteX32" fmla="*/ 601317 w 605937"/>
                  <a:gd name="connsiteY32" fmla="*/ 133442 h 531499"/>
                  <a:gd name="connsiteX33" fmla="*/ 599862 w 605937"/>
                  <a:gd name="connsiteY33" fmla="*/ 159222 h 531499"/>
                  <a:gd name="connsiteX34" fmla="*/ 587683 w 605937"/>
                  <a:gd name="connsiteY34" fmla="*/ 163761 h 531499"/>
                  <a:gd name="connsiteX35" fmla="*/ 574232 w 605937"/>
                  <a:gd name="connsiteY35" fmla="*/ 157770 h 531499"/>
                  <a:gd name="connsiteX36" fmla="*/ 303023 w 605937"/>
                  <a:gd name="connsiteY36" fmla="*/ 36311 h 531499"/>
                  <a:gd name="connsiteX37" fmla="*/ 31814 w 605937"/>
                  <a:gd name="connsiteY37" fmla="*/ 157770 h 531499"/>
                  <a:gd name="connsiteX38" fmla="*/ 6002 w 605937"/>
                  <a:gd name="connsiteY38" fmla="*/ 159222 h 531499"/>
                  <a:gd name="connsiteX39" fmla="*/ 4548 w 605937"/>
                  <a:gd name="connsiteY39" fmla="*/ 133442 h 531499"/>
                  <a:gd name="connsiteX40" fmla="*/ 303023 w 605937"/>
                  <a:gd name="connsiteY40" fmla="*/ 0 h 531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605937" h="531499">
                    <a:moveTo>
                      <a:pt x="303008" y="353603"/>
                    </a:moveTo>
                    <a:cubicBezTo>
                      <a:pt x="352090" y="353603"/>
                      <a:pt x="391900" y="393539"/>
                      <a:pt x="391900" y="442551"/>
                    </a:cubicBezTo>
                    <a:cubicBezTo>
                      <a:pt x="391900" y="452535"/>
                      <a:pt x="383902" y="460704"/>
                      <a:pt x="373722" y="460704"/>
                    </a:cubicBezTo>
                    <a:cubicBezTo>
                      <a:pt x="363724" y="460704"/>
                      <a:pt x="355544" y="452535"/>
                      <a:pt x="355544" y="442551"/>
                    </a:cubicBezTo>
                    <a:cubicBezTo>
                      <a:pt x="355544" y="413507"/>
                      <a:pt x="331912" y="389908"/>
                      <a:pt x="303008" y="389908"/>
                    </a:cubicBezTo>
                    <a:cubicBezTo>
                      <a:pt x="273923" y="389908"/>
                      <a:pt x="250291" y="413507"/>
                      <a:pt x="250291" y="442551"/>
                    </a:cubicBezTo>
                    <a:cubicBezTo>
                      <a:pt x="250291" y="471595"/>
                      <a:pt x="273923" y="495194"/>
                      <a:pt x="303008" y="495194"/>
                    </a:cubicBezTo>
                    <a:cubicBezTo>
                      <a:pt x="313006" y="495194"/>
                      <a:pt x="321186" y="503181"/>
                      <a:pt x="321186" y="513346"/>
                    </a:cubicBezTo>
                    <a:cubicBezTo>
                      <a:pt x="321186" y="523330"/>
                      <a:pt x="313006" y="531499"/>
                      <a:pt x="303008" y="531499"/>
                    </a:cubicBezTo>
                    <a:cubicBezTo>
                      <a:pt x="253927" y="531499"/>
                      <a:pt x="213934" y="491563"/>
                      <a:pt x="213934" y="442551"/>
                    </a:cubicBezTo>
                    <a:cubicBezTo>
                      <a:pt x="213934" y="393539"/>
                      <a:pt x="253927" y="353603"/>
                      <a:pt x="303008" y="353603"/>
                    </a:cubicBezTo>
                    <a:close/>
                    <a:moveTo>
                      <a:pt x="303023" y="239640"/>
                    </a:moveTo>
                    <a:cubicBezTo>
                      <a:pt x="357370" y="239640"/>
                      <a:pt x="407901" y="264129"/>
                      <a:pt x="441890" y="306757"/>
                    </a:cubicBezTo>
                    <a:cubicBezTo>
                      <a:pt x="448070" y="314739"/>
                      <a:pt x="446616" y="326167"/>
                      <a:pt x="438800" y="332334"/>
                    </a:cubicBezTo>
                    <a:cubicBezTo>
                      <a:pt x="435529" y="334874"/>
                      <a:pt x="431530" y="336325"/>
                      <a:pt x="427531" y="336325"/>
                    </a:cubicBezTo>
                    <a:cubicBezTo>
                      <a:pt x="422260" y="336325"/>
                      <a:pt x="416807" y="333967"/>
                      <a:pt x="413353" y="329432"/>
                    </a:cubicBezTo>
                    <a:cubicBezTo>
                      <a:pt x="386271" y="295329"/>
                      <a:pt x="346101" y="275920"/>
                      <a:pt x="303023" y="275920"/>
                    </a:cubicBezTo>
                    <a:cubicBezTo>
                      <a:pt x="259764" y="275920"/>
                      <a:pt x="219594" y="295329"/>
                      <a:pt x="192693" y="329432"/>
                    </a:cubicBezTo>
                    <a:cubicBezTo>
                      <a:pt x="186331" y="337232"/>
                      <a:pt x="174880" y="338502"/>
                      <a:pt x="167064" y="332334"/>
                    </a:cubicBezTo>
                    <a:cubicBezTo>
                      <a:pt x="159248" y="326167"/>
                      <a:pt x="157976" y="314739"/>
                      <a:pt x="164156" y="306757"/>
                    </a:cubicBezTo>
                    <a:cubicBezTo>
                      <a:pt x="197964" y="264129"/>
                      <a:pt x="248676" y="239640"/>
                      <a:pt x="303023" y="239640"/>
                    </a:cubicBezTo>
                    <a:close/>
                    <a:moveTo>
                      <a:pt x="303008" y="115445"/>
                    </a:moveTo>
                    <a:cubicBezTo>
                      <a:pt x="387169" y="115445"/>
                      <a:pt x="466603" y="152478"/>
                      <a:pt x="520771" y="217105"/>
                    </a:cubicBezTo>
                    <a:cubicBezTo>
                      <a:pt x="527315" y="224911"/>
                      <a:pt x="526225" y="236348"/>
                      <a:pt x="518590" y="242702"/>
                    </a:cubicBezTo>
                    <a:cubicBezTo>
                      <a:pt x="515136" y="245606"/>
                      <a:pt x="510956" y="247059"/>
                      <a:pt x="506957" y="247059"/>
                    </a:cubicBezTo>
                    <a:cubicBezTo>
                      <a:pt x="501685" y="247059"/>
                      <a:pt x="496596" y="244699"/>
                      <a:pt x="492960" y="240523"/>
                    </a:cubicBezTo>
                    <a:cubicBezTo>
                      <a:pt x="445699" y="184066"/>
                      <a:pt x="376444" y="151752"/>
                      <a:pt x="303008" y="151752"/>
                    </a:cubicBezTo>
                    <a:cubicBezTo>
                      <a:pt x="229390" y="151752"/>
                      <a:pt x="160135" y="184066"/>
                      <a:pt x="112874" y="240523"/>
                    </a:cubicBezTo>
                    <a:cubicBezTo>
                      <a:pt x="106512" y="248148"/>
                      <a:pt x="95060" y="249237"/>
                      <a:pt x="87244" y="242702"/>
                    </a:cubicBezTo>
                    <a:cubicBezTo>
                      <a:pt x="79609" y="236348"/>
                      <a:pt x="78519" y="224911"/>
                      <a:pt x="85063" y="217105"/>
                    </a:cubicBezTo>
                    <a:cubicBezTo>
                      <a:pt x="139231" y="152478"/>
                      <a:pt x="218666" y="115445"/>
                      <a:pt x="303008" y="115445"/>
                    </a:cubicBezTo>
                    <a:close/>
                    <a:moveTo>
                      <a:pt x="303023" y="0"/>
                    </a:moveTo>
                    <a:cubicBezTo>
                      <a:pt x="416633" y="0"/>
                      <a:pt x="525516" y="48656"/>
                      <a:pt x="601317" y="133442"/>
                    </a:cubicBezTo>
                    <a:cubicBezTo>
                      <a:pt x="608042" y="141067"/>
                      <a:pt x="607315" y="152505"/>
                      <a:pt x="599862" y="159222"/>
                    </a:cubicBezTo>
                    <a:cubicBezTo>
                      <a:pt x="596409" y="162308"/>
                      <a:pt x="592046" y="163761"/>
                      <a:pt x="587683" y="163761"/>
                    </a:cubicBezTo>
                    <a:cubicBezTo>
                      <a:pt x="582775" y="163761"/>
                      <a:pt x="577686" y="161764"/>
                      <a:pt x="574232" y="157770"/>
                    </a:cubicBezTo>
                    <a:cubicBezTo>
                      <a:pt x="505157" y="80610"/>
                      <a:pt x="406272" y="36311"/>
                      <a:pt x="303023" y="36311"/>
                    </a:cubicBezTo>
                    <a:cubicBezTo>
                      <a:pt x="199593" y="36311"/>
                      <a:pt x="100707" y="80610"/>
                      <a:pt x="31814" y="157770"/>
                    </a:cubicBezTo>
                    <a:cubicBezTo>
                      <a:pt x="25088" y="165213"/>
                      <a:pt x="13636" y="165758"/>
                      <a:pt x="6002" y="159222"/>
                    </a:cubicBezTo>
                    <a:cubicBezTo>
                      <a:pt x="-1451" y="152505"/>
                      <a:pt x="-1996" y="141067"/>
                      <a:pt x="4548" y="133442"/>
                    </a:cubicBezTo>
                    <a:cubicBezTo>
                      <a:pt x="80530" y="48656"/>
                      <a:pt x="189231" y="0"/>
                      <a:pt x="30302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思源宋体 CN Medium" panose="02020500000000000000" charset="-122"/>
                </a:endParaRPr>
              </a:p>
            </p:txBody>
          </p:sp>
          <p:sp>
            <p:nvSpPr>
              <p:cNvPr id="54" name="Body-2">
                <a:extLst>
                  <a:ext uri="{FF2B5EF4-FFF2-40B4-BE49-F238E27FC236}">
                    <a16:creationId xmlns:a16="http://schemas.microsoft.com/office/drawing/2014/main" id="{22C3B9C0-9AF2-6BFA-0FEC-B8BF52FA359E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143067" y="5240315"/>
                <a:ext cx="2695703" cy="797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400" dirty="0">
                    <a:latin typeface="+mn-ea"/>
                    <a:cs typeface="思源宋体 CN Medium" panose="02020500000000000000" charset="-122"/>
                  </a:rPr>
                  <a:t>后端控制器（</a:t>
                </a:r>
                <a:r>
                  <a:rPr lang="en-US" altLang="zh-CN" sz="1400" dirty="0">
                    <a:latin typeface="+mn-ea"/>
                    <a:cs typeface="思源宋体 CN Medium" panose="02020500000000000000" charset="-122"/>
                  </a:rPr>
                  <a:t>Controller</a:t>
                </a:r>
                <a:r>
                  <a:rPr lang="zh-CN" altLang="en-US" sz="1400" dirty="0">
                    <a:latin typeface="+mn-ea"/>
                    <a:cs typeface="思源宋体 CN Medium" panose="02020500000000000000" charset="-122"/>
                  </a:rPr>
                  <a:t>）：</a:t>
                </a:r>
                <a:br>
                  <a:rPr lang="en-US" altLang="zh-CN" sz="1400" dirty="0">
                    <a:latin typeface="+mn-ea"/>
                    <a:cs typeface="思源宋体 CN Medium" panose="02020500000000000000" charset="-122"/>
                  </a:rPr>
                </a:br>
                <a:r>
                  <a:rPr lang="zh-CN" altLang="en-US" sz="1400" dirty="0">
                    <a:latin typeface="+mn-ea"/>
                    <a:cs typeface="思源宋体 CN Medium" panose="02020500000000000000" charset="-122"/>
                  </a:rPr>
                  <a:t>负责处理请求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41" name="组合 4">
              <a:extLst>
                <a:ext uri="{FF2B5EF4-FFF2-40B4-BE49-F238E27FC236}">
                  <a16:creationId xmlns:a16="http://schemas.microsoft.com/office/drawing/2014/main" id="{88FBC894-7A3C-B4EE-2747-66C50996A27F}"/>
                </a:ext>
              </a:extLst>
            </p:cNvPr>
            <p:cNvGrpSpPr/>
            <p:nvPr/>
          </p:nvGrpSpPr>
          <p:grpSpPr>
            <a:xfrm>
              <a:off x="8347868" y="3648476"/>
              <a:ext cx="2399001" cy="1413650"/>
              <a:chOff x="5822761" y="4876551"/>
              <a:chExt cx="2399001" cy="1413650"/>
            </a:xfrm>
          </p:grpSpPr>
          <p:sp>
            <p:nvSpPr>
              <p:cNvPr id="46" name="4">
                <a:extLst>
                  <a:ext uri="{FF2B5EF4-FFF2-40B4-BE49-F238E27FC236}">
                    <a16:creationId xmlns:a16="http://schemas.microsoft.com/office/drawing/2014/main" id="{004E404A-9B57-B98B-7713-481E3FD5BB1B}"/>
                  </a:ext>
                </a:extLst>
              </p:cNvPr>
              <p:cNvSpPr/>
              <p:nvPr/>
            </p:nvSpPr>
            <p:spPr>
              <a:xfrm>
                <a:off x="6809772" y="4876551"/>
                <a:ext cx="576884" cy="57688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20700" dist="228600" dir="8100000" sx="103000" sy="103000" algn="tr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宋体 CN Medium" panose="02020500000000000000" charset="-122"/>
                </a:endParaRPr>
              </a:p>
            </p:txBody>
          </p:sp>
          <p:sp>
            <p:nvSpPr>
              <p:cNvPr id="47" name="4">
                <a:extLst>
                  <a:ext uri="{FF2B5EF4-FFF2-40B4-BE49-F238E27FC236}">
                    <a16:creationId xmlns:a16="http://schemas.microsoft.com/office/drawing/2014/main" id="{69EAED1F-9D0F-0CA6-6639-1F34013BD3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67198" y="5033977"/>
                <a:ext cx="262033" cy="262033"/>
              </a:xfrm>
              <a:custGeom>
                <a:avLst/>
                <a:gdLst>
                  <a:gd name="T0" fmla="*/ 3509 w 8665"/>
                  <a:gd name="T1" fmla="*/ 4140 h 8525"/>
                  <a:gd name="T2" fmla="*/ 221 w 8665"/>
                  <a:gd name="T3" fmla="*/ 4140 h 8525"/>
                  <a:gd name="T4" fmla="*/ 0 w 8665"/>
                  <a:gd name="T5" fmla="*/ 3919 h 8525"/>
                  <a:gd name="T6" fmla="*/ 0 w 8665"/>
                  <a:gd name="T7" fmla="*/ 629 h 8525"/>
                  <a:gd name="T8" fmla="*/ 221 w 8665"/>
                  <a:gd name="T9" fmla="*/ 408 h 8525"/>
                  <a:gd name="T10" fmla="*/ 3509 w 8665"/>
                  <a:gd name="T11" fmla="*/ 408 h 8525"/>
                  <a:gd name="T12" fmla="*/ 3730 w 8665"/>
                  <a:gd name="T13" fmla="*/ 629 h 8525"/>
                  <a:gd name="T14" fmla="*/ 3730 w 8665"/>
                  <a:gd name="T15" fmla="*/ 3919 h 8525"/>
                  <a:gd name="T16" fmla="*/ 3509 w 8665"/>
                  <a:gd name="T17" fmla="*/ 4140 h 8525"/>
                  <a:gd name="T18" fmla="*/ 442 w 8665"/>
                  <a:gd name="T19" fmla="*/ 3698 h 8525"/>
                  <a:gd name="T20" fmla="*/ 3288 w 8665"/>
                  <a:gd name="T21" fmla="*/ 3698 h 8525"/>
                  <a:gd name="T22" fmla="*/ 3288 w 8665"/>
                  <a:gd name="T23" fmla="*/ 849 h 8525"/>
                  <a:gd name="T24" fmla="*/ 442 w 8665"/>
                  <a:gd name="T25" fmla="*/ 849 h 8525"/>
                  <a:gd name="T26" fmla="*/ 442 w 8665"/>
                  <a:gd name="T27" fmla="*/ 3698 h 8525"/>
                  <a:gd name="T28" fmla="*/ 3509 w 8665"/>
                  <a:gd name="T29" fmla="*/ 8525 h 8525"/>
                  <a:gd name="T30" fmla="*/ 221 w 8665"/>
                  <a:gd name="T31" fmla="*/ 8525 h 8525"/>
                  <a:gd name="T32" fmla="*/ 0 w 8665"/>
                  <a:gd name="T33" fmla="*/ 8304 h 8525"/>
                  <a:gd name="T34" fmla="*/ 0 w 8665"/>
                  <a:gd name="T35" fmla="*/ 5014 h 8525"/>
                  <a:gd name="T36" fmla="*/ 221 w 8665"/>
                  <a:gd name="T37" fmla="*/ 4793 h 8525"/>
                  <a:gd name="T38" fmla="*/ 3509 w 8665"/>
                  <a:gd name="T39" fmla="*/ 4793 h 8525"/>
                  <a:gd name="T40" fmla="*/ 3730 w 8665"/>
                  <a:gd name="T41" fmla="*/ 5014 h 8525"/>
                  <a:gd name="T42" fmla="*/ 3730 w 8665"/>
                  <a:gd name="T43" fmla="*/ 8304 h 8525"/>
                  <a:gd name="T44" fmla="*/ 3509 w 8665"/>
                  <a:gd name="T45" fmla="*/ 8525 h 8525"/>
                  <a:gd name="T46" fmla="*/ 442 w 8665"/>
                  <a:gd name="T47" fmla="*/ 8083 h 8525"/>
                  <a:gd name="T48" fmla="*/ 3288 w 8665"/>
                  <a:gd name="T49" fmla="*/ 8083 h 8525"/>
                  <a:gd name="T50" fmla="*/ 3288 w 8665"/>
                  <a:gd name="T51" fmla="*/ 5234 h 8525"/>
                  <a:gd name="T52" fmla="*/ 442 w 8665"/>
                  <a:gd name="T53" fmla="*/ 5234 h 8525"/>
                  <a:gd name="T54" fmla="*/ 442 w 8665"/>
                  <a:gd name="T55" fmla="*/ 8083 h 8525"/>
                  <a:gd name="T56" fmla="*/ 7855 w 8665"/>
                  <a:gd name="T57" fmla="*/ 8525 h 8525"/>
                  <a:gd name="T58" fmla="*/ 4564 w 8665"/>
                  <a:gd name="T59" fmla="*/ 8525 h 8525"/>
                  <a:gd name="T60" fmla="*/ 4343 w 8665"/>
                  <a:gd name="T61" fmla="*/ 8304 h 8525"/>
                  <a:gd name="T62" fmla="*/ 4343 w 8665"/>
                  <a:gd name="T63" fmla="*/ 5014 h 8525"/>
                  <a:gd name="T64" fmla="*/ 4564 w 8665"/>
                  <a:gd name="T65" fmla="*/ 4793 h 8525"/>
                  <a:gd name="T66" fmla="*/ 7855 w 8665"/>
                  <a:gd name="T67" fmla="*/ 4793 h 8525"/>
                  <a:gd name="T68" fmla="*/ 8075 w 8665"/>
                  <a:gd name="T69" fmla="*/ 5014 h 8525"/>
                  <a:gd name="T70" fmla="*/ 8075 w 8665"/>
                  <a:gd name="T71" fmla="*/ 8304 h 8525"/>
                  <a:gd name="T72" fmla="*/ 7855 w 8665"/>
                  <a:gd name="T73" fmla="*/ 8525 h 8525"/>
                  <a:gd name="T74" fmla="*/ 4785 w 8665"/>
                  <a:gd name="T75" fmla="*/ 8083 h 8525"/>
                  <a:gd name="T76" fmla="*/ 7634 w 8665"/>
                  <a:gd name="T77" fmla="*/ 8083 h 8525"/>
                  <a:gd name="T78" fmla="*/ 7634 w 8665"/>
                  <a:gd name="T79" fmla="*/ 5234 h 8525"/>
                  <a:gd name="T80" fmla="*/ 4785 w 8665"/>
                  <a:gd name="T81" fmla="*/ 5234 h 8525"/>
                  <a:gd name="T82" fmla="*/ 4785 w 8665"/>
                  <a:gd name="T83" fmla="*/ 8083 h 8525"/>
                  <a:gd name="T84" fmla="*/ 6232 w 8665"/>
                  <a:gd name="T85" fmla="*/ 4546 h 8525"/>
                  <a:gd name="T86" fmla="*/ 6065 w 8665"/>
                  <a:gd name="T87" fmla="*/ 4473 h 8525"/>
                  <a:gd name="T88" fmla="*/ 4189 w 8665"/>
                  <a:gd name="T89" fmla="*/ 2266 h 8525"/>
                  <a:gd name="T90" fmla="*/ 4213 w 8665"/>
                  <a:gd name="T91" fmla="*/ 1955 h 8525"/>
                  <a:gd name="T92" fmla="*/ 6420 w 8665"/>
                  <a:gd name="T93" fmla="*/ 79 h 8525"/>
                  <a:gd name="T94" fmla="*/ 6731 w 8665"/>
                  <a:gd name="T95" fmla="*/ 103 h 8525"/>
                  <a:gd name="T96" fmla="*/ 8609 w 8665"/>
                  <a:gd name="T97" fmla="*/ 2310 h 8525"/>
                  <a:gd name="T98" fmla="*/ 8660 w 8665"/>
                  <a:gd name="T99" fmla="*/ 2471 h 8525"/>
                  <a:gd name="T100" fmla="*/ 8585 w 8665"/>
                  <a:gd name="T101" fmla="*/ 2621 h 8525"/>
                  <a:gd name="T102" fmla="*/ 6378 w 8665"/>
                  <a:gd name="T103" fmla="*/ 4499 h 8525"/>
                  <a:gd name="T104" fmla="*/ 6232 w 8665"/>
                  <a:gd name="T105" fmla="*/ 4546 h 8525"/>
                  <a:gd name="T106" fmla="*/ 4668 w 8665"/>
                  <a:gd name="T107" fmla="*/ 2151 h 8525"/>
                  <a:gd name="T108" fmla="*/ 6259 w 8665"/>
                  <a:gd name="T109" fmla="*/ 4014 h 8525"/>
                  <a:gd name="T110" fmla="*/ 8117 w 8665"/>
                  <a:gd name="T111" fmla="*/ 2425 h 8525"/>
                  <a:gd name="T112" fmla="*/ 6526 w 8665"/>
                  <a:gd name="T113" fmla="*/ 562 h 8525"/>
                  <a:gd name="T114" fmla="*/ 4668 w 8665"/>
                  <a:gd name="T115" fmla="*/ 2151 h 8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665" h="8525">
                    <a:moveTo>
                      <a:pt x="3509" y="4140"/>
                    </a:moveTo>
                    <a:lnTo>
                      <a:pt x="221" y="4140"/>
                    </a:lnTo>
                    <a:cubicBezTo>
                      <a:pt x="99" y="4140"/>
                      <a:pt x="0" y="4041"/>
                      <a:pt x="0" y="3919"/>
                    </a:cubicBezTo>
                    <a:lnTo>
                      <a:pt x="0" y="629"/>
                    </a:lnTo>
                    <a:cubicBezTo>
                      <a:pt x="0" y="507"/>
                      <a:pt x="99" y="408"/>
                      <a:pt x="221" y="408"/>
                    </a:cubicBezTo>
                    <a:lnTo>
                      <a:pt x="3509" y="408"/>
                    </a:lnTo>
                    <a:cubicBezTo>
                      <a:pt x="3631" y="408"/>
                      <a:pt x="3730" y="507"/>
                      <a:pt x="3730" y="629"/>
                    </a:cubicBezTo>
                    <a:lnTo>
                      <a:pt x="3730" y="3919"/>
                    </a:lnTo>
                    <a:cubicBezTo>
                      <a:pt x="3730" y="4041"/>
                      <a:pt x="3631" y="4140"/>
                      <a:pt x="3509" y="4140"/>
                    </a:cubicBezTo>
                    <a:close/>
                    <a:moveTo>
                      <a:pt x="442" y="3698"/>
                    </a:moveTo>
                    <a:lnTo>
                      <a:pt x="3288" y="3698"/>
                    </a:lnTo>
                    <a:lnTo>
                      <a:pt x="3288" y="849"/>
                    </a:lnTo>
                    <a:lnTo>
                      <a:pt x="442" y="849"/>
                    </a:lnTo>
                    <a:lnTo>
                      <a:pt x="442" y="3698"/>
                    </a:lnTo>
                    <a:close/>
                    <a:moveTo>
                      <a:pt x="3509" y="8525"/>
                    </a:moveTo>
                    <a:lnTo>
                      <a:pt x="221" y="8525"/>
                    </a:lnTo>
                    <a:cubicBezTo>
                      <a:pt x="99" y="8525"/>
                      <a:pt x="0" y="8426"/>
                      <a:pt x="0" y="8304"/>
                    </a:cubicBezTo>
                    <a:lnTo>
                      <a:pt x="0" y="5014"/>
                    </a:lnTo>
                    <a:cubicBezTo>
                      <a:pt x="0" y="4892"/>
                      <a:pt x="99" y="4793"/>
                      <a:pt x="221" y="4793"/>
                    </a:cubicBezTo>
                    <a:lnTo>
                      <a:pt x="3509" y="4793"/>
                    </a:lnTo>
                    <a:cubicBezTo>
                      <a:pt x="3631" y="4793"/>
                      <a:pt x="3730" y="4892"/>
                      <a:pt x="3730" y="5014"/>
                    </a:cubicBezTo>
                    <a:lnTo>
                      <a:pt x="3730" y="8304"/>
                    </a:lnTo>
                    <a:cubicBezTo>
                      <a:pt x="3730" y="8426"/>
                      <a:pt x="3631" y="8525"/>
                      <a:pt x="3509" y="8525"/>
                    </a:cubicBezTo>
                    <a:close/>
                    <a:moveTo>
                      <a:pt x="442" y="8083"/>
                    </a:moveTo>
                    <a:lnTo>
                      <a:pt x="3288" y="8083"/>
                    </a:lnTo>
                    <a:lnTo>
                      <a:pt x="3288" y="5234"/>
                    </a:lnTo>
                    <a:lnTo>
                      <a:pt x="442" y="5234"/>
                    </a:lnTo>
                    <a:lnTo>
                      <a:pt x="442" y="8083"/>
                    </a:lnTo>
                    <a:close/>
                    <a:moveTo>
                      <a:pt x="7855" y="8525"/>
                    </a:moveTo>
                    <a:lnTo>
                      <a:pt x="4564" y="8525"/>
                    </a:lnTo>
                    <a:cubicBezTo>
                      <a:pt x="4442" y="8525"/>
                      <a:pt x="4343" y="8426"/>
                      <a:pt x="4343" y="8304"/>
                    </a:cubicBezTo>
                    <a:lnTo>
                      <a:pt x="4343" y="5014"/>
                    </a:lnTo>
                    <a:cubicBezTo>
                      <a:pt x="4343" y="4892"/>
                      <a:pt x="4442" y="4793"/>
                      <a:pt x="4564" y="4793"/>
                    </a:cubicBezTo>
                    <a:lnTo>
                      <a:pt x="7855" y="4793"/>
                    </a:lnTo>
                    <a:cubicBezTo>
                      <a:pt x="7976" y="4793"/>
                      <a:pt x="8075" y="4892"/>
                      <a:pt x="8075" y="5014"/>
                    </a:cubicBezTo>
                    <a:lnTo>
                      <a:pt x="8075" y="8304"/>
                    </a:lnTo>
                    <a:cubicBezTo>
                      <a:pt x="8075" y="8426"/>
                      <a:pt x="7976" y="8525"/>
                      <a:pt x="7855" y="8525"/>
                    </a:cubicBezTo>
                    <a:close/>
                    <a:moveTo>
                      <a:pt x="4785" y="8083"/>
                    </a:moveTo>
                    <a:lnTo>
                      <a:pt x="7634" y="8083"/>
                    </a:lnTo>
                    <a:lnTo>
                      <a:pt x="7634" y="5234"/>
                    </a:lnTo>
                    <a:lnTo>
                      <a:pt x="4785" y="5234"/>
                    </a:lnTo>
                    <a:lnTo>
                      <a:pt x="4785" y="8083"/>
                    </a:lnTo>
                    <a:close/>
                    <a:moveTo>
                      <a:pt x="6232" y="4546"/>
                    </a:moveTo>
                    <a:cubicBezTo>
                      <a:pt x="6169" y="4547"/>
                      <a:pt x="6108" y="4520"/>
                      <a:pt x="6065" y="4473"/>
                    </a:cubicBezTo>
                    <a:lnTo>
                      <a:pt x="4189" y="2266"/>
                    </a:lnTo>
                    <a:cubicBezTo>
                      <a:pt x="4110" y="2173"/>
                      <a:pt x="4121" y="2034"/>
                      <a:pt x="4213" y="1955"/>
                    </a:cubicBezTo>
                    <a:lnTo>
                      <a:pt x="6420" y="79"/>
                    </a:lnTo>
                    <a:cubicBezTo>
                      <a:pt x="6513" y="0"/>
                      <a:pt x="6652" y="11"/>
                      <a:pt x="6731" y="103"/>
                    </a:cubicBezTo>
                    <a:lnTo>
                      <a:pt x="8609" y="2310"/>
                    </a:lnTo>
                    <a:cubicBezTo>
                      <a:pt x="8647" y="2355"/>
                      <a:pt x="8665" y="2413"/>
                      <a:pt x="8660" y="2471"/>
                    </a:cubicBezTo>
                    <a:cubicBezTo>
                      <a:pt x="8656" y="2529"/>
                      <a:pt x="8629" y="2583"/>
                      <a:pt x="8585" y="2621"/>
                    </a:cubicBezTo>
                    <a:lnTo>
                      <a:pt x="6378" y="4499"/>
                    </a:lnTo>
                    <a:cubicBezTo>
                      <a:pt x="6337" y="4532"/>
                      <a:pt x="6285" y="4548"/>
                      <a:pt x="6232" y="4546"/>
                    </a:cubicBezTo>
                    <a:close/>
                    <a:moveTo>
                      <a:pt x="4668" y="2151"/>
                    </a:moveTo>
                    <a:lnTo>
                      <a:pt x="6259" y="4014"/>
                    </a:lnTo>
                    <a:lnTo>
                      <a:pt x="8117" y="2425"/>
                    </a:lnTo>
                    <a:lnTo>
                      <a:pt x="6526" y="562"/>
                    </a:lnTo>
                    <a:lnTo>
                      <a:pt x="4668" y="215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cs typeface="思源宋体 CN Medium" panose="02020500000000000000" charset="-122"/>
                </a:endParaRPr>
              </a:p>
            </p:txBody>
          </p:sp>
          <p:sp>
            <p:nvSpPr>
              <p:cNvPr id="48" name="Body-4">
                <a:extLst>
                  <a:ext uri="{FF2B5EF4-FFF2-40B4-BE49-F238E27FC236}">
                    <a16:creationId xmlns:a16="http://schemas.microsoft.com/office/drawing/2014/main" id="{5EB22BB7-3038-0715-168F-B86B2D9550A0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822761" y="5492974"/>
                <a:ext cx="2399001" cy="797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400" dirty="0">
                    <a:latin typeface="+mn-ea"/>
                    <a:cs typeface="思源宋体 CN Medium" panose="02020500000000000000" charset="-122"/>
                  </a:rPr>
                  <a:t>数据访问层（</a:t>
                </a:r>
                <a:r>
                  <a:rPr lang="en-US" altLang="zh-CN" sz="1400" dirty="0">
                    <a:latin typeface="+mn-ea"/>
                    <a:cs typeface="思源宋体 CN Medium" panose="02020500000000000000" charset="-122"/>
                  </a:rPr>
                  <a:t>Mapper</a:t>
                </a:r>
                <a:r>
                  <a:rPr lang="zh-CN" altLang="en-US" sz="1400" dirty="0">
                    <a:latin typeface="+mn-ea"/>
                    <a:cs typeface="思源宋体 CN Medium" panose="02020500000000000000" charset="-122"/>
                  </a:rPr>
                  <a:t>）：</a:t>
                </a:r>
                <a:endParaRPr lang="en-US" altLang="zh-CN" sz="1400" dirty="0">
                  <a:latin typeface="+mn-ea"/>
                  <a:cs typeface="思源宋体 CN Medium" panose="02020500000000000000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cs typeface="+mn-ea"/>
                    <a:sym typeface="+mn-lt"/>
                  </a:rPr>
                  <a:t>负责与数据库交互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42" name="组合 3">
              <a:extLst>
                <a:ext uri="{FF2B5EF4-FFF2-40B4-BE49-F238E27FC236}">
                  <a16:creationId xmlns:a16="http://schemas.microsoft.com/office/drawing/2014/main" id="{1BCF269A-D7CE-5FF5-0E4C-3F5346BA058A}"/>
                </a:ext>
              </a:extLst>
            </p:cNvPr>
            <p:cNvGrpSpPr/>
            <p:nvPr/>
          </p:nvGrpSpPr>
          <p:grpSpPr>
            <a:xfrm>
              <a:off x="6409110" y="4037254"/>
              <a:ext cx="1938758" cy="1422481"/>
              <a:chOff x="4316127" y="4870736"/>
              <a:chExt cx="1938758" cy="1422481"/>
            </a:xfrm>
          </p:grpSpPr>
          <p:sp>
            <p:nvSpPr>
              <p:cNvPr id="43" name="3">
                <a:extLst>
                  <a:ext uri="{FF2B5EF4-FFF2-40B4-BE49-F238E27FC236}">
                    <a16:creationId xmlns:a16="http://schemas.microsoft.com/office/drawing/2014/main" id="{6BD7C127-505F-6FA4-4C1B-A75F414FA456}"/>
                  </a:ext>
                </a:extLst>
              </p:cNvPr>
              <p:cNvSpPr/>
              <p:nvPr/>
            </p:nvSpPr>
            <p:spPr>
              <a:xfrm>
                <a:off x="4890348" y="4870736"/>
                <a:ext cx="576884" cy="57688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20700" dist="228600" dir="8100000" sx="103000" sy="103000" algn="tr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思源宋体 CN Medium" panose="02020500000000000000" charset="-122"/>
                </a:endParaRPr>
              </a:p>
            </p:txBody>
          </p:sp>
          <p:sp>
            <p:nvSpPr>
              <p:cNvPr id="44" name="3">
                <a:extLst>
                  <a:ext uri="{FF2B5EF4-FFF2-40B4-BE49-F238E27FC236}">
                    <a16:creationId xmlns:a16="http://schemas.microsoft.com/office/drawing/2014/main" id="{21E2A87A-FFD6-C85D-0A4F-24FB3E9F6C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47774" y="5028162"/>
                <a:ext cx="262033" cy="262033"/>
              </a:xfrm>
              <a:custGeom>
                <a:avLst/>
                <a:gdLst>
                  <a:gd name="connsiteX0" fmla="*/ 238120 w 463850"/>
                  <a:gd name="connsiteY0" fmla="*/ 443200 h 462951"/>
                  <a:gd name="connsiteX1" fmla="*/ 240961 w 463850"/>
                  <a:gd name="connsiteY1" fmla="*/ 448641 h 462951"/>
                  <a:gd name="connsiteX2" fmla="*/ 236281 w 463850"/>
                  <a:gd name="connsiteY2" fmla="*/ 451850 h 462951"/>
                  <a:gd name="connsiteX3" fmla="*/ 231481 w 463850"/>
                  <a:gd name="connsiteY3" fmla="*/ 447688 h 462951"/>
                  <a:gd name="connsiteX4" fmla="*/ 234624 w 463850"/>
                  <a:gd name="connsiteY4" fmla="*/ 443553 h 462951"/>
                  <a:gd name="connsiteX5" fmla="*/ 296018 w 463850"/>
                  <a:gd name="connsiteY5" fmla="*/ 299133 h 462951"/>
                  <a:gd name="connsiteX6" fmla="*/ 314100 w 463850"/>
                  <a:gd name="connsiteY6" fmla="*/ 299133 h 462951"/>
                  <a:gd name="connsiteX7" fmla="*/ 309608 w 463850"/>
                  <a:gd name="connsiteY7" fmla="*/ 326720 h 462951"/>
                  <a:gd name="connsiteX8" fmla="*/ 269821 w 463850"/>
                  <a:gd name="connsiteY8" fmla="*/ 422673 h 462951"/>
                  <a:gd name="connsiteX9" fmla="*/ 258224 w 463850"/>
                  <a:gd name="connsiteY9" fmla="*/ 441168 h 462951"/>
                  <a:gd name="connsiteX10" fmla="*/ 238120 w 463850"/>
                  <a:gd name="connsiteY10" fmla="*/ 443200 h 462951"/>
                  <a:gd name="connsiteX11" fmla="*/ 236806 w 463850"/>
                  <a:gd name="connsiteY11" fmla="*/ 440682 h 462951"/>
                  <a:gd name="connsiteX12" fmla="*/ 239848 w 463850"/>
                  <a:gd name="connsiteY12" fmla="*/ 436680 h 462951"/>
                  <a:gd name="connsiteX13" fmla="*/ 292822 w 463850"/>
                  <a:gd name="connsiteY13" fmla="*/ 317792 h 462951"/>
                  <a:gd name="connsiteX14" fmla="*/ 160239 w 463850"/>
                  <a:gd name="connsiteY14" fmla="*/ 299133 h 462951"/>
                  <a:gd name="connsiteX15" fmla="*/ 177073 w 463850"/>
                  <a:gd name="connsiteY15" fmla="*/ 299133 h 462951"/>
                  <a:gd name="connsiteX16" fmla="*/ 177260 w 463850"/>
                  <a:gd name="connsiteY16" fmla="*/ 300592 h 462951"/>
                  <a:gd name="connsiteX17" fmla="*/ 195563 w 463850"/>
                  <a:gd name="connsiteY17" fmla="*/ 361689 h 462951"/>
                  <a:gd name="connsiteX18" fmla="*/ 236806 w 463850"/>
                  <a:gd name="connsiteY18" fmla="*/ 440682 h 462951"/>
                  <a:gd name="connsiteX19" fmla="*/ 234624 w 463850"/>
                  <a:gd name="connsiteY19" fmla="*/ 443553 h 462951"/>
                  <a:gd name="connsiteX20" fmla="*/ 231451 w 463850"/>
                  <a:gd name="connsiteY20" fmla="*/ 443874 h 462951"/>
                  <a:gd name="connsiteX21" fmla="*/ 215854 w 463850"/>
                  <a:gd name="connsiteY21" fmla="*/ 442297 h 462951"/>
                  <a:gd name="connsiteX22" fmla="*/ 197355 w 463850"/>
                  <a:gd name="connsiteY22" fmla="*/ 410842 h 462951"/>
                  <a:gd name="connsiteX23" fmla="*/ 176653 w 463850"/>
                  <a:gd name="connsiteY23" fmla="*/ 364184 h 462951"/>
                  <a:gd name="connsiteX24" fmla="*/ 317201 w 463850"/>
                  <a:gd name="connsiteY24" fmla="*/ 280096 h 462951"/>
                  <a:gd name="connsiteX25" fmla="*/ 437724 w 463850"/>
                  <a:gd name="connsiteY25" fmla="*/ 280096 h 462951"/>
                  <a:gd name="connsiteX26" fmla="*/ 431804 w 463850"/>
                  <a:gd name="connsiteY26" fmla="*/ 299133 h 462951"/>
                  <a:gd name="connsiteX27" fmla="*/ 314100 w 463850"/>
                  <a:gd name="connsiteY27" fmla="*/ 299133 h 462951"/>
                  <a:gd name="connsiteX28" fmla="*/ 174633 w 463850"/>
                  <a:gd name="connsiteY28" fmla="*/ 280096 h 462951"/>
                  <a:gd name="connsiteX29" fmla="*/ 299278 w 463850"/>
                  <a:gd name="connsiteY29" fmla="*/ 280096 h 462951"/>
                  <a:gd name="connsiteX30" fmla="*/ 296018 w 463850"/>
                  <a:gd name="connsiteY30" fmla="*/ 299133 h 462951"/>
                  <a:gd name="connsiteX31" fmla="*/ 177073 w 463850"/>
                  <a:gd name="connsiteY31" fmla="*/ 299133 h 462951"/>
                  <a:gd name="connsiteX32" fmla="*/ 25220 w 463850"/>
                  <a:gd name="connsiteY32" fmla="*/ 280096 h 462951"/>
                  <a:gd name="connsiteX33" fmla="*/ 155435 w 463850"/>
                  <a:gd name="connsiteY33" fmla="*/ 280096 h 462951"/>
                  <a:gd name="connsiteX34" fmla="*/ 160239 w 463850"/>
                  <a:gd name="connsiteY34" fmla="*/ 299133 h 462951"/>
                  <a:gd name="connsiteX35" fmla="*/ 31139 w 463850"/>
                  <a:gd name="connsiteY35" fmla="*/ 299133 h 462951"/>
                  <a:gd name="connsiteX36" fmla="*/ 298799 w 463850"/>
                  <a:gd name="connsiteY36" fmla="*/ 193374 h 462951"/>
                  <a:gd name="connsiteX37" fmla="*/ 318030 w 463850"/>
                  <a:gd name="connsiteY37" fmla="*/ 193374 h 462951"/>
                  <a:gd name="connsiteX38" fmla="*/ 320006 w 463850"/>
                  <a:gd name="connsiteY38" fmla="*/ 262868 h 462951"/>
                  <a:gd name="connsiteX39" fmla="*/ 317201 w 463850"/>
                  <a:gd name="connsiteY39" fmla="*/ 280096 h 462951"/>
                  <a:gd name="connsiteX40" fmla="*/ 299278 w 463850"/>
                  <a:gd name="connsiteY40" fmla="*/ 280096 h 462951"/>
                  <a:gd name="connsiteX41" fmla="*/ 300793 w 463850"/>
                  <a:gd name="connsiteY41" fmla="*/ 271249 h 462951"/>
                  <a:gd name="connsiteX42" fmla="*/ 302179 w 463850"/>
                  <a:gd name="connsiteY42" fmla="*/ 219230 h 462951"/>
                  <a:gd name="connsiteX43" fmla="*/ 153550 w 463850"/>
                  <a:gd name="connsiteY43" fmla="*/ 193374 h 462951"/>
                  <a:gd name="connsiteX44" fmla="*/ 171420 w 463850"/>
                  <a:gd name="connsiteY44" fmla="*/ 193374 h 462951"/>
                  <a:gd name="connsiteX45" fmla="*/ 169972 w 463850"/>
                  <a:gd name="connsiteY45" fmla="*/ 243721 h 462951"/>
                  <a:gd name="connsiteX46" fmla="*/ 174633 w 463850"/>
                  <a:gd name="connsiteY46" fmla="*/ 280096 h 462951"/>
                  <a:gd name="connsiteX47" fmla="*/ 155435 w 463850"/>
                  <a:gd name="connsiteY47" fmla="*/ 280096 h 462951"/>
                  <a:gd name="connsiteX48" fmla="*/ 154643 w 463850"/>
                  <a:gd name="connsiteY48" fmla="*/ 276959 h 462951"/>
                  <a:gd name="connsiteX49" fmla="*/ 152457 w 463850"/>
                  <a:gd name="connsiteY49" fmla="*/ 200083 h 462951"/>
                  <a:gd name="connsiteX50" fmla="*/ 314878 w 463850"/>
                  <a:gd name="connsiteY50" fmla="*/ 174337 h 462951"/>
                  <a:gd name="connsiteX51" fmla="*/ 435155 w 463850"/>
                  <a:gd name="connsiteY51" fmla="*/ 174337 h 462951"/>
                  <a:gd name="connsiteX52" fmla="*/ 439588 w 463850"/>
                  <a:gd name="connsiteY52" fmla="*/ 188717 h 462951"/>
                  <a:gd name="connsiteX53" fmla="*/ 440054 w 463850"/>
                  <a:gd name="connsiteY53" fmla="*/ 193374 h 462951"/>
                  <a:gd name="connsiteX54" fmla="*/ 318030 w 463850"/>
                  <a:gd name="connsiteY54" fmla="*/ 193374 h 462951"/>
                  <a:gd name="connsiteX55" fmla="*/ 317820 w 463850"/>
                  <a:gd name="connsiteY55" fmla="*/ 185992 h 462951"/>
                  <a:gd name="connsiteX56" fmla="*/ 174470 w 463850"/>
                  <a:gd name="connsiteY56" fmla="*/ 174337 h 462951"/>
                  <a:gd name="connsiteX57" fmla="*/ 296311 w 463850"/>
                  <a:gd name="connsiteY57" fmla="*/ 174337 h 462951"/>
                  <a:gd name="connsiteX58" fmla="*/ 298799 w 463850"/>
                  <a:gd name="connsiteY58" fmla="*/ 193374 h 462951"/>
                  <a:gd name="connsiteX59" fmla="*/ 171420 w 463850"/>
                  <a:gd name="connsiteY59" fmla="*/ 193374 h 462951"/>
                  <a:gd name="connsiteX60" fmla="*/ 171468 w 463850"/>
                  <a:gd name="connsiteY60" fmla="*/ 191702 h 462951"/>
                  <a:gd name="connsiteX61" fmla="*/ 27948 w 463850"/>
                  <a:gd name="connsiteY61" fmla="*/ 174337 h 462951"/>
                  <a:gd name="connsiteX62" fmla="*/ 156649 w 463850"/>
                  <a:gd name="connsiteY62" fmla="*/ 174337 h 462951"/>
                  <a:gd name="connsiteX63" fmla="*/ 153550 w 463850"/>
                  <a:gd name="connsiteY63" fmla="*/ 193374 h 462951"/>
                  <a:gd name="connsiteX64" fmla="*/ 22962 w 463850"/>
                  <a:gd name="connsiteY64" fmla="*/ 193374 h 462951"/>
                  <a:gd name="connsiteX65" fmla="*/ 23437 w 463850"/>
                  <a:gd name="connsiteY65" fmla="*/ 188717 h 462951"/>
                  <a:gd name="connsiteX66" fmla="*/ 237658 w 463850"/>
                  <a:gd name="connsiteY66" fmla="*/ 19609 h 462951"/>
                  <a:gd name="connsiteX67" fmla="*/ 257138 w 463850"/>
                  <a:gd name="connsiteY67" fmla="*/ 21580 h 462951"/>
                  <a:gd name="connsiteX68" fmla="*/ 275098 w 463850"/>
                  <a:gd name="connsiteY68" fmla="*/ 52109 h 462951"/>
                  <a:gd name="connsiteX69" fmla="*/ 295805 w 463850"/>
                  <a:gd name="connsiteY69" fmla="*/ 98767 h 462951"/>
                  <a:gd name="connsiteX70" fmla="*/ 314878 w 463850"/>
                  <a:gd name="connsiteY70" fmla="*/ 174337 h 462951"/>
                  <a:gd name="connsiteX71" fmla="*/ 296311 w 463850"/>
                  <a:gd name="connsiteY71" fmla="*/ 174337 h 462951"/>
                  <a:gd name="connsiteX72" fmla="*/ 294745 w 463850"/>
                  <a:gd name="connsiteY72" fmla="*/ 162359 h 462951"/>
                  <a:gd name="connsiteX73" fmla="*/ 276254 w 463850"/>
                  <a:gd name="connsiteY73" fmla="*/ 101263 h 462951"/>
                  <a:gd name="connsiteX74" fmla="*/ 235093 w 463850"/>
                  <a:gd name="connsiteY74" fmla="*/ 22985 h 462951"/>
                  <a:gd name="connsiteX75" fmla="*/ 232400 w 463850"/>
                  <a:gd name="connsiteY75" fmla="*/ 19077 h 462951"/>
                  <a:gd name="connsiteX76" fmla="*/ 233074 w 463850"/>
                  <a:gd name="connsiteY76" fmla="*/ 19146 h 462951"/>
                  <a:gd name="connsiteX77" fmla="*/ 235093 w 463850"/>
                  <a:gd name="connsiteY77" fmla="*/ 22985 h 462951"/>
                  <a:gd name="connsiteX78" fmla="*/ 232595 w 463850"/>
                  <a:gd name="connsiteY78" fmla="*/ 26272 h 462951"/>
                  <a:gd name="connsiteX79" fmla="*/ 179516 w 463850"/>
                  <a:gd name="connsiteY79" fmla="*/ 145159 h 462951"/>
                  <a:gd name="connsiteX80" fmla="*/ 174470 w 463850"/>
                  <a:gd name="connsiteY80" fmla="*/ 174337 h 462951"/>
                  <a:gd name="connsiteX81" fmla="*/ 156649 w 463850"/>
                  <a:gd name="connsiteY81" fmla="*/ 174337 h 462951"/>
                  <a:gd name="connsiteX82" fmla="*/ 162853 w 463850"/>
                  <a:gd name="connsiteY82" fmla="*/ 136231 h 462951"/>
                  <a:gd name="connsiteX83" fmla="*/ 201918 w 463850"/>
                  <a:gd name="connsiteY83" fmla="*/ 40278 h 462951"/>
                  <a:gd name="connsiteX84" fmla="*/ 214184 w 463850"/>
                  <a:gd name="connsiteY84" fmla="*/ 20917 h 462951"/>
                  <a:gd name="connsiteX85" fmla="*/ 235881 w 463850"/>
                  <a:gd name="connsiteY85" fmla="*/ 10858 h 462951"/>
                  <a:gd name="connsiteX86" fmla="*/ 240961 w 463850"/>
                  <a:gd name="connsiteY86" fmla="*/ 15263 h 462951"/>
                  <a:gd name="connsiteX87" fmla="*/ 237658 w 463850"/>
                  <a:gd name="connsiteY87" fmla="*/ 19609 h 462951"/>
                  <a:gd name="connsiteX88" fmla="*/ 233074 w 463850"/>
                  <a:gd name="connsiteY88" fmla="*/ 19146 h 462951"/>
                  <a:gd name="connsiteX89" fmla="*/ 230531 w 463850"/>
                  <a:gd name="connsiteY89" fmla="*/ 14310 h 462951"/>
                  <a:gd name="connsiteX90" fmla="*/ 226677 w 463850"/>
                  <a:gd name="connsiteY90" fmla="*/ 2877 h 462951"/>
                  <a:gd name="connsiteX91" fmla="*/ 218853 w 463850"/>
                  <a:gd name="connsiteY91" fmla="*/ 13548 h 462951"/>
                  <a:gd name="connsiteX92" fmla="*/ 214184 w 463850"/>
                  <a:gd name="connsiteY92" fmla="*/ 20917 h 462951"/>
                  <a:gd name="connsiteX93" fmla="*/ 189605 w 463850"/>
                  <a:gd name="connsiteY93" fmla="*/ 23399 h 462951"/>
                  <a:gd name="connsiteX94" fmla="*/ 35936 w 463850"/>
                  <a:gd name="connsiteY94" fmla="*/ 148870 h 462951"/>
                  <a:gd name="connsiteX95" fmla="*/ 27948 w 463850"/>
                  <a:gd name="connsiteY95" fmla="*/ 174337 h 462951"/>
                  <a:gd name="connsiteX96" fmla="*/ 15285 w 463850"/>
                  <a:gd name="connsiteY96" fmla="*/ 174337 h 462951"/>
                  <a:gd name="connsiteX97" fmla="*/ 15285 w 463850"/>
                  <a:gd name="connsiteY97" fmla="*/ 193374 h 462951"/>
                  <a:gd name="connsiteX98" fmla="*/ 22962 w 463850"/>
                  <a:gd name="connsiteY98" fmla="*/ 193374 h 462951"/>
                  <a:gd name="connsiteX99" fmla="*/ 19075 w 463850"/>
                  <a:gd name="connsiteY99" fmla="*/ 231476 h 462951"/>
                  <a:gd name="connsiteX100" fmla="*/ 23397 w 463850"/>
                  <a:gd name="connsiteY100" fmla="*/ 274234 h 462951"/>
                  <a:gd name="connsiteX101" fmla="*/ 25220 w 463850"/>
                  <a:gd name="connsiteY101" fmla="*/ 280096 h 462951"/>
                  <a:gd name="connsiteX102" fmla="*/ 15285 w 463850"/>
                  <a:gd name="connsiteY102" fmla="*/ 280096 h 462951"/>
                  <a:gd name="connsiteX103" fmla="*/ 15285 w 463850"/>
                  <a:gd name="connsiteY103" fmla="*/ 299133 h 462951"/>
                  <a:gd name="connsiteX104" fmla="*/ 31139 w 463850"/>
                  <a:gd name="connsiteY104" fmla="*/ 299133 h 462951"/>
                  <a:gd name="connsiteX105" fmla="*/ 35788 w 463850"/>
                  <a:gd name="connsiteY105" fmla="*/ 314081 h 462951"/>
                  <a:gd name="connsiteX106" fmla="*/ 188696 w 463850"/>
                  <a:gd name="connsiteY106" fmla="*/ 439552 h 462951"/>
                  <a:gd name="connsiteX107" fmla="*/ 215854 w 463850"/>
                  <a:gd name="connsiteY107" fmla="*/ 442297 h 462951"/>
                  <a:gd name="connsiteX108" fmla="*/ 225728 w 463850"/>
                  <a:gd name="connsiteY108" fmla="*/ 459085 h 462951"/>
                  <a:gd name="connsiteX109" fmla="*/ 236281 w 463850"/>
                  <a:gd name="connsiteY109" fmla="*/ 451850 h 462951"/>
                  <a:gd name="connsiteX110" fmla="*/ 245768 w 463850"/>
                  <a:gd name="connsiteY110" fmla="*/ 460074 h 462951"/>
                  <a:gd name="connsiteX111" fmla="*/ 253060 w 463850"/>
                  <a:gd name="connsiteY111" fmla="*/ 449403 h 462951"/>
                  <a:gd name="connsiteX112" fmla="*/ 258224 w 463850"/>
                  <a:gd name="connsiteY112" fmla="*/ 441168 h 462951"/>
                  <a:gd name="connsiteX113" fmla="*/ 274219 w 463850"/>
                  <a:gd name="connsiteY113" fmla="*/ 439552 h 462951"/>
                  <a:gd name="connsiteX114" fmla="*/ 427156 w 463850"/>
                  <a:gd name="connsiteY114" fmla="*/ 314081 h 462951"/>
                  <a:gd name="connsiteX115" fmla="*/ 431804 w 463850"/>
                  <a:gd name="connsiteY115" fmla="*/ 299133 h 462951"/>
                  <a:gd name="connsiteX116" fmla="*/ 449554 w 463850"/>
                  <a:gd name="connsiteY116" fmla="*/ 299133 h 462951"/>
                  <a:gd name="connsiteX117" fmla="*/ 449554 w 463850"/>
                  <a:gd name="connsiteY117" fmla="*/ 280096 h 462951"/>
                  <a:gd name="connsiteX118" fmla="*/ 437724 w 463850"/>
                  <a:gd name="connsiteY118" fmla="*/ 280096 h 462951"/>
                  <a:gd name="connsiteX119" fmla="*/ 439547 w 463850"/>
                  <a:gd name="connsiteY119" fmla="*/ 274234 h 462951"/>
                  <a:gd name="connsiteX120" fmla="*/ 443869 w 463850"/>
                  <a:gd name="connsiteY120" fmla="*/ 231476 h 462951"/>
                  <a:gd name="connsiteX121" fmla="*/ 440054 w 463850"/>
                  <a:gd name="connsiteY121" fmla="*/ 193374 h 462951"/>
                  <a:gd name="connsiteX122" fmla="*/ 449554 w 463850"/>
                  <a:gd name="connsiteY122" fmla="*/ 193374 h 462951"/>
                  <a:gd name="connsiteX123" fmla="*/ 449554 w 463850"/>
                  <a:gd name="connsiteY123" fmla="*/ 174337 h 462951"/>
                  <a:gd name="connsiteX124" fmla="*/ 435155 w 463850"/>
                  <a:gd name="connsiteY124" fmla="*/ 174337 h 462951"/>
                  <a:gd name="connsiteX125" fmla="*/ 427304 w 463850"/>
                  <a:gd name="connsiteY125" fmla="*/ 148870 h 462951"/>
                  <a:gd name="connsiteX126" fmla="*/ 275127 w 463850"/>
                  <a:gd name="connsiteY126" fmla="*/ 23399 h 462951"/>
                  <a:gd name="connsiteX127" fmla="*/ 257138 w 463850"/>
                  <a:gd name="connsiteY127" fmla="*/ 21580 h 462951"/>
                  <a:gd name="connsiteX128" fmla="*/ 246718 w 463850"/>
                  <a:gd name="connsiteY128" fmla="*/ 3866 h 462951"/>
                  <a:gd name="connsiteX129" fmla="*/ 235881 w 463850"/>
                  <a:gd name="connsiteY129" fmla="*/ 10858 h 462951"/>
                  <a:gd name="connsiteX130" fmla="*/ 232400 w 463850"/>
                  <a:gd name="connsiteY130" fmla="*/ 0 h 462951"/>
                  <a:gd name="connsiteX131" fmla="*/ 463850 w 463850"/>
                  <a:gd name="connsiteY131" fmla="*/ 231476 h 462951"/>
                  <a:gd name="connsiteX132" fmla="*/ 232400 w 463850"/>
                  <a:gd name="connsiteY132" fmla="*/ 462951 h 462951"/>
                  <a:gd name="connsiteX133" fmla="*/ 0 w 463850"/>
                  <a:gd name="connsiteY133" fmla="*/ 231476 h 462951"/>
                  <a:gd name="connsiteX134" fmla="*/ 232400 w 463850"/>
                  <a:gd name="connsiteY134" fmla="*/ 0 h 462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</a:cxnLst>
                <a:rect l="l" t="t" r="r" b="b"/>
                <a:pathLst>
                  <a:path w="463850" h="462951">
                    <a:moveTo>
                      <a:pt x="238120" y="443200"/>
                    </a:moveTo>
                    <a:lnTo>
                      <a:pt x="240961" y="448641"/>
                    </a:lnTo>
                    <a:lnTo>
                      <a:pt x="236281" y="451850"/>
                    </a:lnTo>
                    <a:lnTo>
                      <a:pt x="231481" y="447688"/>
                    </a:lnTo>
                    <a:lnTo>
                      <a:pt x="234624" y="443553"/>
                    </a:lnTo>
                    <a:close/>
                    <a:moveTo>
                      <a:pt x="296018" y="299133"/>
                    </a:moveTo>
                    <a:lnTo>
                      <a:pt x="314100" y="299133"/>
                    </a:lnTo>
                    <a:lnTo>
                      <a:pt x="309608" y="326720"/>
                    </a:lnTo>
                    <a:cubicBezTo>
                      <a:pt x="298644" y="367201"/>
                      <a:pt x="282921" y="399817"/>
                      <a:pt x="269821" y="422673"/>
                    </a:cubicBezTo>
                    <a:lnTo>
                      <a:pt x="258224" y="441168"/>
                    </a:lnTo>
                    <a:lnTo>
                      <a:pt x="238120" y="443200"/>
                    </a:lnTo>
                    <a:lnTo>
                      <a:pt x="236806" y="440682"/>
                    </a:lnTo>
                    <a:lnTo>
                      <a:pt x="239848" y="436680"/>
                    </a:lnTo>
                    <a:cubicBezTo>
                      <a:pt x="253189" y="417774"/>
                      <a:pt x="278801" y="375920"/>
                      <a:pt x="292822" y="317792"/>
                    </a:cubicBezTo>
                    <a:close/>
                    <a:moveTo>
                      <a:pt x="160239" y="299133"/>
                    </a:moveTo>
                    <a:lnTo>
                      <a:pt x="177073" y="299133"/>
                    </a:lnTo>
                    <a:lnTo>
                      <a:pt x="177260" y="300592"/>
                    </a:lnTo>
                    <a:cubicBezTo>
                      <a:pt x="181401" y="320288"/>
                      <a:pt x="187378" y="340688"/>
                      <a:pt x="195563" y="361689"/>
                    </a:cubicBezTo>
                    <a:lnTo>
                      <a:pt x="236806" y="440682"/>
                    </a:lnTo>
                    <a:lnTo>
                      <a:pt x="234624" y="443553"/>
                    </a:lnTo>
                    <a:lnTo>
                      <a:pt x="231451" y="443874"/>
                    </a:lnTo>
                    <a:lnTo>
                      <a:pt x="215854" y="442297"/>
                    </a:lnTo>
                    <a:lnTo>
                      <a:pt x="197355" y="410842"/>
                    </a:lnTo>
                    <a:cubicBezTo>
                      <a:pt x="189226" y="395007"/>
                      <a:pt x="182376" y="379436"/>
                      <a:pt x="176653" y="364184"/>
                    </a:cubicBezTo>
                    <a:close/>
                    <a:moveTo>
                      <a:pt x="317201" y="280096"/>
                    </a:moveTo>
                    <a:lnTo>
                      <a:pt x="437724" y="280096"/>
                    </a:lnTo>
                    <a:lnTo>
                      <a:pt x="431804" y="299133"/>
                    </a:lnTo>
                    <a:lnTo>
                      <a:pt x="314100" y="299133"/>
                    </a:lnTo>
                    <a:close/>
                    <a:moveTo>
                      <a:pt x="174633" y="280096"/>
                    </a:moveTo>
                    <a:lnTo>
                      <a:pt x="299278" y="280096"/>
                    </a:lnTo>
                    <a:lnTo>
                      <a:pt x="296018" y="299133"/>
                    </a:lnTo>
                    <a:lnTo>
                      <a:pt x="177073" y="299133"/>
                    </a:lnTo>
                    <a:close/>
                    <a:moveTo>
                      <a:pt x="25220" y="280096"/>
                    </a:moveTo>
                    <a:lnTo>
                      <a:pt x="155435" y="280096"/>
                    </a:lnTo>
                    <a:lnTo>
                      <a:pt x="160239" y="299133"/>
                    </a:lnTo>
                    <a:lnTo>
                      <a:pt x="31139" y="299133"/>
                    </a:lnTo>
                    <a:close/>
                    <a:moveTo>
                      <a:pt x="298799" y="193374"/>
                    </a:moveTo>
                    <a:lnTo>
                      <a:pt x="318030" y="193374"/>
                    </a:lnTo>
                    <a:lnTo>
                      <a:pt x="320006" y="262868"/>
                    </a:lnTo>
                    <a:lnTo>
                      <a:pt x="317201" y="280096"/>
                    </a:lnTo>
                    <a:lnTo>
                      <a:pt x="299278" y="280096"/>
                    </a:lnTo>
                    <a:lnTo>
                      <a:pt x="300793" y="271249"/>
                    </a:lnTo>
                    <a:cubicBezTo>
                      <a:pt x="302476" y="254787"/>
                      <a:pt x="303063" y="237413"/>
                      <a:pt x="302179" y="219230"/>
                    </a:cubicBezTo>
                    <a:close/>
                    <a:moveTo>
                      <a:pt x="153550" y="193374"/>
                    </a:moveTo>
                    <a:lnTo>
                      <a:pt x="171420" y="193374"/>
                    </a:lnTo>
                    <a:lnTo>
                      <a:pt x="169972" y="243721"/>
                    </a:lnTo>
                    <a:lnTo>
                      <a:pt x="174633" y="280096"/>
                    </a:lnTo>
                    <a:lnTo>
                      <a:pt x="155435" y="280096"/>
                    </a:lnTo>
                    <a:lnTo>
                      <a:pt x="154643" y="276959"/>
                    </a:lnTo>
                    <a:cubicBezTo>
                      <a:pt x="151013" y="249460"/>
                      <a:pt x="150687" y="223686"/>
                      <a:pt x="152457" y="200083"/>
                    </a:cubicBezTo>
                    <a:close/>
                    <a:moveTo>
                      <a:pt x="314878" y="174337"/>
                    </a:moveTo>
                    <a:lnTo>
                      <a:pt x="435155" y="174337"/>
                    </a:lnTo>
                    <a:lnTo>
                      <a:pt x="439588" y="188717"/>
                    </a:lnTo>
                    <a:lnTo>
                      <a:pt x="440054" y="193374"/>
                    </a:lnTo>
                    <a:lnTo>
                      <a:pt x="318030" y="193374"/>
                    </a:lnTo>
                    <a:lnTo>
                      <a:pt x="317820" y="185992"/>
                    </a:lnTo>
                    <a:close/>
                    <a:moveTo>
                      <a:pt x="174470" y="174337"/>
                    </a:moveTo>
                    <a:lnTo>
                      <a:pt x="296311" y="174337"/>
                    </a:lnTo>
                    <a:lnTo>
                      <a:pt x="298799" y="193374"/>
                    </a:lnTo>
                    <a:lnTo>
                      <a:pt x="171420" y="193374"/>
                    </a:lnTo>
                    <a:lnTo>
                      <a:pt x="171468" y="191702"/>
                    </a:lnTo>
                    <a:close/>
                    <a:moveTo>
                      <a:pt x="27948" y="174337"/>
                    </a:moveTo>
                    <a:lnTo>
                      <a:pt x="156649" y="174337"/>
                    </a:lnTo>
                    <a:lnTo>
                      <a:pt x="153550" y="193374"/>
                    </a:lnTo>
                    <a:lnTo>
                      <a:pt x="22962" y="193374"/>
                    </a:lnTo>
                    <a:lnTo>
                      <a:pt x="23437" y="188717"/>
                    </a:lnTo>
                    <a:close/>
                    <a:moveTo>
                      <a:pt x="237658" y="19609"/>
                    </a:moveTo>
                    <a:lnTo>
                      <a:pt x="257138" y="21580"/>
                    </a:lnTo>
                    <a:lnTo>
                      <a:pt x="275098" y="52109"/>
                    </a:lnTo>
                    <a:cubicBezTo>
                      <a:pt x="283229" y="67944"/>
                      <a:pt x="290081" y="83515"/>
                      <a:pt x="295805" y="98767"/>
                    </a:cubicBezTo>
                    <a:lnTo>
                      <a:pt x="314878" y="174337"/>
                    </a:lnTo>
                    <a:lnTo>
                      <a:pt x="296311" y="174337"/>
                    </a:lnTo>
                    <a:lnTo>
                      <a:pt x="294745" y="162359"/>
                    </a:lnTo>
                    <a:cubicBezTo>
                      <a:pt x="290549" y="142663"/>
                      <a:pt x="284509" y="122263"/>
                      <a:pt x="276254" y="101263"/>
                    </a:cubicBezTo>
                    <a:lnTo>
                      <a:pt x="235093" y="22985"/>
                    </a:lnTo>
                    <a:close/>
                    <a:moveTo>
                      <a:pt x="232400" y="19077"/>
                    </a:moveTo>
                    <a:lnTo>
                      <a:pt x="233074" y="19146"/>
                    </a:lnTo>
                    <a:lnTo>
                      <a:pt x="235093" y="22985"/>
                    </a:lnTo>
                    <a:lnTo>
                      <a:pt x="232595" y="26272"/>
                    </a:lnTo>
                    <a:cubicBezTo>
                      <a:pt x="219251" y="45177"/>
                      <a:pt x="193623" y="87031"/>
                      <a:pt x="179516" y="145159"/>
                    </a:cubicBezTo>
                    <a:lnTo>
                      <a:pt x="174470" y="174337"/>
                    </a:lnTo>
                    <a:lnTo>
                      <a:pt x="156649" y="174337"/>
                    </a:lnTo>
                    <a:lnTo>
                      <a:pt x="162853" y="136231"/>
                    </a:lnTo>
                    <a:cubicBezTo>
                      <a:pt x="173340" y="95750"/>
                      <a:pt x="188821" y="63134"/>
                      <a:pt x="201918" y="40278"/>
                    </a:cubicBezTo>
                    <a:lnTo>
                      <a:pt x="214184" y="20917"/>
                    </a:lnTo>
                    <a:close/>
                    <a:moveTo>
                      <a:pt x="235881" y="10858"/>
                    </a:moveTo>
                    <a:lnTo>
                      <a:pt x="240961" y="15263"/>
                    </a:lnTo>
                    <a:lnTo>
                      <a:pt x="237658" y="19609"/>
                    </a:lnTo>
                    <a:lnTo>
                      <a:pt x="233074" y="19146"/>
                    </a:lnTo>
                    <a:lnTo>
                      <a:pt x="230531" y="14310"/>
                    </a:lnTo>
                    <a:close/>
                    <a:moveTo>
                      <a:pt x="226677" y="2877"/>
                    </a:moveTo>
                    <a:cubicBezTo>
                      <a:pt x="226203" y="3600"/>
                      <a:pt x="223287" y="7236"/>
                      <a:pt x="218853" y="13548"/>
                    </a:cubicBezTo>
                    <a:lnTo>
                      <a:pt x="214184" y="20917"/>
                    </a:lnTo>
                    <a:lnTo>
                      <a:pt x="189605" y="23399"/>
                    </a:lnTo>
                    <a:cubicBezTo>
                      <a:pt x="120405" y="37567"/>
                      <a:pt x="63057" y="85361"/>
                      <a:pt x="35936" y="148870"/>
                    </a:cubicBezTo>
                    <a:lnTo>
                      <a:pt x="27948" y="174337"/>
                    </a:lnTo>
                    <a:lnTo>
                      <a:pt x="15285" y="174337"/>
                    </a:lnTo>
                    <a:lnTo>
                      <a:pt x="15285" y="193374"/>
                    </a:lnTo>
                    <a:lnTo>
                      <a:pt x="22962" y="193374"/>
                    </a:lnTo>
                    <a:lnTo>
                      <a:pt x="19075" y="231476"/>
                    </a:lnTo>
                    <a:cubicBezTo>
                      <a:pt x="19075" y="246118"/>
                      <a:pt x="20563" y="260419"/>
                      <a:pt x="23397" y="274234"/>
                    </a:cubicBezTo>
                    <a:lnTo>
                      <a:pt x="25220" y="280096"/>
                    </a:lnTo>
                    <a:lnTo>
                      <a:pt x="15285" y="280096"/>
                    </a:lnTo>
                    <a:lnTo>
                      <a:pt x="15285" y="299133"/>
                    </a:lnTo>
                    <a:lnTo>
                      <a:pt x="31139" y="299133"/>
                    </a:lnTo>
                    <a:lnTo>
                      <a:pt x="35788" y="314081"/>
                    </a:lnTo>
                    <a:cubicBezTo>
                      <a:pt x="62687" y="377590"/>
                      <a:pt x="119627" y="425384"/>
                      <a:pt x="188696" y="439552"/>
                    </a:cubicBezTo>
                    <a:lnTo>
                      <a:pt x="215854" y="442297"/>
                    </a:lnTo>
                    <a:lnTo>
                      <a:pt x="225728" y="459085"/>
                    </a:lnTo>
                    <a:lnTo>
                      <a:pt x="236281" y="451850"/>
                    </a:lnTo>
                    <a:lnTo>
                      <a:pt x="245768" y="460074"/>
                    </a:lnTo>
                    <a:cubicBezTo>
                      <a:pt x="246006" y="459351"/>
                      <a:pt x="248744" y="455715"/>
                      <a:pt x="253060" y="449403"/>
                    </a:cubicBezTo>
                    <a:lnTo>
                      <a:pt x="258224" y="441168"/>
                    </a:lnTo>
                    <a:lnTo>
                      <a:pt x="274219" y="439552"/>
                    </a:lnTo>
                    <a:cubicBezTo>
                      <a:pt x="343309" y="425384"/>
                      <a:pt x="400255" y="377590"/>
                      <a:pt x="427156" y="314081"/>
                    </a:cubicBezTo>
                    <a:lnTo>
                      <a:pt x="431804" y="299133"/>
                    </a:lnTo>
                    <a:lnTo>
                      <a:pt x="449554" y="299133"/>
                    </a:lnTo>
                    <a:lnTo>
                      <a:pt x="449554" y="280096"/>
                    </a:lnTo>
                    <a:lnTo>
                      <a:pt x="437724" y="280096"/>
                    </a:lnTo>
                    <a:lnTo>
                      <a:pt x="439547" y="274234"/>
                    </a:lnTo>
                    <a:cubicBezTo>
                      <a:pt x="442381" y="260419"/>
                      <a:pt x="443869" y="246118"/>
                      <a:pt x="443869" y="231476"/>
                    </a:cubicBezTo>
                    <a:lnTo>
                      <a:pt x="440054" y="193374"/>
                    </a:lnTo>
                    <a:lnTo>
                      <a:pt x="449554" y="193374"/>
                    </a:lnTo>
                    <a:lnTo>
                      <a:pt x="449554" y="174337"/>
                    </a:lnTo>
                    <a:lnTo>
                      <a:pt x="435155" y="174337"/>
                    </a:lnTo>
                    <a:lnTo>
                      <a:pt x="427304" y="148870"/>
                    </a:lnTo>
                    <a:cubicBezTo>
                      <a:pt x="400626" y="85361"/>
                      <a:pt x="344088" y="37567"/>
                      <a:pt x="275127" y="23399"/>
                    </a:cubicBezTo>
                    <a:lnTo>
                      <a:pt x="257138" y="21580"/>
                    </a:lnTo>
                    <a:lnTo>
                      <a:pt x="246718" y="3866"/>
                    </a:lnTo>
                    <a:lnTo>
                      <a:pt x="235881" y="10858"/>
                    </a:lnTo>
                    <a:close/>
                    <a:moveTo>
                      <a:pt x="232400" y="0"/>
                    </a:moveTo>
                    <a:cubicBezTo>
                      <a:pt x="360015" y="0"/>
                      <a:pt x="463850" y="103847"/>
                      <a:pt x="463850" y="231476"/>
                    </a:cubicBezTo>
                    <a:cubicBezTo>
                      <a:pt x="463850" y="359104"/>
                      <a:pt x="360015" y="462951"/>
                      <a:pt x="232400" y="462951"/>
                    </a:cubicBezTo>
                    <a:cubicBezTo>
                      <a:pt x="104785" y="462951"/>
                      <a:pt x="0" y="359104"/>
                      <a:pt x="0" y="231476"/>
                    </a:cubicBezTo>
                    <a:cubicBezTo>
                      <a:pt x="0" y="103847"/>
                      <a:pt x="104785" y="0"/>
                      <a:pt x="2324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思源宋体 CN Medium" panose="02020500000000000000" charset="-122"/>
                </a:endParaRPr>
              </a:p>
            </p:txBody>
          </p:sp>
          <p:sp>
            <p:nvSpPr>
              <p:cNvPr id="45" name="Body-3">
                <a:extLst>
                  <a:ext uri="{FF2B5EF4-FFF2-40B4-BE49-F238E27FC236}">
                    <a16:creationId xmlns:a16="http://schemas.microsoft.com/office/drawing/2014/main" id="{0F96C678-736A-D42B-B1F8-4C791470A068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4316127" y="5495990"/>
                <a:ext cx="1938758" cy="797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400" dirty="0">
                    <a:latin typeface="+mn-ea"/>
                    <a:cs typeface="思源宋体 CN Medium" panose="02020500000000000000" charset="-122"/>
                  </a:rPr>
                  <a:t>服务层（</a:t>
                </a:r>
                <a:r>
                  <a:rPr lang="en-US" altLang="zh-CN" sz="1400" dirty="0">
                    <a:latin typeface="+mn-ea"/>
                    <a:cs typeface="思源宋体 CN Medium" panose="02020500000000000000" charset="-122"/>
                  </a:rPr>
                  <a:t>Service</a:t>
                </a:r>
                <a:r>
                  <a:rPr lang="zh-CN" altLang="en-US" sz="1400" dirty="0">
                    <a:latin typeface="+mn-ea"/>
                    <a:cs typeface="思源宋体 CN Medium" panose="02020500000000000000" charset="-122"/>
                  </a:rPr>
                  <a:t>）：</a:t>
                </a:r>
                <a:endParaRPr lang="en-US" altLang="zh-CN" sz="1400" dirty="0">
                  <a:latin typeface="+mn-ea"/>
                  <a:cs typeface="思源宋体 CN Medium" panose="02020500000000000000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  <a:cs typeface="+mn-ea"/>
                    <a:sym typeface="+mn-lt"/>
                  </a:rPr>
                  <a:t>实现业务逻辑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4BD9246B-8A3D-895D-6AE8-73ED783489A2}"/>
              </a:ext>
            </a:extLst>
          </p:cNvPr>
          <p:cNvSpPr txBox="1"/>
          <p:nvPr/>
        </p:nvSpPr>
        <p:spPr>
          <a:xfrm>
            <a:off x="6012241" y="5491263"/>
            <a:ext cx="48352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通信方式 ：RESTful API，数据传输采用JSON格式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C264304B-7E8D-4172-AC15-F3E1D4C59A43}"/>
              </a:ext>
            </a:extLst>
          </p:cNvPr>
          <p:cNvSpPr txBox="1"/>
          <p:nvPr/>
        </p:nvSpPr>
        <p:spPr>
          <a:xfrm>
            <a:off x="1277997" y="751527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采用前后端分离的架构模式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10E29301-BB32-0174-5794-8770FA7B4DEF}"/>
              </a:ext>
            </a:extLst>
          </p:cNvPr>
          <p:cNvSpPr txBox="1"/>
          <p:nvPr/>
        </p:nvSpPr>
        <p:spPr>
          <a:xfrm>
            <a:off x="1277997" y="6296884"/>
            <a:ext cx="17847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kern="100" dirty="0">
                <a:effectLst/>
                <a:latin typeface="+mn-ea"/>
                <a:cs typeface="Times New Roman" panose="02020603050405020304" pitchFamily="18" charset="0"/>
              </a:rPr>
              <a:t>系统的总体架构</a:t>
            </a:r>
            <a:r>
              <a:rPr lang="zh-CN" altLang="en-US" sz="1200" kern="100" dirty="0">
                <a:effectLst/>
                <a:latin typeface="+mn-ea"/>
                <a:cs typeface="Times New Roman" panose="02020603050405020304" pitchFamily="18" charset="0"/>
              </a:rPr>
              <a:t>设计图</a:t>
            </a:r>
            <a:endParaRPr lang="zh-CN" altLang="en-US" sz="1200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未标题-1-02"/>
          <p:cNvPicPr>
            <a:picLocks noChangeAspect="1"/>
          </p:cNvPicPr>
          <p:nvPr/>
        </p:nvPicPr>
        <p:blipFill>
          <a:blip r:embed="rId2"/>
          <a:srcRect l="28423" b="26938"/>
          <a:stretch>
            <a:fillRect/>
          </a:stretch>
        </p:blipFill>
        <p:spPr>
          <a:xfrm rot="10800000" flipH="1">
            <a:off x="0" y="0"/>
            <a:ext cx="1744980" cy="27412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2865" y="196215"/>
            <a:ext cx="3032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技术栈详情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前端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987494" y="2832735"/>
            <a:ext cx="1418590" cy="459105"/>
            <a:chOff x="5131" y="3875"/>
            <a:chExt cx="2234" cy="723"/>
          </a:xfrm>
        </p:grpSpPr>
        <p:sp>
          <p:nvSpPr>
            <p:cNvPr id="3" name="矩形 2"/>
            <p:cNvSpPr/>
            <p:nvPr/>
          </p:nvSpPr>
          <p:spPr>
            <a:xfrm>
              <a:off x="5131" y="3920"/>
              <a:ext cx="2234" cy="678"/>
            </a:xfrm>
            <a:prstGeom prst="rect">
              <a:avLst/>
            </a:prstGeom>
            <a:solidFill>
              <a:srgbClr val="2A73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5132" y="3875"/>
              <a:ext cx="2227" cy="723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Pinia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 2.3.1</a:t>
              </a:r>
              <a:endParaRPr lang="zh-CN" altLang="en-US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3210602" y="3320415"/>
            <a:ext cx="979944" cy="418704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anose="02010600030101010101" pitchFamily="2" charset="-122"/>
              </a:rPr>
              <a:t>状态管理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581854" y="2269490"/>
            <a:ext cx="820420" cy="610870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2800" spc="300" dirty="0">
                <a:solidFill>
                  <a:srgbClr val="2A73BC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04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2066134" y="4574436"/>
            <a:ext cx="2339950" cy="459105"/>
            <a:chOff x="5131" y="3875"/>
            <a:chExt cx="2234" cy="723"/>
          </a:xfrm>
        </p:grpSpPr>
        <p:sp>
          <p:nvSpPr>
            <p:cNvPr id="15" name="矩形 14"/>
            <p:cNvSpPr/>
            <p:nvPr/>
          </p:nvSpPr>
          <p:spPr>
            <a:xfrm>
              <a:off x="5131" y="3920"/>
              <a:ext cx="2234" cy="678"/>
            </a:xfrm>
            <a:prstGeom prst="rect">
              <a:avLst/>
            </a:prstGeom>
            <a:solidFill>
              <a:srgbClr val="2A73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132" y="3875"/>
              <a:ext cx="2227" cy="723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Element Plus 2.11.7</a:t>
              </a:r>
              <a:endParaRPr lang="zh-CN" altLang="en-US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283278" y="5062116"/>
            <a:ext cx="1907268" cy="418704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提供丰富的</a:t>
            </a:r>
            <a:r>
              <a:rPr lang="en-US" altLang="zh-CN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UI</a:t>
            </a: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组件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581854" y="4011191"/>
            <a:ext cx="820420" cy="610870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2800" spc="300" dirty="0">
                <a:solidFill>
                  <a:srgbClr val="2A73BC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02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7805214" y="1732115"/>
            <a:ext cx="2030186" cy="459105"/>
            <a:chOff x="5131" y="3875"/>
            <a:chExt cx="2234" cy="723"/>
          </a:xfrm>
        </p:grpSpPr>
        <p:sp>
          <p:nvSpPr>
            <p:cNvPr id="26" name="矩形 25"/>
            <p:cNvSpPr/>
            <p:nvPr/>
          </p:nvSpPr>
          <p:spPr>
            <a:xfrm>
              <a:off x="5131" y="3920"/>
              <a:ext cx="2234" cy="678"/>
            </a:xfrm>
            <a:prstGeom prst="rect">
              <a:avLst/>
            </a:prstGeom>
            <a:solidFill>
              <a:srgbClr val="2A73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132" y="3875"/>
              <a:ext cx="2227" cy="723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Vue Router 4.6.3</a:t>
              </a:r>
              <a:endParaRPr lang="zh-CN" altLang="en-US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7805849" y="2214080"/>
            <a:ext cx="3183890" cy="418704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anose="02010600030101010101" pitchFamily="2" charset="-122"/>
              </a:rPr>
              <a:t>路由管理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805849" y="1168870"/>
            <a:ext cx="820420" cy="610870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spc="300" dirty="0">
                <a:solidFill>
                  <a:srgbClr val="2A73BC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05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2720431" y="1228756"/>
            <a:ext cx="1681843" cy="459105"/>
            <a:chOff x="5131" y="3875"/>
            <a:chExt cx="2234" cy="723"/>
          </a:xfrm>
        </p:grpSpPr>
        <p:sp>
          <p:nvSpPr>
            <p:cNvPr id="32" name="矩形 31"/>
            <p:cNvSpPr/>
            <p:nvPr/>
          </p:nvSpPr>
          <p:spPr>
            <a:xfrm>
              <a:off x="5131" y="3920"/>
              <a:ext cx="2234" cy="678"/>
            </a:xfrm>
            <a:prstGeom prst="rect">
              <a:avLst/>
            </a:prstGeom>
            <a:solidFill>
              <a:srgbClr val="2A73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132" y="3875"/>
              <a:ext cx="2227" cy="723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Axios 1.13.2</a:t>
              </a:r>
              <a:endParaRPr lang="zh-CN" altLang="en-US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2721067" y="1710721"/>
            <a:ext cx="3183890" cy="418704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anose="02010600030101010101" pitchFamily="2" charset="-122"/>
              </a:rPr>
              <a:t>处理</a:t>
            </a:r>
            <a:r>
              <a:rPr lang="en-US" altLang="zh-CN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anose="02010600030101010101" pitchFamily="2" charset="-122"/>
              </a:rPr>
              <a:t>HTTP</a:t>
            </a: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anose="02010600030101010101" pitchFamily="2" charset="-122"/>
              </a:rPr>
              <a:t>请求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811136" y="2957558"/>
            <a:ext cx="820420" cy="610870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spc="300" dirty="0">
                <a:solidFill>
                  <a:srgbClr val="2A73BC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03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7805849" y="5313194"/>
            <a:ext cx="1418590" cy="459105"/>
            <a:chOff x="5131" y="3875"/>
            <a:chExt cx="2234" cy="723"/>
          </a:xfrm>
        </p:grpSpPr>
        <p:sp>
          <p:nvSpPr>
            <p:cNvPr id="38" name="矩形 37"/>
            <p:cNvSpPr/>
            <p:nvPr/>
          </p:nvSpPr>
          <p:spPr>
            <a:xfrm>
              <a:off x="5131" y="3920"/>
              <a:ext cx="2234" cy="678"/>
            </a:xfrm>
            <a:prstGeom prst="rect">
              <a:avLst/>
            </a:prstGeom>
            <a:solidFill>
              <a:srgbClr val="2A73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5132" y="3875"/>
              <a:ext cx="2227" cy="723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Vue 3.5.24</a:t>
              </a:r>
              <a:endParaRPr lang="zh-CN" altLang="en-US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7806484" y="5795159"/>
            <a:ext cx="3183890" cy="418704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anose="02010600030101010101" pitchFamily="2" charset="-122"/>
              </a:rPr>
              <a:t>采用组合式</a:t>
            </a:r>
            <a:r>
              <a:rPr lang="en-US" altLang="zh-CN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anose="02010600030101010101" pitchFamily="2" charset="-122"/>
              </a:rPr>
              <a:t>API</a:t>
            </a: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anose="02010600030101010101" pitchFamily="2" charset="-122"/>
              </a:rPr>
              <a:t>，提升开发效率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806484" y="4749949"/>
            <a:ext cx="820420" cy="610870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spc="300" dirty="0">
                <a:solidFill>
                  <a:srgbClr val="2A73BC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01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4272952C-3E75-D0C6-32AF-C3767EF59AE8}"/>
              </a:ext>
            </a:extLst>
          </p:cNvPr>
          <p:cNvGrpSpPr/>
          <p:nvPr/>
        </p:nvGrpSpPr>
        <p:grpSpPr>
          <a:xfrm>
            <a:off x="7805214" y="3524506"/>
            <a:ext cx="1939384" cy="735965"/>
            <a:chOff x="5131" y="3875"/>
            <a:chExt cx="2234" cy="1159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274E3CF9-BF2C-295C-D8B0-FF18EE5D0711}"/>
                </a:ext>
              </a:extLst>
            </p:cNvPr>
            <p:cNvSpPr/>
            <p:nvPr/>
          </p:nvSpPr>
          <p:spPr>
            <a:xfrm>
              <a:off x="5131" y="3920"/>
              <a:ext cx="2234" cy="678"/>
            </a:xfrm>
            <a:prstGeom prst="rect">
              <a:avLst/>
            </a:prstGeom>
            <a:solidFill>
              <a:srgbClr val="2A73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A5919B04-8267-21BA-FD3E-52F0ED8D5DFC}"/>
                </a:ext>
              </a:extLst>
            </p:cNvPr>
            <p:cNvSpPr txBox="1"/>
            <p:nvPr/>
          </p:nvSpPr>
          <p:spPr>
            <a:xfrm>
              <a:off x="5132" y="3875"/>
              <a:ext cx="2227" cy="1159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TypeScript 5.9.0 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CDB13CF-462D-03C6-509E-BC1FD2056692}"/>
              </a:ext>
            </a:extLst>
          </p:cNvPr>
          <p:cNvSpPr txBox="1"/>
          <p:nvPr/>
        </p:nvSpPr>
        <p:spPr>
          <a:xfrm>
            <a:off x="2757388" y="682757"/>
            <a:ext cx="820420" cy="610870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spc="300" dirty="0">
                <a:solidFill>
                  <a:srgbClr val="2A73BC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2800" spc="300" dirty="0">
                <a:solidFill>
                  <a:srgbClr val="2A73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6</a:t>
            </a:r>
            <a:endParaRPr lang="en-US" altLang="zh-CN" sz="2800" spc="300" dirty="0">
              <a:solidFill>
                <a:srgbClr val="2A73BC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3CA4F90D-D0D8-6828-8037-E1FFD7A6A50C}"/>
              </a:ext>
            </a:extLst>
          </p:cNvPr>
          <p:cNvGrpSpPr/>
          <p:nvPr/>
        </p:nvGrpSpPr>
        <p:grpSpPr>
          <a:xfrm>
            <a:off x="4897670" y="1613984"/>
            <a:ext cx="2396660" cy="5258753"/>
            <a:chOff x="5198302" y="1599270"/>
            <a:chExt cx="2396660" cy="5258753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AFD90DDC-B58A-E7CB-AEAF-A5631BCF60B4}"/>
                </a:ext>
              </a:extLst>
            </p:cNvPr>
            <p:cNvGrpSpPr/>
            <p:nvPr/>
          </p:nvGrpSpPr>
          <p:grpSpPr>
            <a:xfrm>
              <a:off x="5198302" y="2741295"/>
              <a:ext cx="2396660" cy="4116728"/>
              <a:chOff x="7996" y="2639"/>
              <a:chExt cx="4032" cy="6925"/>
            </a:xfrm>
            <a:gradFill>
              <a:gsLst>
                <a:gs pos="0">
                  <a:srgbClr val="B2E9A2"/>
                </a:gs>
                <a:gs pos="100000">
                  <a:srgbClr val="74C591"/>
                </a:gs>
              </a:gsLst>
              <a:lin ang="2700000" scaled="0"/>
            </a:gradFill>
          </p:grpSpPr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79BD9E1D-D90F-8148-0543-7C39B7CFAA41}"/>
                  </a:ext>
                </a:extLst>
              </p:cNvPr>
              <p:cNvGrpSpPr/>
              <p:nvPr/>
            </p:nvGrpSpPr>
            <p:grpSpPr>
              <a:xfrm>
                <a:off x="8708" y="7460"/>
                <a:ext cx="2771" cy="2104"/>
                <a:chOff x="8708" y="7460"/>
                <a:chExt cx="2771" cy="2104"/>
              </a:xfrm>
              <a:grpFill/>
            </p:grpSpPr>
            <p:sp>
              <p:nvSpPr>
                <p:cNvPr id="67" name="矩形 66">
                  <a:extLst>
                    <a:ext uri="{FF2B5EF4-FFF2-40B4-BE49-F238E27FC236}">
                      <a16:creationId xmlns:a16="http://schemas.microsoft.com/office/drawing/2014/main" id="{5E4F5272-E62F-A8E4-281F-0421259AFCFB}"/>
                    </a:ext>
                  </a:extLst>
                </p:cNvPr>
                <p:cNvSpPr/>
                <p:nvPr/>
              </p:nvSpPr>
              <p:spPr>
                <a:xfrm>
                  <a:off x="8769" y="8853"/>
                  <a:ext cx="919" cy="711"/>
                </a:xfrm>
                <a:prstGeom prst="rect">
                  <a:avLst/>
                </a:prstGeom>
                <a:solidFill>
                  <a:srgbClr val="2A73B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solidFill>
                      <a:srgbClr val="AC8A2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68" name="右箭头 5">
                  <a:extLst>
                    <a:ext uri="{FF2B5EF4-FFF2-40B4-BE49-F238E27FC236}">
                      <a16:creationId xmlns:a16="http://schemas.microsoft.com/office/drawing/2014/main" id="{D2E57BCC-3FFC-71D1-E6F9-24CA353AD4B9}"/>
                    </a:ext>
                  </a:extLst>
                </p:cNvPr>
                <p:cNvSpPr/>
                <p:nvPr/>
              </p:nvSpPr>
              <p:spPr>
                <a:xfrm rot="19200000">
                  <a:off x="8708" y="7460"/>
                  <a:ext cx="2771" cy="1652"/>
                </a:xfrm>
                <a:prstGeom prst="rightArrow">
                  <a:avLst/>
                </a:prstGeom>
                <a:solidFill>
                  <a:srgbClr val="2A73B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solidFill>
                      <a:srgbClr val="AC8A2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endParaRPr>
                </a:p>
              </p:txBody>
            </p:sp>
          </p:grpSp>
          <p:sp>
            <p:nvSpPr>
              <p:cNvPr id="63" name="右箭头 6">
                <a:extLst>
                  <a:ext uri="{FF2B5EF4-FFF2-40B4-BE49-F238E27FC236}">
                    <a16:creationId xmlns:a16="http://schemas.microsoft.com/office/drawing/2014/main" id="{21A86BF6-F48B-AB7A-CA26-ED1865111F94}"/>
                  </a:ext>
                </a:extLst>
              </p:cNvPr>
              <p:cNvSpPr/>
              <p:nvPr/>
            </p:nvSpPr>
            <p:spPr>
              <a:xfrm rot="3000000" flipH="1">
                <a:off x="7436" y="6095"/>
                <a:ext cx="2771" cy="1651"/>
              </a:xfrm>
              <a:prstGeom prst="rightArrow">
                <a:avLst/>
              </a:prstGeom>
              <a:solidFill>
                <a:srgbClr val="7AA8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AC8A2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64" name="右箭头 16">
                <a:extLst>
                  <a:ext uri="{FF2B5EF4-FFF2-40B4-BE49-F238E27FC236}">
                    <a16:creationId xmlns:a16="http://schemas.microsoft.com/office/drawing/2014/main" id="{057BADC7-4B9F-C5C9-D1D0-7FE12208EEFC}"/>
                  </a:ext>
                </a:extLst>
              </p:cNvPr>
              <p:cNvSpPr/>
              <p:nvPr/>
            </p:nvSpPr>
            <p:spPr>
              <a:xfrm rot="19200000">
                <a:off x="8894" y="4937"/>
                <a:ext cx="2771" cy="1652"/>
              </a:xfrm>
              <a:prstGeom prst="rightArrow">
                <a:avLst/>
              </a:prstGeom>
              <a:solidFill>
                <a:srgbClr val="2A73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AC8A2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65" name="右箭头 20">
                <a:extLst>
                  <a:ext uri="{FF2B5EF4-FFF2-40B4-BE49-F238E27FC236}">
                    <a16:creationId xmlns:a16="http://schemas.microsoft.com/office/drawing/2014/main" id="{CE05D679-4471-D89B-0866-2DC4C8F73E44}"/>
                  </a:ext>
                </a:extLst>
              </p:cNvPr>
              <p:cNvSpPr/>
              <p:nvPr/>
            </p:nvSpPr>
            <p:spPr>
              <a:xfrm rot="3000000" flipH="1">
                <a:off x="7613" y="3581"/>
                <a:ext cx="2771" cy="1651"/>
              </a:xfrm>
              <a:prstGeom prst="rightArrow">
                <a:avLst/>
              </a:prstGeom>
              <a:solidFill>
                <a:srgbClr val="7AA8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AC8A2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66" name="右箭头 17">
                <a:extLst>
                  <a:ext uri="{FF2B5EF4-FFF2-40B4-BE49-F238E27FC236}">
                    <a16:creationId xmlns:a16="http://schemas.microsoft.com/office/drawing/2014/main" id="{42D30D5C-7B10-1400-D9E9-BE0C7BD0C582}"/>
                  </a:ext>
                </a:extLst>
              </p:cNvPr>
              <p:cNvSpPr/>
              <p:nvPr/>
            </p:nvSpPr>
            <p:spPr>
              <a:xfrm rot="19200000">
                <a:off x="9257" y="2639"/>
                <a:ext cx="2771" cy="1652"/>
              </a:xfrm>
              <a:prstGeom prst="rightArrow">
                <a:avLst/>
              </a:prstGeom>
              <a:solidFill>
                <a:srgbClr val="2A73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AC8A2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61" name="右箭头 20">
              <a:extLst>
                <a:ext uri="{FF2B5EF4-FFF2-40B4-BE49-F238E27FC236}">
                  <a16:creationId xmlns:a16="http://schemas.microsoft.com/office/drawing/2014/main" id="{06BF0139-7B24-BA02-1CA7-6B69BEC06B67}"/>
                </a:ext>
              </a:extLst>
            </p:cNvPr>
            <p:cNvSpPr/>
            <p:nvPr/>
          </p:nvSpPr>
          <p:spPr>
            <a:xfrm rot="3000000" flipH="1">
              <a:off x="5186327" y="1932228"/>
              <a:ext cx="1647286" cy="981370"/>
            </a:xfrm>
            <a:prstGeom prst="rightArrow">
              <a:avLst/>
            </a:prstGeom>
            <a:solidFill>
              <a:srgbClr val="7AA8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rgbClr val="AC8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72" name="文本框 71">
            <a:extLst>
              <a:ext uri="{FF2B5EF4-FFF2-40B4-BE49-F238E27FC236}">
                <a16:creationId xmlns:a16="http://schemas.microsoft.com/office/drawing/2014/main" id="{2FD084A6-5039-7CCA-43F2-4B792F2389F2}"/>
              </a:ext>
            </a:extLst>
          </p:cNvPr>
          <p:cNvSpPr txBox="1"/>
          <p:nvPr/>
        </p:nvSpPr>
        <p:spPr>
          <a:xfrm>
            <a:off x="7871171" y="4011191"/>
            <a:ext cx="1744981" cy="57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提供静态类型检查，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增强代码可维护性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B93654-5C66-C931-675C-8551EB699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未标题-1-02">
            <a:extLst>
              <a:ext uri="{FF2B5EF4-FFF2-40B4-BE49-F238E27FC236}">
                <a16:creationId xmlns:a16="http://schemas.microsoft.com/office/drawing/2014/main" id="{B7D61C72-7942-6F8F-66B3-9609BE8EF6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23" b="26938"/>
          <a:stretch>
            <a:fillRect/>
          </a:stretch>
        </p:blipFill>
        <p:spPr>
          <a:xfrm rot="10800000" flipH="1">
            <a:off x="0" y="0"/>
            <a:ext cx="1744980" cy="274129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6D7DBE4-B433-F024-3E82-8BC3E14D3EDA}"/>
              </a:ext>
            </a:extLst>
          </p:cNvPr>
          <p:cNvSpPr txBox="1"/>
          <p:nvPr/>
        </p:nvSpPr>
        <p:spPr>
          <a:xfrm>
            <a:off x="1332865" y="196215"/>
            <a:ext cx="3032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技术栈详情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后端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0207C77-C1A8-18A6-B106-4F16B315696F}"/>
              </a:ext>
            </a:extLst>
          </p:cNvPr>
          <p:cNvGrpSpPr/>
          <p:nvPr/>
        </p:nvGrpSpPr>
        <p:grpSpPr>
          <a:xfrm>
            <a:off x="2935969" y="2869091"/>
            <a:ext cx="1418590" cy="459105"/>
            <a:chOff x="5131" y="3875"/>
            <a:chExt cx="2234" cy="72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E882B58-D67C-2D23-6AC2-3FEFC3CA337E}"/>
                </a:ext>
              </a:extLst>
            </p:cNvPr>
            <p:cNvSpPr/>
            <p:nvPr/>
          </p:nvSpPr>
          <p:spPr>
            <a:xfrm>
              <a:off x="5131" y="3920"/>
              <a:ext cx="2234" cy="678"/>
            </a:xfrm>
            <a:prstGeom prst="rect">
              <a:avLst/>
            </a:prstGeom>
            <a:solidFill>
              <a:srgbClr val="2A73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6C082B6-6C18-1A8C-E56D-E7BD659EC049}"/>
                </a:ext>
              </a:extLst>
            </p:cNvPr>
            <p:cNvSpPr txBox="1"/>
            <p:nvPr/>
          </p:nvSpPr>
          <p:spPr>
            <a:xfrm>
              <a:off x="5132" y="3875"/>
              <a:ext cx="2227" cy="723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JWT</a:t>
              </a:r>
              <a:endParaRPr lang="zh-CN" altLang="en-US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25EC64B9-A9F1-92F9-9AE7-E953559865E8}"/>
              </a:ext>
            </a:extLst>
          </p:cNvPr>
          <p:cNvSpPr txBox="1"/>
          <p:nvPr/>
        </p:nvSpPr>
        <p:spPr>
          <a:xfrm>
            <a:off x="3018917" y="3356771"/>
            <a:ext cx="1203052" cy="418704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anose="02010600030101010101" pitchFamily="2" charset="-122"/>
              </a:rPr>
              <a:t>无状态认证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FFE511-52AF-6C93-053A-9081C6AA7AA0}"/>
              </a:ext>
            </a:extLst>
          </p:cNvPr>
          <p:cNvSpPr txBox="1"/>
          <p:nvPr/>
        </p:nvSpPr>
        <p:spPr>
          <a:xfrm>
            <a:off x="3530329" y="2305846"/>
            <a:ext cx="820420" cy="610870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2800" spc="300" dirty="0">
                <a:solidFill>
                  <a:srgbClr val="2A73BC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04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428F123-AA43-9AA9-9FF8-FA14B7DB5A2D}"/>
              </a:ext>
            </a:extLst>
          </p:cNvPr>
          <p:cNvGrpSpPr/>
          <p:nvPr/>
        </p:nvGrpSpPr>
        <p:grpSpPr>
          <a:xfrm>
            <a:off x="2014609" y="4588487"/>
            <a:ext cx="2339950" cy="459105"/>
            <a:chOff x="5131" y="3875"/>
            <a:chExt cx="2234" cy="723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8BEB08A-2B13-576A-817D-F52506778BE0}"/>
                </a:ext>
              </a:extLst>
            </p:cNvPr>
            <p:cNvSpPr/>
            <p:nvPr/>
          </p:nvSpPr>
          <p:spPr>
            <a:xfrm>
              <a:off x="5131" y="3920"/>
              <a:ext cx="2234" cy="678"/>
            </a:xfrm>
            <a:prstGeom prst="rect">
              <a:avLst/>
            </a:prstGeom>
            <a:solidFill>
              <a:srgbClr val="2A73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C16CAA3-D333-3379-1AF8-2193CF754688}"/>
                </a:ext>
              </a:extLst>
            </p:cNvPr>
            <p:cNvSpPr txBox="1"/>
            <p:nvPr/>
          </p:nvSpPr>
          <p:spPr>
            <a:xfrm>
              <a:off x="5132" y="3875"/>
              <a:ext cx="2227" cy="723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MyBatis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 Plus 3.5.6</a:t>
              </a:r>
              <a:endParaRPr lang="zh-CN" altLang="en-US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6F599B1C-97D2-99E8-707F-C536FBA6EF9E}"/>
              </a:ext>
            </a:extLst>
          </p:cNvPr>
          <p:cNvSpPr txBox="1"/>
          <p:nvPr/>
        </p:nvSpPr>
        <p:spPr>
          <a:xfrm>
            <a:off x="2231753" y="5076167"/>
            <a:ext cx="1907268" cy="677237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anose="02010600030101010101" pitchFamily="2" charset="-122"/>
              </a:rPr>
              <a:t>ORM</a:t>
            </a: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anose="02010600030101010101" pitchFamily="2" charset="-122"/>
              </a:rPr>
              <a:t>框架，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anose="02010600030101010101" pitchFamily="2" charset="-122"/>
              </a:rPr>
              <a:t>简化数据库操作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BB4ABFD-0902-2100-140D-9F1FAB913921}"/>
              </a:ext>
            </a:extLst>
          </p:cNvPr>
          <p:cNvSpPr txBox="1"/>
          <p:nvPr/>
        </p:nvSpPr>
        <p:spPr>
          <a:xfrm>
            <a:off x="3530329" y="4025242"/>
            <a:ext cx="820420" cy="610870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2800" spc="300" dirty="0">
                <a:solidFill>
                  <a:srgbClr val="2A73BC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02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949C74C-4DA1-8123-B88E-AF08ACD9BEC9}"/>
              </a:ext>
            </a:extLst>
          </p:cNvPr>
          <p:cNvGrpSpPr/>
          <p:nvPr/>
        </p:nvGrpSpPr>
        <p:grpSpPr>
          <a:xfrm>
            <a:off x="7758242" y="1944980"/>
            <a:ext cx="2030186" cy="459105"/>
            <a:chOff x="5131" y="3875"/>
            <a:chExt cx="2234" cy="723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B3A6C13-1F1A-49EB-55D7-10A35567E88F}"/>
                </a:ext>
              </a:extLst>
            </p:cNvPr>
            <p:cNvSpPr/>
            <p:nvPr/>
          </p:nvSpPr>
          <p:spPr>
            <a:xfrm>
              <a:off x="5131" y="3920"/>
              <a:ext cx="2234" cy="678"/>
            </a:xfrm>
            <a:prstGeom prst="rect">
              <a:avLst/>
            </a:prstGeom>
            <a:solidFill>
              <a:srgbClr val="2A73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5858CB2-2DAA-D268-1A8E-B91F1B045682}"/>
                </a:ext>
              </a:extLst>
            </p:cNvPr>
            <p:cNvSpPr txBox="1"/>
            <p:nvPr/>
          </p:nvSpPr>
          <p:spPr>
            <a:xfrm>
              <a:off x="5132" y="3875"/>
              <a:ext cx="2227" cy="723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Redis</a:t>
              </a:r>
              <a:endParaRPr lang="zh-CN" altLang="en-US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DD4F3B13-323D-C44C-959D-6AA3118CE627}"/>
              </a:ext>
            </a:extLst>
          </p:cNvPr>
          <p:cNvSpPr txBox="1"/>
          <p:nvPr/>
        </p:nvSpPr>
        <p:spPr>
          <a:xfrm>
            <a:off x="7758877" y="2426945"/>
            <a:ext cx="3183890" cy="418704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anose="02010600030101010101" pitchFamily="2" charset="-122"/>
              </a:rPr>
              <a:t>缓存，提升系统性能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CF88FE1-77F7-3F6F-75AC-0A13184C794E}"/>
              </a:ext>
            </a:extLst>
          </p:cNvPr>
          <p:cNvSpPr txBox="1"/>
          <p:nvPr/>
        </p:nvSpPr>
        <p:spPr>
          <a:xfrm>
            <a:off x="7758877" y="1381735"/>
            <a:ext cx="820420" cy="610870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spc="300" dirty="0">
                <a:solidFill>
                  <a:srgbClr val="2A73BC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05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0EDB932-51CA-3480-EE61-967551060DA4}"/>
              </a:ext>
            </a:extLst>
          </p:cNvPr>
          <p:cNvGrpSpPr/>
          <p:nvPr/>
        </p:nvGrpSpPr>
        <p:grpSpPr>
          <a:xfrm>
            <a:off x="7758241" y="3727850"/>
            <a:ext cx="2023825" cy="459105"/>
            <a:chOff x="5131" y="3875"/>
            <a:chExt cx="2234" cy="723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E05A2055-F86C-9DD2-75FE-9AC849E2DC62}"/>
                </a:ext>
              </a:extLst>
            </p:cNvPr>
            <p:cNvSpPr/>
            <p:nvPr/>
          </p:nvSpPr>
          <p:spPr>
            <a:xfrm>
              <a:off x="5131" y="3920"/>
              <a:ext cx="2234" cy="678"/>
            </a:xfrm>
            <a:prstGeom prst="rect">
              <a:avLst/>
            </a:prstGeom>
            <a:solidFill>
              <a:srgbClr val="2A73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0916764B-F1E8-5F66-DE8E-BBD090601BE7}"/>
                </a:ext>
              </a:extLst>
            </p:cNvPr>
            <p:cNvSpPr txBox="1"/>
            <p:nvPr/>
          </p:nvSpPr>
          <p:spPr>
            <a:xfrm>
              <a:off x="5132" y="3875"/>
              <a:ext cx="2227" cy="723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Spring Security</a:t>
              </a:r>
              <a:endParaRPr lang="zh-CN" altLang="en-US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8477098E-E3D5-D745-B833-D055D145E450}"/>
              </a:ext>
            </a:extLst>
          </p:cNvPr>
          <p:cNvSpPr txBox="1"/>
          <p:nvPr/>
        </p:nvSpPr>
        <p:spPr>
          <a:xfrm>
            <a:off x="7569199" y="4215530"/>
            <a:ext cx="2525371" cy="406330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Times New Roman" panose="02020603050405020304" pitchFamily="18" charset="0"/>
              </a:rPr>
              <a:t>安全框架，处理认证和授权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21EDA02-FA67-CF39-A8E2-AD4FD71DE1B8}"/>
              </a:ext>
            </a:extLst>
          </p:cNvPr>
          <p:cNvSpPr txBox="1"/>
          <p:nvPr/>
        </p:nvSpPr>
        <p:spPr>
          <a:xfrm>
            <a:off x="7758877" y="3164605"/>
            <a:ext cx="820420" cy="610870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spc="300" dirty="0">
                <a:solidFill>
                  <a:srgbClr val="2A73BC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03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ECAB0F00-2DEC-4126-4514-51C5A13A0494}"/>
              </a:ext>
            </a:extLst>
          </p:cNvPr>
          <p:cNvGrpSpPr/>
          <p:nvPr/>
        </p:nvGrpSpPr>
        <p:grpSpPr>
          <a:xfrm>
            <a:off x="7758242" y="5391762"/>
            <a:ext cx="2152106" cy="459105"/>
            <a:chOff x="5131" y="3875"/>
            <a:chExt cx="2234" cy="723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094D55D3-84F6-592B-95AF-E3C845E38514}"/>
                </a:ext>
              </a:extLst>
            </p:cNvPr>
            <p:cNvSpPr/>
            <p:nvPr/>
          </p:nvSpPr>
          <p:spPr>
            <a:xfrm>
              <a:off x="5131" y="3920"/>
              <a:ext cx="2234" cy="678"/>
            </a:xfrm>
            <a:prstGeom prst="rect">
              <a:avLst/>
            </a:prstGeom>
            <a:solidFill>
              <a:srgbClr val="2A73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D82220A1-7D6F-5A38-2B20-32C59D3D4EC1}"/>
                </a:ext>
              </a:extLst>
            </p:cNvPr>
            <p:cNvSpPr txBox="1"/>
            <p:nvPr/>
          </p:nvSpPr>
          <p:spPr>
            <a:xfrm>
              <a:off x="5132" y="3875"/>
              <a:ext cx="2227" cy="723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Spring Boot 3.5.6</a:t>
              </a:r>
              <a:endParaRPr lang="zh-CN" altLang="en-US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EEBDE1C6-DD94-1522-8017-0FB2F8B46A9F}"/>
              </a:ext>
            </a:extLst>
          </p:cNvPr>
          <p:cNvSpPr txBox="1"/>
          <p:nvPr/>
        </p:nvSpPr>
        <p:spPr>
          <a:xfrm>
            <a:off x="8095781" y="5852023"/>
            <a:ext cx="1472209" cy="418704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anose="02010600030101010101" pitchFamily="2" charset="-122"/>
              </a:rPr>
              <a:t>快速开发框架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57E7DFE-4F43-7CB8-2FBB-658D5EBA5162}"/>
              </a:ext>
            </a:extLst>
          </p:cNvPr>
          <p:cNvSpPr txBox="1"/>
          <p:nvPr/>
        </p:nvSpPr>
        <p:spPr>
          <a:xfrm>
            <a:off x="7758877" y="4828517"/>
            <a:ext cx="820420" cy="610870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spc="300" dirty="0">
                <a:solidFill>
                  <a:srgbClr val="2A73BC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01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8CA5D908-B01C-B279-3D90-827D38154838}"/>
              </a:ext>
            </a:extLst>
          </p:cNvPr>
          <p:cNvGrpSpPr/>
          <p:nvPr/>
        </p:nvGrpSpPr>
        <p:grpSpPr>
          <a:xfrm>
            <a:off x="4897670" y="1599247"/>
            <a:ext cx="2396660" cy="5258753"/>
            <a:chOff x="5198302" y="1599270"/>
            <a:chExt cx="2396660" cy="5258753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873DD93B-DA3E-B97B-B5D9-9AA35CA2E986}"/>
                </a:ext>
              </a:extLst>
            </p:cNvPr>
            <p:cNvGrpSpPr/>
            <p:nvPr/>
          </p:nvGrpSpPr>
          <p:grpSpPr>
            <a:xfrm>
              <a:off x="5198302" y="2741295"/>
              <a:ext cx="2396660" cy="4116728"/>
              <a:chOff x="7996" y="2639"/>
              <a:chExt cx="4032" cy="6925"/>
            </a:xfrm>
            <a:gradFill>
              <a:gsLst>
                <a:gs pos="0">
                  <a:srgbClr val="B2E9A2"/>
                </a:gs>
                <a:gs pos="100000">
                  <a:srgbClr val="74C591"/>
                </a:gs>
              </a:gsLst>
              <a:lin ang="2700000" scaled="0"/>
            </a:gradFill>
          </p:grpSpPr>
          <p:grpSp>
            <p:nvGrpSpPr>
              <p:cNvPr id="71" name="组合 70">
                <a:extLst>
                  <a:ext uri="{FF2B5EF4-FFF2-40B4-BE49-F238E27FC236}">
                    <a16:creationId xmlns:a16="http://schemas.microsoft.com/office/drawing/2014/main" id="{DEEE0E37-3F81-7B6D-F3B6-C0666323ED62}"/>
                  </a:ext>
                </a:extLst>
              </p:cNvPr>
              <p:cNvGrpSpPr/>
              <p:nvPr/>
            </p:nvGrpSpPr>
            <p:grpSpPr>
              <a:xfrm>
                <a:off x="8708" y="7460"/>
                <a:ext cx="2771" cy="2104"/>
                <a:chOff x="8708" y="7460"/>
                <a:chExt cx="2771" cy="2104"/>
              </a:xfrm>
              <a:grpFill/>
            </p:grpSpPr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C8D64F17-45A0-28C4-CA48-68544D2E143C}"/>
                    </a:ext>
                  </a:extLst>
                </p:cNvPr>
                <p:cNvSpPr/>
                <p:nvPr/>
              </p:nvSpPr>
              <p:spPr>
                <a:xfrm>
                  <a:off x="8769" y="8853"/>
                  <a:ext cx="919" cy="711"/>
                </a:xfrm>
                <a:prstGeom prst="rect">
                  <a:avLst/>
                </a:prstGeom>
                <a:solidFill>
                  <a:srgbClr val="2A73B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solidFill>
                      <a:srgbClr val="AC8A2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78" name="右箭头 5">
                  <a:extLst>
                    <a:ext uri="{FF2B5EF4-FFF2-40B4-BE49-F238E27FC236}">
                      <a16:creationId xmlns:a16="http://schemas.microsoft.com/office/drawing/2014/main" id="{FFE43D05-CE79-6DA4-A55D-CDE611DDED4E}"/>
                    </a:ext>
                  </a:extLst>
                </p:cNvPr>
                <p:cNvSpPr/>
                <p:nvPr/>
              </p:nvSpPr>
              <p:spPr>
                <a:xfrm rot="19200000">
                  <a:off x="8708" y="7460"/>
                  <a:ext cx="2771" cy="1652"/>
                </a:xfrm>
                <a:prstGeom prst="rightArrow">
                  <a:avLst/>
                </a:prstGeom>
                <a:solidFill>
                  <a:srgbClr val="2A73B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solidFill>
                      <a:srgbClr val="AC8A2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endParaRPr>
                </a:p>
              </p:txBody>
            </p:sp>
          </p:grpSp>
          <p:sp>
            <p:nvSpPr>
              <p:cNvPr id="73" name="右箭头 6">
                <a:extLst>
                  <a:ext uri="{FF2B5EF4-FFF2-40B4-BE49-F238E27FC236}">
                    <a16:creationId xmlns:a16="http://schemas.microsoft.com/office/drawing/2014/main" id="{9BCEBD74-9082-139F-0819-499425F0CDAE}"/>
                  </a:ext>
                </a:extLst>
              </p:cNvPr>
              <p:cNvSpPr/>
              <p:nvPr/>
            </p:nvSpPr>
            <p:spPr>
              <a:xfrm rot="3000000" flipH="1">
                <a:off x="7436" y="6095"/>
                <a:ext cx="2771" cy="1651"/>
              </a:xfrm>
              <a:prstGeom prst="rightArrow">
                <a:avLst/>
              </a:prstGeom>
              <a:solidFill>
                <a:srgbClr val="7AA8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AC8A2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74" name="右箭头 16">
                <a:extLst>
                  <a:ext uri="{FF2B5EF4-FFF2-40B4-BE49-F238E27FC236}">
                    <a16:creationId xmlns:a16="http://schemas.microsoft.com/office/drawing/2014/main" id="{763DB693-E6C6-3173-6461-036557AE2C62}"/>
                  </a:ext>
                </a:extLst>
              </p:cNvPr>
              <p:cNvSpPr/>
              <p:nvPr/>
            </p:nvSpPr>
            <p:spPr>
              <a:xfrm rot="19200000">
                <a:off x="8894" y="4937"/>
                <a:ext cx="2771" cy="1652"/>
              </a:xfrm>
              <a:prstGeom prst="rightArrow">
                <a:avLst/>
              </a:prstGeom>
              <a:solidFill>
                <a:srgbClr val="2A73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AC8A2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75" name="右箭头 20">
                <a:extLst>
                  <a:ext uri="{FF2B5EF4-FFF2-40B4-BE49-F238E27FC236}">
                    <a16:creationId xmlns:a16="http://schemas.microsoft.com/office/drawing/2014/main" id="{F7933074-B4AF-B250-C2FA-4881B1593C31}"/>
                  </a:ext>
                </a:extLst>
              </p:cNvPr>
              <p:cNvSpPr/>
              <p:nvPr/>
            </p:nvSpPr>
            <p:spPr>
              <a:xfrm rot="3000000" flipH="1">
                <a:off x="7613" y="3581"/>
                <a:ext cx="2771" cy="1651"/>
              </a:xfrm>
              <a:prstGeom prst="rightArrow">
                <a:avLst/>
              </a:prstGeom>
              <a:solidFill>
                <a:srgbClr val="7AA8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AC8A2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76" name="右箭头 17">
                <a:extLst>
                  <a:ext uri="{FF2B5EF4-FFF2-40B4-BE49-F238E27FC236}">
                    <a16:creationId xmlns:a16="http://schemas.microsoft.com/office/drawing/2014/main" id="{A025EE03-6376-5F8F-E02C-9014A2E1A6B3}"/>
                  </a:ext>
                </a:extLst>
              </p:cNvPr>
              <p:cNvSpPr/>
              <p:nvPr/>
            </p:nvSpPr>
            <p:spPr>
              <a:xfrm rot="19200000">
                <a:off x="9257" y="2639"/>
                <a:ext cx="2771" cy="1652"/>
              </a:xfrm>
              <a:prstGeom prst="rightArrow">
                <a:avLst/>
              </a:prstGeom>
              <a:solidFill>
                <a:srgbClr val="2A73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rgbClr val="AC8A2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70" name="右箭头 20">
              <a:extLst>
                <a:ext uri="{FF2B5EF4-FFF2-40B4-BE49-F238E27FC236}">
                  <a16:creationId xmlns:a16="http://schemas.microsoft.com/office/drawing/2014/main" id="{0EB2CE44-A1D8-E3F1-FCE5-8512B05120F0}"/>
                </a:ext>
              </a:extLst>
            </p:cNvPr>
            <p:cNvSpPr/>
            <p:nvPr/>
          </p:nvSpPr>
          <p:spPr>
            <a:xfrm rot="3000000" flipH="1">
              <a:off x="5186327" y="1932228"/>
              <a:ext cx="1647286" cy="981370"/>
            </a:xfrm>
            <a:prstGeom prst="rightArrow">
              <a:avLst/>
            </a:prstGeom>
            <a:solidFill>
              <a:srgbClr val="7AA8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rgbClr val="AC8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73A51B12-D83C-0319-3199-6C314F40E4F6}"/>
              </a:ext>
            </a:extLst>
          </p:cNvPr>
          <p:cNvGrpSpPr/>
          <p:nvPr/>
        </p:nvGrpSpPr>
        <p:grpSpPr>
          <a:xfrm>
            <a:off x="2936921" y="1350672"/>
            <a:ext cx="1413510" cy="459105"/>
            <a:chOff x="5131" y="3875"/>
            <a:chExt cx="2234" cy="723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F085C8E2-4988-F2D5-708C-67D4BAC0404B}"/>
                </a:ext>
              </a:extLst>
            </p:cNvPr>
            <p:cNvSpPr/>
            <p:nvPr/>
          </p:nvSpPr>
          <p:spPr>
            <a:xfrm>
              <a:off x="5131" y="3920"/>
              <a:ext cx="2234" cy="678"/>
            </a:xfrm>
            <a:prstGeom prst="rect">
              <a:avLst/>
            </a:prstGeom>
            <a:solidFill>
              <a:srgbClr val="2A73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F5ACF495-B30A-13D5-E7AA-A202F245589C}"/>
                </a:ext>
              </a:extLst>
            </p:cNvPr>
            <p:cNvSpPr txBox="1"/>
            <p:nvPr/>
          </p:nvSpPr>
          <p:spPr>
            <a:xfrm>
              <a:off x="5132" y="3875"/>
              <a:ext cx="2227" cy="723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Swagger</a:t>
              </a:r>
              <a:endParaRPr lang="zh-CN" altLang="en-US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82" name="文本框 81">
            <a:extLst>
              <a:ext uri="{FF2B5EF4-FFF2-40B4-BE49-F238E27FC236}">
                <a16:creationId xmlns:a16="http://schemas.microsoft.com/office/drawing/2014/main" id="{02CCFE9A-BF7F-BDE1-DDE4-A58528D34920}"/>
              </a:ext>
            </a:extLst>
          </p:cNvPr>
          <p:cNvSpPr txBox="1"/>
          <p:nvPr/>
        </p:nvSpPr>
        <p:spPr>
          <a:xfrm>
            <a:off x="2966533" y="1838352"/>
            <a:ext cx="1295976" cy="418704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anose="02010600030101010101" pitchFamily="2" charset="-122"/>
              </a:rPr>
              <a:t>API</a:t>
            </a:r>
            <a:r>
              <a:rPr lang="zh-CN" altLang="en-US" sz="1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宋体" panose="02010600030101010101" pitchFamily="2" charset="-122"/>
              </a:rPr>
              <a:t>文档生成</a:t>
            </a:r>
            <a:endParaRPr lang="en-US" altLang="zh-CN" sz="1400" spc="1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61C9620-F018-2FAE-ECD6-4B4AA38C1F54}"/>
              </a:ext>
            </a:extLst>
          </p:cNvPr>
          <p:cNvSpPr txBox="1"/>
          <p:nvPr/>
        </p:nvSpPr>
        <p:spPr>
          <a:xfrm>
            <a:off x="2937556" y="787427"/>
            <a:ext cx="820420" cy="610870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spc="300" dirty="0">
                <a:solidFill>
                  <a:srgbClr val="2A73BC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2800" spc="300" dirty="0">
                <a:solidFill>
                  <a:srgbClr val="2A73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6</a:t>
            </a:r>
            <a:endParaRPr lang="en-US" altLang="zh-CN" sz="2800" spc="300" dirty="0">
              <a:solidFill>
                <a:srgbClr val="2A73BC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294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6D63E-80E6-7E85-35B0-872C74D7D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未标题-1-02">
            <a:extLst>
              <a:ext uri="{FF2B5EF4-FFF2-40B4-BE49-F238E27FC236}">
                <a16:creationId xmlns:a16="http://schemas.microsoft.com/office/drawing/2014/main" id="{A68F4DDE-E355-EC0E-2ABA-C32DF99A3C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23" b="26938"/>
          <a:stretch>
            <a:fillRect/>
          </a:stretch>
        </p:blipFill>
        <p:spPr>
          <a:xfrm rot="10800000" flipH="1">
            <a:off x="0" y="0"/>
            <a:ext cx="1744980" cy="274129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2063D8E-6356-B2DD-7DE5-5B8DB2A31EBB}"/>
              </a:ext>
            </a:extLst>
          </p:cNvPr>
          <p:cNvSpPr txBox="1"/>
          <p:nvPr/>
        </p:nvSpPr>
        <p:spPr>
          <a:xfrm>
            <a:off x="1332865" y="196215"/>
            <a:ext cx="6374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技术栈详情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数据库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E-R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图（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MySQL 8.0.30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389454-ABF4-8223-C7FD-436A7EE1A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036" y="984722"/>
            <a:ext cx="6605928" cy="523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59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4260850" y="1104900"/>
            <a:ext cx="4245610" cy="4245610"/>
            <a:chOff x="7297" y="2629"/>
            <a:chExt cx="5542" cy="5542"/>
          </a:xfrm>
        </p:grpSpPr>
        <p:sp>
          <p:nvSpPr>
            <p:cNvPr id="27" name="矩形 26"/>
            <p:cNvSpPr/>
            <p:nvPr/>
          </p:nvSpPr>
          <p:spPr>
            <a:xfrm rot="2700000">
              <a:off x="7297" y="2629"/>
              <a:ext cx="5542" cy="5542"/>
            </a:xfrm>
            <a:prstGeom prst="rect">
              <a:avLst/>
            </a:prstGeom>
            <a:solidFill>
              <a:srgbClr val="CECDCC">
                <a:alpha val="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 rot="2700000">
              <a:off x="7832" y="3163"/>
              <a:ext cx="4474" cy="4474"/>
            </a:xfrm>
            <a:prstGeom prst="rect">
              <a:avLst/>
            </a:prstGeom>
            <a:solidFill>
              <a:srgbClr val="7AA8D5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2800758" y="2719873"/>
            <a:ext cx="71657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功能实现与核心模块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457508" y="1980565"/>
            <a:ext cx="18522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spc="300" dirty="0">
                <a:solidFill>
                  <a:srgbClr val="2A73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PART 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未标题-1-02"/>
          <p:cNvPicPr>
            <a:picLocks noChangeAspect="1"/>
          </p:cNvPicPr>
          <p:nvPr/>
        </p:nvPicPr>
        <p:blipFill>
          <a:blip r:embed="rId30"/>
          <a:srcRect l="28423" b="26938"/>
          <a:stretch>
            <a:fillRect/>
          </a:stretch>
        </p:blipFill>
        <p:spPr>
          <a:xfrm rot="10800000" flipH="1">
            <a:off x="0" y="0"/>
            <a:ext cx="1744980" cy="27412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2865" y="196215"/>
            <a:ext cx="30321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核心功能模块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38" name="组合 7">
            <a:extLst>
              <a:ext uri="{FF2B5EF4-FFF2-40B4-BE49-F238E27FC236}">
                <a16:creationId xmlns:a16="http://schemas.microsoft.com/office/drawing/2014/main" id="{983A7392-C75E-1765-47AD-9AC5327331E8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332865" y="1016394"/>
            <a:ext cx="10064807" cy="3334473"/>
            <a:chOff x="953019" y="1811502"/>
            <a:chExt cx="10064807" cy="3334473"/>
          </a:xfrm>
        </p:grpSpPr>
        <p:grpSp>
          <p:nvGrpSpPr>
            <p:cNvPr id="139" name="组合 0">
              <a:extLst>
                <a:ext uri="{FF2B5EF4-FFF2-40B4-BE49-F238E27FC236}">
                  <a16:creationId xmlns:a16="http://schemas.microsoft.com/office/drawing/2014/main" id="{248474FF-F40E-09EC-9B4A-818F540DCFFC}"/>
                </a:ext>
              </a:extLst>
            </p:cNvPr>
            <p:cNvGrpSpPr/>
            <p:nvPr/>
          </p:nvGrpSpPr>
          <p:grpSpPr>
            <a:xfrm>
              <a:off x="1072052" y="1811502"/>
              <a:ext cx="9945773" cy="929794"/>
              <a:chOff x="484096" y="1163267"/>
              <a:chExt cx="11143166" cy="929794"/>
            </a:xfrm>
          </p:grpSpPr>
          <p:sp>
            <p:nvSpPr>
              <p:cNvPr id="170" name="0">
                <a:extLst>
                  <a:ext uri="{FF2B5EF4-FFF2-40B4-BE49-F238E27FC236}">
                    <a16:creationId xmlns:a16="http://schemas.microsoft.com/office/drawing/2014/main" id="{6F7E351D-341C-D62B-11D7-7305021A9EB5}"/>
                  </a:ext>
                </a:extLst>
              </p:cNvPr>
              <p:cNvSpPr/>
              <p:nvPr/>
            </p:nvSpPr>
            <p:spPr>
              <a:xfrm>
                <a:off x="484096" y="1163267"/>
                <a:ext cx="11143166" cy="929794"/>
              </a:xfrm>
              <a:custGeom>
                <a:avLst/>
                <a:gdLst/>
                <a:ahLst/>
                <a:cxnLst/>
                <a:rect l="l" t="t" r="r" b="b"/>
                <a:pathLst>
                  <a:path w="11259820" h="793114">
                    <a:moveTo>
                      <a:pt x="5629719" y="0"/>
                    </a:moveTo>
                    <a:lnTo>
                      <a:pt x="0" y="792759"/>
                    </a:lnTo>
                    <a:lnTo>
                      <a:pt x="11259451" y="792759"/>
                    </a:lnTo>
                    <a:lnTo>
                      <a:pt x="5629719" y="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Title-0">
                <a:extLst>
                  <a:ext uri="{FF2B5EF4-FFF2-40B4-BE49-F238E27FC236}">
                    <a16:creationId xmlns:a16="http://schemas.microsoft.com/office/drawing/2014/main" id="{3A58C936-A84B-1DF9-1FCE-FEC6E315831E}"/>
                  </a:ext>
                </a:extLst>
              </p:cNvPr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4801731" y="1450634"/>
                <a:ext cx="2374534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400" b="1" dirty="0">
                    <a:solidFill>
                      <a:schemeClr val="bg1"/>
                    </a:solidFill>
                    <a:latin typeface="+mn-ea"/>
                    <a:cs typeface="Alibaba PuHuiTi" pitchFamily="18" charset="-122"/>
                  </a:rPr>
                  <a:t>核心功能模块</a:t>
                </a:r>
              </a:p>
            </p:txBody>
          </p:sp>
        </p:grpSp>
        <p:grpSp>
          <p:nvGrpSpPr>
            <p:cNvPr id="140" name="组合 1">
              <a:extLst>
                <a:ext uri="{FF2B5EF4-FFF2-40B4-BE49-F238E27FC236}">
                  <a16:creationId xmlns:a16="http://schemas.microsoft.com/office/drawing/2014/main" id="{40326B30-BFF4-0C08-BC39-20CEBF631749}"/>
                </a:ext>
              </a:extLst>
            </p:cNvPr>
            <p:cNvGrpSpPr/>
            <p:nvPr/>
          </p:nvGrpSpPr>
          <p:grpSpPr>
            <a:xfrm>
              <a:off x="953019" y="2904580"/>
              <a:ext cx="1712174" cy="2240368"/>
              <a:chOff x="387244" y="2265489"/>
              <a:chExt cx="1712174" cy="2240368"/>
            </a:xfrm>
          </p:grpSpPr>
          <p:sp>
            <p:nvSpPr>
              <p:cNvPr id="166" name="1">
                <a:extLst>
                  <a:ext uri="{FF2B5EF4-FFF2-40B4-BE49-F238E27FC236}">
                    <a16:creationId xmlns:a16="http://schemas.microsoft.com/office/drawing/2014/main" id="{6E759C38-0417-E110-D185-97921C656F55}"/>
                  </a:ext>
                </a:extLst>
              </p:cNvPr>
              <p:cNvSpPr/>
              <p:nvPr/>
            </p:nvSpPr>
            <p:spPr>
              <a:xfrm>
                <a:off x="504281" y="2265489"/>
                <a:ext cx="1491019" cy="680085"/>
              </a:xfrm>
              <a:custGeom>
                <a:avLst/>
                <a:gdLst/>
                <a:ahLst/>
                <a:cxnLst/>
                <a:rect l="l" t="t" r="r" b="b"/>
                <a:pathLst>
                  <a:path w="3560445" h="680085">
                    <a:moveTo>
                      <a:pt x="3560127" y="0"/>
                    </a:moveTo>
                    <a:lnTo>
                      <a:pt x="0" y="0"/>
                    </a:lnTo>
                    <a:lnTo>
                      <a:pt x="0" y="679500"/>
                    </a:lnTo>
                    <a:lnTo>
                      <a:pt x="3560127" y="679500"/>
                    </a:lnTo>
                    <a:lnTo>
                      <a:pt x="3560127" y="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1">
                <a:extLst>
                  <a:ext uri="{FF2B5EF4-FFF2-40B4-BE49-F238E27FC236}">
                    <a16:creationId xmlns:a16="http://schemas.microsoft.com/office/drawing/2014/main" id="{292B936C-E9AD-7D2E-34E8-CED0549CF0E1}"/>
                  </a:ext>
                </a:extLst>
              </p:cNvPr>
              <p:cNvSpPr/>
              <p:nvPr/>
            </p:nvSpPr>
            <p:spPr>
              <a:xfrm>
                <a:off x="504281" y="3085561"/>
                <a:ext cx="1491019" cy="1420296"/>
              </a:xfrm>
              <a:custGeom>
                <a:avLst/>
                <a:gdLst/>
                <a:ahLst/>
                <a:cxnLst/>
                <a:rect l="l" t="t" r="r" b="b"/>
                <a:pathLst>
                  <a:path w="3560445" h="2541904">
                    <a:moveTo>
                      <a:pt x="3560127" y="2541854"/>
                    </a:moveTo>
                    <a:lnTo>
                      <a:pt x="0" y="2541854"/>
                    </a:lnTo>
                    <a:lnTo>
                      <a:pt x="0" y="0"/>
                    </a:lnTo>
                    <a:lnTo>
                      <a:pt x="3560127" y="0"/>
                    </a:lnTo>
                    <a:lnTo>
                      <a:pt x="3560127" y="2541854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chemeClr val="tx2"/>
                </a:solidFill>
                <a:prstDash val="dash"/>
              </a:ln>
            </p:spPr>
            <p:txBody>
              <a:bodyPr wrap="square" lIns="0" tIns="0" rIns="0" bIns="0" rtlCol="0"/>
              <a:lstStyle/>
              <a:p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Title-1">
                <a:extLst>
                  <a:ext uri="{FF2B5EF4-FFF2-40B4-BE49-F238E27FC236}">
                    <a16:creationId xmlns:a16="http://schemas.microsoft.com/office/drawing/2014/main" id="{C0286951-8C4C-C3F1-8307-5DC0805A97FE}"/>
                  </a:ext>
                </a:extLst>
              </p:cNvPr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387244" y="2420865"/>
                <a:ext cx="1712174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b="1" dirty="0">
                    <a:solidFill>
                      <a:schemeClr val="bg1"/>
                    </a:solidFill>
                    <a:latin typeface="+mn-ea"/>
                    <a:cs typeface="Alibaba PuHuiTi" pitchFamily="18" charset="-122"/>
                  </a:rPr>
                  <a:t>用户认证</a:t>
                </a:r>
              </a:p>
            </p:txBody>
          </p:sp>
          <p:sp>
            <p:nvSpPr>
              <p:cNvPr id="169" name="Body-1">
                <a:extLst>
                  <a:ext uri="{FF2B5EF4-FFF2-40B4-BE49-F238E27FC236}">
                    <a16:creationId xmlns:a16="http://schemas.microsoft.com/office/drawing/2014/main" id="{D7540CB6-5EEE-215E-8651-FEAB47CE0294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 flipH="1">
                <a:off x="641385" y="3108857"/>
                <a:ext cx="1242648" cy="1322221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注册、登录、密码重置（邮箱）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rPr>
                  <a:t>JWT token</a:t>
                </a: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生成与验证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资质、身份认证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64" name="Title-6">
              <a:extLst>
                <a:ext uri="{FF2B5EF4-FFF2-40B4-BE49-F238E27FC236}">
                  <a16:creationId xmlns:a16="http://schemas.microsoft.com/office/drawing/2014/main" id="{3226E826-90F8-CADF-0298-28F9ABF938D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9735044" y="3059956"/>
              <a:ext cx="1282782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b="1" dirty="0">
                  <a:solidFill>
                    <a:schemeClr val="bg1"/>
                  </a:solidFill>
                  <a:latin typeface="+mn-ea"/>
                  <a:cs typeface="Alibaba PuHuiTi" pitchFamily="18" charset="-122"/>
                </a:rPr>
                <a:t>添加标题</a:t>
              </a:r>
            </a:p>
          </p:txBody>
        </p:sp>
        <p:grpSp>
          <p:nvGrpSpPr>
            <p:cNvPr id="142" name="组合 5">
              <a:extLst>
                <a:ext uri="{FF2B5EF4-FFF2-40B4-BE49-F238E27FC236}">
                  <a16:creationId xmlns:a16="http://schemas.microsoft.com/office/drawing/2014/main" id="{A03AC63F-602B-706F-173A-01362CB91DD7}"/>
                </a:ext>
              </a:extLst>
            </p:cNvPr>
            <p:cNvGrpSpPr/>
            <p:nvPr/>
          </p:nvGrpSpPr>
          <p:grpSpPr>
            <a:xfrm>
              <a:off x="7918752" y="2904580"/>
              <a:ext cx="1491019" cy="2241395"/>
              <a:chOff x="504281" y="2265489"/>
              <a:chExt cx="1491019" cy="2241395"/>
            </a:xfrm>
          </p:grpSpPr>
          <p:sp>
            <p:nvSpPr>
              <p:cNvPr id="158" name="5">
                <a:extLst>
                  <a:ext uri="{FF2B5EF4-FFF2-40B4-BE49-F238E27FC236}">
                    <a16:creationId xmlns:a16="http://schemas.microsoft.com/office/drawing/2014/main" id="{B6B5C15D-D029-D254-2B2D-22536AB57449}"/>
                  </a:ext>
                </a:extLst>
              </p:cNvPr>
              <p:cNvSpPr/>
              <p:nvPr/>
            </p:nvSpPr>
            <p:spPr>
              <a:xfrm>
                <a:off x="504281" y="2265489"/>
                <a:ext cx="1491019" cy="680085"/>
              </a:xfrm>
              <a:custGeom>
                <a:avLst/>
                <a:gdLst/>
                <a:ahLst/>
                <a:cxnLst/>
                <a:rect l="l" t="t" r="r" b="b"/>
                <a:pathLst>
                  <a:path w="3560445" h="680085">
                    <a:moveTo>
                      <a:pt x="3560127" y="0"/>
                    </a:moveTo>
                    <a:lnTo>
                      <a:pt x="0" y="0"/>
                    </a:lnTo>
                    <a:lnTo>
                      <a:pt x="0" y="679500"/>
                    </a:lnTo>
                    <a:lnTo>
                      <a:pt x="3560127" y="679500"/>
                    </a:lnTo>
                    <a:lnTo>
                      <a:pt x="3560127" y="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9" name="5">
                <a:extLst>
                  <a:ext uri="{FF2B5EF4-FFF2-40B4-BE49-F238E27FC236}">
                    <a16:creationId xmlns:a16="http://schemas.microsoft.com/office/drawing/2014/main" id="{AA269673-5B40-CBE5-F52A-C842F200B467}"/>
                  </a:ext>
                </a:extLst>
              </p:cNvPr>
              <p:cNvSpPr/>
              <p:nvPr/>
            </p:nvSpPr>
            <p:spPr>
              <a:xfrm>
                <a:off x="504281" y="3085561"/>
                <a:ext cx="1491019" cy="1420296"/>
              </a:xfrm>
              <a:custGeom>
                <a:avLst/>
                <a:gdLst/>
                <a:ahLst/>
                <a:cxnLst/>
                <a:rect l="l" t="t" r="r" b="b"/>
                <a:pathLst>
                  <a:path w="3560445" h="2541904">
                    <a:moveTo>
                      <a:pt x="3560127" y="2541854"/>
                    </a:moveTo>
                    <a:lnTo>
                      <a:pt x="0" y="2541854"/>
                    </a:lnTo>
                    <a:lnTo>
                      <a:pt x="0" y="0"/>
                    </a:lnTo>
                    <a:lnTo>
                      <a:pt x="3560127" y="0"/>
                    </a:lnTo>
                    <a:lnTo>
                      <a:pt x="3560127" y="2541854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chemeClr val="tx2"/>
                </a:solidFill>
                <a:prstDash val="dash"/>
              </a:ln>
            </p:spPr>
            <p:txBody>
              <a:bodyPr wrap="square" lIns="0" tIns="0" rIns="0" bIns="0" rtlCol="0"/>
              <a:lstStyle/>
              <a:p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Title-5">
                <a:extLst>
                  <a:ext uri="{FF2B5EF4-FFF2-40B4-BE49-F238E27FC236}">
                    <a16:creationId xmlns:a16="http://schemas.microsoft.com/office/drawing/2014/main" id="{FCAACCB0-807A-7309-CA7B-5E07B1E7D291}"/>
                  </a:ext>
                </a:extLst>
              </p:cNvPr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608399" y="2420865"/>
                <a:ext cx="1282782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b="1" dirty="0">
                    <a:solidFill>
                      <a:schemeClr val="bg1"/>
                    </a:solidFill>
                    <a:latin typeface="+mn-ea"/>
                    <a:cs typeface="Alibaba PuHuiTi" pitchFamily="18" charset="-122"/>
                  </a:rPr>
                  <a:t>库存管理</a:t>
                </a:r>
              </a:p>
            </p:txBody>
          </p:sp>
          <p:sp>
            <p:nvSpPr>
              <p:cNvPr id="161" name="Body-5">
                <a:extLst>
                  <a:ext uri="{FF2B5EF4-FFF2-40B4-BE49-F238E27FC236}">
                    <a16:creationId xmlns:a16="http://schemas.microsoft.com/office/drawing/2014/main" id="{DAFD6692-CC86-803D-3847-C07D541B298A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 flipH="1">
                <a:off x="628466" y="3184663"/>
                <a:ext cx="1242648" cy="1322221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商品库存管理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库存预警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库存变动记录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库存统计分析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100" dirty="0">
                    <a:latin typeface="+mn-ea"/>
                    <a:cs typeface="+mn-ea"/>
                    <a:sym typeface="+mn-lt"/>
                  </a:rPr>
                  <a:t>SKU </a:t>
                </a: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管理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3" name="组合 4">
              <a:extLst>
                <a:ext uri="{FF2B5EF4-FFF2-40B4-BE49-F238E27FC236}">
                  <a16:creationId xmlns:a16="http://schemas.microsoft.com/office/drawing/2014/main" id="{B41E1C6B-D672-DFED-EF08-818E9B320D63}"/>
                </a:ext>
              </a:extLst>
            </p:cNvPr>
            <p:cNvGrpSpPr/>
            <p:nvPr/>
          </p:nvGrpSpPr>
          <p:grpSpPr>
            <a:xfrm>
              <a:off x="6138564" y="2904580"/>
              <a:ext cx="1608055" cy="2240368"/>
              <a:chOff x="436267" y="2265489"/>
              <a:chExt cx="1608055" cy="2240368"/>
            </a:xfrm>
          </p:grpSpPr>
          <p:sp>
            <p:nvSpPr>
              <p:cNvPr id="154" name="4">
                <a:extLst>
                  <a:ext uri="{FF2B5EF4-FFF2-40B4-BE49-F238E27FC236}">
                    <a16:creationId xmlns:a16="http://schemas.microsoft.com/office/drawing/2014/main" id="{F852E150-7503-AB9C-CBAE-2B23870ED86B}"/>
                  </a:ext>
                </a:extLst>
              </p:cNvPr>
              <p:cNvSpPr/>
              <p:nvPr/>
            </p:nvSpPr>
            <p:spPr>
              <a:xfrm>
                <a:off x="504281" y="2265489"/>
                <a:ext cx="1491019" cy="680085"/>
              </a:xfrm>
              <a:custGeom>
                <a:avLst/>
                <a:gdLst/>
                <a:ahLst/>
                <a:cxnLst/>
                <a:rect l="l" t="t" r="r" b="b"/>
                <a:pathLst>
                  <a:path w="3560445" h="680085">
                    <a:moveTo>
                      <a:pt x="3560127" y="0"/>
                    </a:moveTo>
                    <a:lnTo>
                      <a:pt x="0" y="0"/>
                    </a:lnTo>
                    <a:lnTo>
                      <a:pt x="0" y="679500"/>
                    </a:lnTo>
                    <a:lnTo>
                      <a:pt x="3560127" y="679500"/>
                    </a:lnTo>
                    <a:lnTo>
                      <a:pt x="3560127" y="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5" name="4">
                <a:extLst>
                  <a:ext uri="{FF2B5EF4-FFF2-40B4-BE49-F238E27FC236}">
                    <a16:creationId xmlns:a16="http://schemas.microsoft.com/office/drawing/2014/main" id="{2194A766-E8DC-8AE4-53B8-C3B1A878A9B4}"/>
                  </a:ext>
                </a:extLst>
              </p:cNvPr>
              <p:cNvSpPr/>
              <p:nvPr/>
            </p:nvSpPr>
            <p:spPr>
              <a:xfrm>
                <a:off x="504281" y="3085561"/>
                <a:ext cx="1491019" cy="1420296"/>
              </a:xfrm>
              <a:custGeom>
                <a:avLst/>
                <a:gdLst/>
                <a:ahLst/>
                <a:cxnLst/>
                <a:rect l="l" t="t" r="r" b="b"/>
                <a:pathLst>
                  <a:path w="3560445" h="2541904">
                    <a:moveTo>
                      <a:pt x="3560127" y="2541854"/>
                    </a:moveTo>
                    <a:lnTo>
                      <a:pt x="0" y="2541854"/>
                    </a:lnTo>
                    <a:lnTo>
                      <a:pt x="0" y="0"/>
                    </a:lnTo>
                    <a:lnTo>
                      <a:pt x="3560127" y="0"/>
                    </a:lnTo>
                    <a:lnTo>
                      <a:pt x="3560127" y="2541854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chemeClr val="tx2"/>
                </a:solidFill>
                <a:prstDash val="dash"/>
              </a:ln>
            </p:spPr>
            <p:txBody>
              <a:bodyPr wrap="square" lIns="0" tIns="0" rIns="0" bIns="0" rtlCol="0"/>
              <a:lstStyle/>
              <a:p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6" name="Title-4">
                <a:extLst>
                  <a:ext uri="{FF2B5EF4-FFF2-40B4-BE49-F238E27FC236}">
                    <a16:creationId xmlns:a16="http://schemas.microsoft.com/office/drawing/2014/main" id="{075A7C35-17CC-585B-435C-3607053A93B8}"/>
                  </a:ext>
                </a:extLst>
              </p:cNvPr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436267" y="2420865"/>
                <a:ext cx="1608055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b="1" dirty="0">
                    <a:solidFill>
                      <a:schemeClr val="bg1"/>
                    </a:solidFill>
                    <a:latin typeface="+mn-ea"/>
                    <a:cs typeface="Alibaba PuHuiTi" pitchFamily="18" charset="-122"/>
                  </a:rPr>
                  <a:t>店铺管理</a:t>
                </a:r>
              </a:p>
            </p:txBody>
          </p:sp>
          <p:sp>
            <p:nvSpPr>
              <p:cNvPr id="157" name="Body-4">
                <a:extLst>
                  <a:ext uri="{FF2B5EF4-FFF2-40B4-BE49-F238E27FC236}">
                    <a16:creationId xmlns:a16="http://schemas.microsoft.com/office/drawing/2014/main" id="{5FAC00E1-A34E-3BC9-354B-33D52BD42552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 flipH="1">
                <a:off x="628466" y="3184663"/>
                <a:ext cx="1242648" cy="1068306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店铺创建与管理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店铺信息编辑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店铺状态管理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店铺认证管理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4" name="组合 3">
              <a:extLst>
                <a:ext uri="{FF2B5EF4-FFF2-40B4-BE49-F238E27FC236}">
                  <a16:creationId xmlns:a16="http://schemas.microsoft.com/office/drawing/2014/main" id="{69E7A1F1-45AB-6105-1600-661A0C3180A0}"/>
                </a:ext>
              </a:extLst>
            </p:cNvPr>
            <p:cNvGrpSpPr/>
            <p:nvPr/>
          </p:nvGrpSpPr>
          <p:grpSpPr>
            <a:xfrm>
              <a:off x="4494404" y="2904580"/>
              <a:ext cx="1491019" cy="2240368"/>
              <a:chOff x="504281" y="2265489"/>
              <a:chExt cx="1491019" cy="2240368"/>
            </a:xfrm>
          </p:grpSpPr>
          <p:sp>
            <p:nvSpPr>
              <p:cNvPr id="150" name="3">
                <a:extLst>
                  <a:ext uri="{FF2B5EF4-FFF2-40B4-BE49-F238E27FC236}">
                    <a16:creationId xmlns:a16="http://schemas.microsoft.com/office/drawing/2014/main" id="{FB3EAB0B-814C-4359-3EFB-43B4888A95E5}"/>
                  </a:ext>
                </a:extLst>
              </p:cNvPr>
              <p:cNvSpPr/>
              <p:nvPr/>
            </p:nvSpPr>
            <p:spPr>
              <a:xfrm>
                <a:off x="504281" y="2265489"/>
                <a:ext cx="1491019" cy="680085"/>
              </a:xfrm>
              <a:custGeom>
                <a:avLst/>
                <a:gdLst/>
                <a:ahLst/>
                <a:cxnLst/>
                <a:rect l="l" t="t" r="r" b="b"/>
                <a:pathLst>
                  <a:path w="3560445" h="680085">
                    <a:moveTo>
                      <a:pt x="3560127" y="0"/>
                    </a:moveTo>
                    <a:lnTo>
                      <a:pt x="0" y="0"/>
                    </a:lnTo>
                    <a:lnTo>
                      <a:pt x="0" y="679500"/>
                    </a:lnTo>
                    <a:lnTo>
                      <a:pt x="3560127" y="679500"/>
                    </a:lnTo>
                    <a:lnTo>
                      <a:pt x="3560127" y="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3">
                <a:extLst>
                  <a:ext uri="{FF2B5EF4-FFF2-40B4-BE49-F238E27FC236}">
                    <a16:creationId xmlns:a16="http://schemas.microsoft.com/office/drawing/2014/main" id="{634B18B2-EDF8-CC17-E461-BF880D379466}"/>
                  </a:ext>
                </a:extLst>
              </p:cNvPr>
              <p:cNvSpPr/>
              <p:nvPr/>
            </p:nvSpPr>
            <p:spPr>
              <a:xfrm>
                <a:off x="504281" y="3085561"/>
                <a:ext cx="1491019" cy="1420296"/>
              </a:xfrm>
              <a:custGeom>
                <a:avLst/>
                <a:gdLst/>
                <a:ahLst/>
                <a:cxnLst/>
                <a:rect l="l" t="t" r="r" b="b"/>
                <a:pathLst>
                  <a:path w="3560445" h="2541904">
                    <a:moveTo>
                      <a:pt x="3560127" y="2541854"/>
                    </a:moveTo>
                    <a:lnTo>
                      <a:pt x="0" y="2541854"/>
                    </a:lnTo>
                    <a:lnTo>
                      <a:pt x="0" y="0"/>
                    </a:lnTo>
                    <a:lnTo>
                      <a:pt x="3560127" y="0"/>
                    </a:lnTo>
                    <a:lnTo>
                      <a:pt x="3560127" y="2541854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chemeClr val="tx2"/>
                </a:solidFill>
                <a:prstDash val="dash"/>
              </a:ln>
            </p:spPr>
            <p:txBody>
              <a:bodyPr wrap="square" lIns="0" tIns="0" rIns="0" bIns="0" rtlCol="0"/>
              <a:lstStyle/>
              <a:p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Title-3">
                <a:extLst>
                  <a:ext uri="{FF2B5EF4-FFF2-40B4-BE49-F238E27FC236}">
                    <a16:creationId xmlns:a16="http://schemas.microsoft.com/office/drawing/2014/main" id="{7DD871EC-0743-8D9A-05EC-355B3E808B06}"/>
                  </a:ext>
                </a:extLst>
              </p:cNvPr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550185" y="2420865"/>
                <a:ext cx="1445115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b="1" dirty="0">
                    <a:solidFill>
                      <a:schemeClr val="bg1"/>
                    </a:solidFill>
                    <a:latin typeface="+mn-ea"/>
                    <a:cs typeface="Alibaba PuHuiTi" pitchFamily="18" charset="-122"/>
                  </a:rPr>
                  <a:t>订单管理</a:t>
                </a:r>
              </a:p>
            </p:txBody>
          </p:sp>
          <p:sp>
            <p:nvSpPr>
              <p:cNvPr id="153" name="Body-3">
                <a:extLst>
                  <a:ext uri="{FF2B5EF4-FFF2-40B4-BE49-F238E27FC236}">
                    <a16:creationId xmlns:a16="http://schemas.microsoft.com/office/drawing/2014/main" id="{3F6822F9-4F3A-880F-EF73-F85A11691F71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 flipH="1">
                <a:off x="628466" y="3184663"/>
                <a:ext cx="1242648" cy="1068306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订单创建与支付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订单状态管理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订单查询与统计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退款处理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5" name="组合 2">
              <a:extLst>
                <a:ext uri="{FF2B5EF4-FFF2-40B4-BE49-F238E27FC236}">
                  <a16:creationId xmlns:a16="http://schemas.microsoft.com/office/drawing/2014/main" id="{6C0206A7-68FE-0A4A-7456-6DCDDAFF3C1E}"/>
                </a:ext>
              </a:extLst>
            </p:cNvPr>
            <p:cNvGrpSpPr/>
            <p:nvPr/>
          </p:nvGrpSpPr>
          <p:grpSpPr>
            <a:xfrm>
              <a:off x="2684571" y="2904580"/>
              <a:ext cx="1712173" cy="2241395"/>
              <a:chOff x="406622" y="2265489"/>
              <a:chExt cx="1712173" cy="2241395"/>
            </a:xfrm>
          </p:grpSpPr>
          <p:sp>
            <p:nvSpPr>
              <p:cNvPr id="146" name="2">
                <a:extLst>
                  <a:ext uri="{FF2B5EF4-FFF2-40B4-BE49-F238E27FC236}">
                    <a16:creationId xmlns:a16="http://schemas.microsoft.com/office/drawing/2014/main" id="{D750C8D4-A56D-F24E-469B-05BDD79AD4EE}"/>
                  </a:ext>
                </a:extLst>
              </p:cNvPr>
              <p:cNvSpPr/>
              <p:nvPr/>
            </p:nvSpPr>
            <p:spPr>
              <a:xfrm>
                <a:off x="504281" y="2265489"/>
                <a:ext cx="1491019" cy="680085"/>
              </a:xfrm>
              <a:custGeom>
                <a:avLst/>
                <a:gdLst/>
                <a:ahLst/>
                <a:cxnLst/>
                <a:rect l="l" t="t" r="r" b="b"/>
                <a:pathLst>
                  <a:path w="3560445" h="680085">
                    <a:moveTo>
                      <a:pt x="3560127" y="0"/>
                    </a:moveTo>
                    <a:lnTo>
                      <a:pt x="0" y="0"/>
                    </a:lnTo>
                    <a:lnTo>
                      <a:pt x="0" y="679500"/>
                    </a:lnTo>
                    <a:lnTo>
                      <a:pt x="3560127" y="679500"/>
                    </a:lnTo>
                    <a:lnTo>
                      <a:pt x="3560127" y="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7" name="2">
                <a:extLst>
                  <a:ext uri="{FF2B5EF4-FFF2-40B4-BE49-F238E27FC236}">
                    <a16:creationId xmlns:a16="http://schemas.microsoft.com/office/drawing/2014/main" id="{CBC17B2E-AFDA-6852-4089-A2319D5203CD}"/>
                  </a:ext>
                </a:extLst>
              </p:cNvPr>
              <p:cNvSpPr/>
              <p:nvPr/>
            </p:nvSpPr>
            <p:spPr>
              <a:xfrm>
                <a:off x="504281" y="3085561"/>
                <a:ext cx="1491019" cy="1420296"/>
              </a:xfrm>
              <a:custGeom>
                <a:avLst/>
                <a:gdLst/>
                <a:ahLst/>
                <a:cxnLst/>
                <a:rect l="l" t="t" r="r" b="b"/>
                <a:pathLst>
                  <a:path w="3560445" h="2541904">
                    <a:moveTo>
                      <a:pt x="3560127" y="2541854"/>
                    </a:moveTo>
                    <a:lnTo>
                      <a:pt x="0" y="2541854"/>
                    </a:lnTo>
                    <a:lnTo>
                      <a:pt x="0" y="0"/>
                    </a:lnTo>
                    <a:lnTo>
                      <a:pt x="3560127" y="0"/>
                    </a:lnTo>
                    <a:lnTo>
                      <a:pt x="3560127" y="2541854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chemeClr val="tx2"/>
                </a:solidFill>
                <a:prstDash val="dash"/>
              </a:ln>
            </p:spPr>
            <p:txBody>
              <a:bodyPr wrap="square" lIns="0" tIns="0" rIns="0" bIns="0" rtlCol="0"/>
              <a:lstStyle/>
              <a:p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8" name="Title-2">
                <a:extLst>
                  <a:ext uri="{FF2B5EF4-FFF2-40B4-BE49-F238E27FC236}">
                    <a16:creationId xmlns:a16="http://schemas.microsoft.com/office/drawing/2014/main" id="{CDE9D3F2-2A18-7688-3BB1-E453550B1956}"/>
                  </a:ext>
                </a:extLst>
              </p:cNvPr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406622" y="2420865"/>
                <a:ext cx="1712173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b="1" dirty="0">
                    <a:solidFill>
                      <a:schemeClr val="bg1"/>
                    </a:solidFill>
                    <a:latin typeface="+mn-ea"/>
                    <a:cs typeface="Alibaba PuHuiTi" pitchFamily="18" charset="-122"/>
                  </a:rPr>
                  <a:t>商品管理</a:t>
                </a:r>
              </a:p>
            </p:txBody>
          </p:sp>
          <p:sp>
            <p:nvSpPr>
              <p:cNvPr id="149" name="Body-2">
                <a:extLst>
                  <a:ext uri="{FF2B5EF4-FFF2-40B4-BE49-F238E27FC236}">
                    <a16:creationId xmlns:a16="http://schemas.microsoft.com/office/drawing/2014/main" id="{57FB3B09-9101-CDDA-66EC-6CA0317B8123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 flipH="1">
                <a:off x="628466" y="3184663"/>
                <a:ext cx="1242648" cy="1322221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品牌、类别管理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商品增删改查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商品详情展示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商品搜索与筛选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  <a:p>
                <a:pPr defTabSz="4572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+mn-lt"/>
                  </a:rPr>
                  <a:t>商品审核</a:t>
                </a:r>
                <a:endParaRPr lang="en-US" altLang="zh-CN" sz="1100" dirty="0">
                  <a:latin typeface="+mn-ea"/>
                  <a:cs typeface="+mn-ea"/>
                  <a:sym typeface="+mn-lt"/>
                </a:endParaRPr>
              </a:p>
            </p:txBody>
          </p:sp>
        </p:grpSp>
      </p:grpSp>
      <p:sp>
        <p:nvSpPr>
          <p:cNvPr id="172" name="1">
            <a:extLst>
              <a:ext uri="{FF2B5EF4-FFF2-40B4-BE49-F238E27FC236}">
                <a16:creationId xmlns:a16="http://schemas.microsoft.com/office/drawing/2014/main" id="{EF29736D-DAE7-DCA2-37B6-1500B642882C}"/>
              </a:ext>
            </a:extLst>
          </p:cNvPr>
          <p:cNvSpPr/>
          <p:nvPr/>
        </p:nvSpPr>
        <p:spPr>
          <a:xfrm>
            <a:off x="1449902" y="4420892"/>
            <a:ext cx="1491019" cy="68008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3" name="1">
            <a:extLst>
              <a:ext uri="{FF2B5EF4-FFF2-40B4-BE49-F238E27FC236}">
                <a16:creationId xmlns:a16="http://schemas.microsoft.com/office/drawing/2014/main" id="{4FA22A66-B4C9-A1BB-0426-AF17FE197640}"/>
              </a:ext>
            </a:extLst>
          </p:cNvPr>
          <p:cNvSpPr/>
          <p:nvPr/>
        </p:nvSpPr>
        <p:spPr>
          <a:xfrm>
            <a:off x="1449902" y="5240964"/>
            <a:ext cx="1491019" cy="1420296"/>
          </a:xfrm>
          <a:custGeom>
            <a:avLst/>
            <a:gdLst/>
            <a:ahLst/>
            <a:cxnLst/>
            <a:rect l="l" t="t" r="r" b="b"/>
            <a:pathLst>
              <a:path w="3560445" h="2541904">
                <a:moveTo>
                  <a:pt x="3560127" y="2541854"/>
                </a:moveTo>
                <a:lnTo>
                  <a:pt x="0" y="2541854"/>
                </a:lnTo>
                <a:lnTo>
                  <a:pt x="0" y="0"/>
                </a:lnTo>
                <a:lnTo>
                  <a:pt x="3560127" y="0"/>
                </a:lnTo>
                <a:lnTo>
                  <a:pt x="3560127" y="25418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  <a:prstDash val="dash"/>
          </a:ln>
        </p:spPr>
        <p:txBody>
          <a:bodyPr wrap="square" lIns="0" tIns="0" rIns="0" bIns="0" rtlCol="0"/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Title-1">
            <a:extLst>
              <a:ext uri="{FF2B5EF4-FFF2-40B4-BE49-F238E27FC236}">
                <a16:creationId xmlns:a16="http://schemas.microsoft.com/office/drawing/2014/main" id="{6D6614DB-5890-6343-CA2F-3BBE390A033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32865" y="4576268"/>
            <a:ext cx="1712174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+mn-ea"/>
                <a:cs typeface="Alibaba PuHuiTi" pitchFamily="18" charset="-122"/>
              </a:rPr>
              <a:t>通知管理</a:t>
            </a:r>
          </a:p>
        </p:txBody>
      </p:sp>
      <p:sp>
        <p:nvSpPr>
          <p:cNvPr id="175" name="1">
            <a:extLst>
              <a:ext uri="{FF2B5EF4-FFF2-40B4-BE49-F238E27FC236}">
                <a16:creationId xmlns:a16="http://schemas.microsoft.com/office/drawing/2014/main" id="{54C74BA2-ED5C-1869-5C83-FB8D121B931E}"/>
              </a:ext>
            </a:extLst>
          </p:cNvPr>
          <p:cNvSpPr/>
          <p:nvPr/>
        </p:nvSpPr>
        <p:spPr>
          <a:xfrm>
            <a:off x="3174995" y="4420892"/>
            <a:ext cx="1491019" cy="68008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" name="1">
            <a:extLst>
              <a:ext uri="{FF2B5EF4-FFF2-40B4-BE49-F238E27FC236}">
                <a16:creationId xmlns:a16="http://schemas.microsoft.com/office/drawing/2014/main" id="{1BFAD02B-2467-CDF7-E0D2-CBEECEB8CBD8}"/>
              </a:ext>
            </a:extLst>
          </p:cNvPr>
          <p:cNvSpPr/>
          <p:nvPr/>
        </p:nvSpPr>
        <p:spPr>
          <a:xfrm>
            <a:off x="3174995" y="5240964"/>
            <a:ext cx="1491019" cy="1420296"/>
          </a:xfrm>
          <a:custGeom>
            <a:avLst/>
            <a:gdLst/>
            <a:ahLst/>
            <a:cxnLst/>
            <a:rect l="l" t="t" r="r" b="b"/>
            <a:pathLst>
              <a:path w="3560445" h="2541904">
                <a:moveTo>
                  <a:pt x="3560127" y="2541854"/>
                </a:moveTo>
                <a:lnTo>
                  <a:pt x="0" y="2541854"/>
                </a:lnTo>
                <a:lnTo>
                  <a:pt x="0" y="0"/>
                </a:lnTo>
                <a:lnTo>
                  <a:pt x="3560127" y="0"/>
                </a:lnTo>
                <a:lnTo>
                  <a:pt x="3560127" y="25418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  <a:prstDash val="dash"/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7" name="Title-1">
            <a:extLst>
              <a:ext uri="{FF2B5EF4-FFF2-40B4-BE49-F238E27FC236}">
                <a16:creationId xmlns:a16="http://schemas.microsoft.com/office/drawing/2014/main" id="{B0FA5DB7-FEBA-EB8F-D396-1E9D3B31439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057958" y="4576268"/>
            <a:ext cx="1712174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+mn-ea"/>
                <a:cs typeface="Alibaba PuHuiTi" pitchFamily="18" charset="-122"/>
              </a:rPr>
              <a:t>购物车模块</a:t>
            </a:r>
          </a:p>
        </p:txBody>
      </p:sp>
      <p:sp>
        <p:nvSpPr>
          <p:cNvPr id="178" name="1">
            <a:extLst>
              <a:ext uri="{FF2B5EF4-FFF2-40B4-BE49-F238E27FC236}">
                <a16:creationId xmlns:a16="http://schemas.microsoft.com/office/drawing/2014/main" id="{9AF26133-2D4A-B4A9-CAA6-F202C995E09A}"/>
              </a:ext>
            </a:extLst>
          </p:cNvPr>
          <p:cNvSpPr/>
          <p:nvPr/>
        </p:nvSpPr>
        <p:spPr>
          <a:xfrm>
            <a:off x="4874250" y="4420892"/>
            <a:ext cx="1491019" cy="68008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9" name="1">
            <a:extLst>
              <a:ext uri="{FF2B5EF4-FFF2-40B4-BE49-F238E27FC236}">
                <a16:creationId xmlns:a16="http://schemas.microsoft.com/office/drawing/2014/main" id="{65C6C1A2-FBB7-CC24-5DB4-A70F94DC76BA}"/>
              </a:ext>
            </a:extLst>
          </p:cNvPr>
          <p:cNvSpPr/>
          <p:nvPr/>
        </p:nvSpPr>
        <p:spPr>
          <a:xfrm>
            <a:off x="4874250" y="5240964"/>
            <a:ext cx="1491019" cy="1420296"/>
          </a:xfrm>
          <a:custGeom>
            <a:avLst/>
            <a:gdLst/>
            <a:ahLst/>
            <a:cxnLst/>
            <a:rect l="l" t="t" r="r" b="b"/>
            <a:pathLst>
              <a:path w="3560445" h="2541904">
                <a:moveTo>
                  <a:pt x="3560127" y="2541854"/>
                </a:moveTo>
                <a:lnTo>
                  <a:pt x="0" y="2541854"/>
                </a:lnTo>
                <a:lnTo>
                  <a:pt x="0" y="0"/>
                </a:lnTo>
                <a:lnTo>
                  <a:pt x="3560127" y="0"/>
                </a:lnTo>
                <a:lnTo>
                  <a:pt x="3560127" y="25418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  <a:prstDash val="dash"/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0" name="Title-1">
            <a:extLst>
              <a:ext uri="{FF2B5EF4-FFF2-40B4-BE49-F238E27FC236}">
                <a16:creationId xmlns:a16="http://schemas.microsoft.com/office/drawing/2014/main" id="{A67E45B2-DF90-C7CF-D410-1D90C473721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757213" y="4576268"/>
            <a:ext cx="1712174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+mn-ea"/>
                <a:cs typeface="Alibaba PuHuiTi" pitchFamily="18" charset="-122"/>
              </a:rPr>
              <a:t>收藏模块</a:t>
            </a:r>
          </a:p>
        </p:txBody>
      </p:sp>
      <p:sp>
        <p:nvSpPr>
          <p:cNvPr id="181" name="1">
            <a:extLst>
              <a:ext uri="{FF2B5EF4-FFF2-40B4-BE49-F238E27FC236}">
                <a16:creationId xmlns:a16="http://schemas.microsoft.com/office/drawing/2014/main" id="{586A6A35-22BB-4D17-A663-4F98EF6B6733}"/>
              </a:ext>
            </a:extLst>
          </p:cNvPr>
          <p:cNvSpPr/>
          <p:nvPr/>
        </p:nvSpPr>
        <p:spPr>
          <a:xfrm>
            <a:off x="6586424" y="4420892"/>
            <a:ext cx="1491019" cy="68008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2" name="1">
            <a:extLst>
              <a:ext uri="{FF2B5EF4-FFF2-40B4-BE49-F238E27FC236}">
                <a16:creationId xmlns:a16="http://schemas.microsoft.com/office/drawing/2014/main" id="{D0BC376E-2E3F-D343-7329-3315E6E10344}"/>
              </a:ext>
            </a:extLst>
          </p:cNvPr>
          <p:cNvSpPr/>
          <p:nvPr/>
        </p:nvSpPr>
        <p:spPr>
          <a:xfrm>
            <a:off x="6586424" y="5240964"/>
            <a:ext cx="1491019" cy="1420296"/>
          </a:xfrm>
          <a:custGeom>
            <a:avLst/>
            <a:gdLst/>
            <a:ahLst/>
            <a:cxnLst/>
            <a:rect l="l" t="t" r="r" b="b"/>
            <a:pathLst>
              <a:path w="3560445" h="2541904">
                <a:moveTo>
                  <a:pt x="3560127" y="2541854"/>
                </a:moveTo>
                <a:lnTo>
                  <a:pt x="0" y="2541854"/>
                </a:lnTo>
                <a:lnTo>
                  <a:pt x="0" y="0"/>
                </a:lnTo>
                <a:lnTo>
                  <a:pt x="3560127" y="0"/>
                </a:lnTo>
                <a:lnTo>
                  <a:pt x="3560127" y="25418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  <a:prstDash val="dash"/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3" name="Title-1">
            <a:extLst>
              <a:ext uri="{FF2B5EF4-FFF2-40B4-BE49-F238E27FC236}">
                <a16:creationId xmlns:a16="http://schemas.microsoft.com/office/drawing/2014/main" id="{7B615D66-1516-A89C-F86B-ADA6768CE17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469387" y="4576268"/>
            <a:ext cx="1712174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+mn-ea"/>
                <a:cs typeface="Alibaba PuHuiTi" pitchFamily="18" charset="-122"/>
              </a:rPr>
              <a:t>地址管理模块</a:t>
            </a:r>
          </a:p>
        </p:txBody>
      </p:sp>
      <p:sp>
        <p:nvSpPr>
          <p:cNvPr id="184" name="1">
            <a:extLst>
              <a:ext uri="{FF2B5EF4-FFF2-40B4-BE49-F238E27FC236}">
                <a16:creationId xmlns:a16="http://schemas.microsoft.com/office/drawing/2014/main" id="{ED261005-9B2D-A350-9D0F-E1B27A3AEB05}"/>
              </a:ext>
            </a:extLst>
          </p:cNvPr>
          <p:cNvSpPr/>
          <p:nvPr/>
        </p:nvSpPr>
        <p:spPr>
          <a:xfrm>
            <a:off x="8311517" y="4421417"/>
            <a:ext cx="1491019" cy="68008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5" name="1">
            <a:extLst>
              <a:ext uri="{FF2B5EF4-FFF2-40B4-BE49-F238E27FC236}">
                <a16:creationId xmlns:a16="http://schemas.microsoft.com/office/drawing/2014/main" id="{E5FEE0A0-63DA-023D-62C8-DE5EF64083C8}"/>
              </a:ext>
            </a:extLst>
          </p:cNvPr>
          <p:cNvSpPr/>
          <p:nvPr/>
        </p:nvSpPr>
        <p:spPr>
          <a:xfrm>
            <a:off x="8311517" y="5241489"/>
            <a:ext cx="1491019" cy="1420296"/>
          </a:xfrm>
          <a:custGeom>
            <a:avLst/>
            <a:gdLst/>
            <a:ahLst/>
            <a:cxnLst/>
            <a:rect l="l" t="t" r="r" b="b"/>
            <a:pathLst>
              <a:path w="3560445" h="2541904">
                <a:moveTo>
                  <a:pt x="3560127" y="2541854"/>
                </a:moveTo>
                <a:lnTo>
                  <a:pt x="0" y="2541854"/>
                </a:lnTo>
                <a:lnTo>
                  <a:pt x="0" y="0"/>
                </a:lnTo>
                <a:lnTo>
                  <a:pt x="3560127" y="0"/>
                </a:lnTo>
                <a:lnTo>
                  <a:pt x="3560127" y="25418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  <a:prstDash val="dash"/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Title-1">
            <a:extLst>
              <a:ext uri="{FF2B5EF4-FFF2-40B4-BE49-F238E27FC236}">
                <a16:creationId xmlns:a16="http://schemas.microsoft.com/office/drawing/2014/main" id="{613DD298-6F68-636D-D70D-FCCD0E2DF65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194480" y="4576793"/>
            <a:ext cx="1712174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+mn-ea"/>
                <a:cs typeface="Alibaba PuHuiTi" pitchFamily="18" charset="-122"/>
              </a:rPr>
              <a:t>数据统计模块</a:t>
            </a:r>
          </a:p>
        </p:txBody>
      </p:sp>
      <p:sp>
        <p:nvSpPr>
          <p:cNvPr id="187" name="Body-1">
            <a:extLst>
              <a:ext uri="{FF2B5EF4-FFF2-40B4-BE49-F238E27FC236}">
                <a16:creationId xmlns:a16="http://schemas.microsoft.com/office/drawing/2014/main" id="{D1B7BA63-7FD1-EBC3-E2B5-BE8BB648732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flipH="1">
            <a:off x="1567628" y="5327405"/>
            <a:ext cx="1242648" cy="1068306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系统通知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订单状态通知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消息中心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审核通知</a:t>
            </a:r>
            <a:endParaRPr lang="en-US" altLang="zh-CN" sz="1100" dirty="0">
              <a:latin typeface="+mn-ea"/>
              <a:cs typeface="+mn-ea"/>
              <a:sym typeface="+mn-lt"/>
            </a:endParaRPr>
          </a:p>
        </p:txBody>
      </p:sp>
      <p:sp>
        <p:nvSpPr>
          <p:cNvPr id="188" name="Body-1">
            <a:extLst>
              <a:ext uri="{FF2B5EF4-FFF2-40B4-BE49-F238E27FC236}">
                <a16:creationId xmlns:a16="http://schemas.microsoft.com/office/drawing/2014/main" id="{DA41235F-423E-8F6D-6EF0-04EA30C5AB8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flipH="1">
            <a:off x="3286261" y="5290001"/>
            <a:ext cx="1242648" cy="1322221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添加商品到购物车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修改商品数量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删除商品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购物车结算</a:t>
            </a:r>
            <a:endParaRPr lang="en-US" altLang="zh-CN" sz="1100" dirty="0">
              <a:latin typeface="+mn-ea"/>
              <a:cs typeface="+mn-ea"/>
              <a:sym typeface="+mn-lt"/>
            </a:endParaRPr>
          </a:p>
        </p:txBody>
      </p:sp>
      <p:sp>
        <p:nvSpPr>
          <p:cNvPr id="189" name="Body-1">
            <a:extLst>
              <a:ext uri="{FF2B5EF4-FFF2-40B4-BE49-F238E27FC236}">
                <a16:creationId xmlns:a16="http://schemas.microsoft.com/office/drawing/2014/main" id="{186F3C96-5A2E-4040-746A-0C166346D32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 flipH="1">
            <a:off x="5004895" y="5290001"/>
            <a:ext cx="1242648" cy="81439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商品收藏</a:t>
            </a: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收藏管理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批量操作</a:t>
            </a:r>
            <a:endParaRPr lang="en-US" altLang="zh-CN" sz="1100" dirty="0">
              <a:latin typeface="+mn-ea"/>
              <a:cs typeface="+mn-ea"/>
              <a:sym typeface="+mn-lt"/>
            </a:endParaRPr>
          </a:p>
        </p:txBody>
      </p:sp>
      <p:sp>
        <p:nvSpPr>
          <p:cNvPr id="190" name="Body-1">
            <a:extLst>
              <a:ext uri="{FF2B5EF4-FFF2-40B4-BE49-F238E27FC236}">
                <a16:creationId xmlns:a16="http://schemas.microsoft.com/office/drawing/2014/main" id="{2260E921-45AC-D07F-5D8D-43A998A7974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 flipH="1">
            <a:off x="6710609" y="5290000"/>
            <a:ext cx="1242648" cy="81439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收货地址添加、编辑、删除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默认地址设置</a:t>
            </a:r>
            <a:endParaRPr lang="en-US" altLang="zh-CN" sz="1100" dirty="0">
              <a:latin typeface="+mn-ea"/>
              <a:cs typeface="+mn-ea"/>
              <a:sym typeface="+mn-lt"/>
            </a:endParaRPr>
          </a:p>
        </p:txBody>
      </p:sp>
      <p:sp>
        <p:nvSpPr>
          <p:cNvPr id="191" name="Body-1">
            <a:extLst>
              <a:ext uri="{FF2B5EF4-FFF2-40B4-BE49-F238E27FC236}">
                <a16:creationId xmlns:a16="http://schemas.microsoft.com/office/drawing/2014/main" id="{D5FB61D2-6AAE-B520-CA7C-5EF959C94619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 flipH="1">
            <a:off x="8442850" y="5289999"/>
            <a:ext cx="1242648" cy="1322221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销售数据统计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用户行为日志记录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商品热度分析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商品统计</a:t>
            </a:r>
            <a:endParaRPr lang="en-US" altLang="zh-CN" sz="1100" dirty="0">
              <a:latin typeface="+mn-ea"/>
              <a:cs typeface="+mn-ea"/>
              <a:sym typeface="+mn-lt"/>
            </a:endParaRPr>
          </a:p>
        </p:txBody>
      </p:sp>
      <p:sp>
        <p:nvSpPr>
          <p:cNvPr id="192" name="5">
            <a:extLst>
              <a:ext uri="{FF2B5EF4-FFF2-40B4-BE49-F238E27FC236}">
                <a16:creationId xmlns:a16="http://schemas.microsoft.com/office/drawing/2014/main" id="{6475D7A7-186F-7243-6D16-A448D6822764}"/>
              </a:ext>
            </a:extLst>
          </p:cNvPr>
          <p:cNvSpPr/>
          <p:nvPr/>
        </p:nvSpPr>
        <p:spPr>
          <a:xfrm>
            <a:off x="9906654" y="2112513"/>
            <a:ext cx="1491019" cy="68008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3" name="5">
            <a:extLst>
              <a:ext uri="{FF2B5EF4-FFF2-40B4-BE49-F238E27FC236}">
                <a16:creationId xmlns:a16="http://schemas.microsoft.com/office/drawing/2014/main" id="{7B19C127-25EC-FC5A-DC0A-1D30D575AFFE}"/>
              </a:ext>
            </a:extLst>
          </p:cNvPr>
          <p:cNvSpPr/>
          <p:nvPr/>
        </p:nvSpPr>
        <p:spPr>
          <a:xfrm>
            <a:off x="9906654" y="2932585"/>
            <a:ext cx="1491019" cy="1420296"/>
          </a:xfrm>
          <a:custGeom>
            <a:avLst/>
            <a:gdLst/>
            <a:ahLst/>
            <a:cxnLst/>
            <a:rect l="l" t="t" r="r" b="b"/>
            <a:pathLst>
              <a:path w="3560445" h="2541904">
                <a:moveTo>
                  <a:pt x="3560127" y="2541854"/>
                </a:moveTo>
                <a:lnTo>
                  <a:pt x="0" y="2541854"/>
                </a:lnTo>
                <a:lnTo>
                  <a:pt x="0" y="0"/>
                </a:lnTo>
                <a:lnTo>
                  <a:pt x="3560127" y="0"/>
                </a:lnTo>
                <a:lnTo>
                  <a:pt x="3560127" y="25418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  <a:prstDash val="dash"/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" name="5">
            <a:extLst>
              <a:ext uri="{FF2B5EF4-FFF2-40B4-BE49-F238E27FC236}">
                <a16:creationId xmlns:a16="http://schemas.microsoft.com/office/drawing/2014/main" id="{E39EE9F8-4494-93AF-1D77-C16DC907B8E9}"/>
              </a:ext>
            </a:extLst>
          </p:cNvPr>
          <p:cNvSpPr/>
          <p:nvPr/>
        </p:nvSpPr>
        <p:spPr>
          <a:xfrm>
            <a:off x="9906654" y="4420892"/>
            <a:ext cx="1491019" cy="68008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" name="5">
            <a:extLst>
              <a:ext uri="{FF2B5EF4-FFF2-40B4-BE49-F238E27FC236}">
                <a16:creationId xmlns:a16="http://schemas.microsoft.com/office/drawing/2014/main" id="{E8C637D6-E87B-7EA2-98DE-1E563D3E98AF}"/>
              </a:ext>
            </a:extLst>
          </p:cNvPr>
          <p:cNvSpPr/>
          <p:nvPr/>
        </p:nvSpPr>
        <p:spPr>
          <a:xfrm>
            <a:off x="9906654" y="5240964"/>
            <a:ext cx="1491019" cy="1420296"/>
          </a:xfrm>
          <a:custGeom>
            <a:avLst/>
            <a:gdLst/>
            <a:ahLst/>
            <a:cxnLst/>
            <a:rect l="l" t="t" r="r" b="b"/>
            <a:pathLst>
              <a:path w="3560445" h="2541904">
                <a:moveTo>
                  <a:pt x="3560127" y="2541854"/>
                </a:moveTo>
                <a:lnTo>
                  <a:pt x="0" y="2541854"/>
                </a:lnTo>
                <a:lnTo>
                  <a:pt x="0" y="0"/>
                </a:lnTo>
                <a:lnTo>
                  <a:pt x="3560127" y="0"/>
                </a:lnTo>
                <a:lnTo>
                  <a:pt x="3560127" y="25418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2"/>
            </a:solidFill>
            <a:prstDash val="dash"/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6" name="Title-5">
            <a:extLst>
              <a:ext uri="{FF2B5EF4-FFF2-40B4-BE49-F238E27FC236}">
                <a16:creationId xmlns:a16="http://schemas.microsoft.com/office/drawing/2014/main" id="{6408BBDF-6EBE-DF0B-B348-B5D4D0B0BB7C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010772" y="2272606"/>
            <a:ext cx="128278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+mn-ea"/>
                <a:cs typeface="Alibaba PuHuiTi" pitchFamily="18" charset="-122"/>
              </a:rPr>
              <a:t>租赁模块</a:t>
            </a:r>
          </a:p>
        </p:txBody>
      </p:sp>
      <p:sp>
        <p:nvSpPr>
          <p:cNvPr id="197" name="Title-5">
            <a:extLst>
              <a:ext uri="{FF2B5EF4-FFF2-40B4-BE49-F238E27FC236}">
                <a16:creationId xmlns:a16="http://schemas.microsoft.com/office/drawing/2014/main" id="{78C779AF-5B3E-28AF-421A-5E8D934A9CF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036610" y="4576268"/>
            <a:ext cx="128278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  <a:latin typeface="+mn-ea"/>
                <a:cs typeface="Alibaba PuHuiTi" pitchFamily="18" charset="-122"/>
              </a:rPr>
              <a:t>用户管理</a:t>
            </a:r>
          </a:p>
        </p:txBody>
      </p:sp>
      <p:sp>
        <p:nvSpPr>
          <p:cNvPr id="198" name="Body-5">
            <a:extLst>
              <a:ext uri="{FF2B5EF4-FFF2-40B4-BE49-F238E27FC236}">
                <a16:creationId xmlns:a16="http://schemas.microsoft.com/office/drawing/2014/main" id="{D26470E0-47A5-F79D-1538-F8EAF4D4FEE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 flipH="1">
            <a:off x="10030839" y="2978581"/>
            <a:ext cx="1242648" cy="1322221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器材租赁发布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租赁规则设置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租赁订单管理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租赁设备状态跟踪</a:t>
            </a:r>
            <a:endParaRPr lang="en-US" altLang="zh-CN" sz="1100" dirty="0">
              <a:latin typeface="+mn-ea"/>
              <a:cs typeface="+mn-ea"/>
              <a:sym typeface="+mn-lt"/>
            </a:endParaRPr>
          </a:p>
        </p:txBody>
      </p:sp>
      <p:sp>
        <p:nvSpPr>
          <p:cNvPr id="204" name="Body-4">
            <a:extLst>
              <a:ext uri="{FF2B5EF4-FFF2-40B4-BE49-F238E27FC236}">
                <a16:creationId xmlns:a16="http://schemas.microsoft.com/office/drawing/2014/main" id="{767C997A-E34A-A26F-93C3-70138B182573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 flipH="1">
            <a:off x="10023691" y="5327405"/>
            <a:ext cx="1242648" cy="1322221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普通用户管理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企业用户编辑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管理员用户管理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个人信息管理</a:t>
            </a:r>
            <a:endParaRPr lang="en-US" altLang="zh-CN" sz="1100" dirty="0">
              <a:latin typeface="+mn-ea"/>
              <a:cs typeface="+mn-ea"/>
              <a:sym typeface="+mn-lt"/>
            </a:endParaRPr>
          </a:p>
          <a:p>
            <a:pPr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latin typeface="+mn-ea"/>
                <a:cs typeface="+mn-ea"/>
                <a:sym typeface="+mn-lt"/>
              </a:rPr>
              <a:t>权限管理</a:t>
            </a:r>
            <a:endParaRPr lang="en-US" altLang="zh-CN" sz="1100" dirty="0"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DEF91D-FC00-0E4F-E7D1-94C2C9E81BB9}"/>
              </a:ext>
            </a:extLst>
          </p:cNvPr>
          <p:cNvSpPr txBox="1"/>
          <p:nvPr/>
        </p:nvSpPr>
        <p:spPr>
          <a:xfrm>
            <a:off x="636533" y="864436"/>
            <a:ext cx="5378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覆盖</a:t>
            </a:r>
            <a:r>
              <a:rPr lang="zh-CN" altLang="en-US" b="1" dirty="0"/>
              <a:t>普通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用户端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+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企业商家端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+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管理端</a:t>
            </a:r>
            <a:r>
              <a:rPr lang="zh-CN" altLang="en-US" dirty="0"/>
              <a:t>全角色业务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4260850" y="1104900"/>
            <a:ext cx="4245610" cy="4245610"/>
            <a:chOff x="7297" y="2629"/>
            <a:chExt cx="5542" cy="5542"/>
          </a:xfrm>
        </p:grpSpPr>
        <p:sp>
          <p:nvSpPr>
            <p:cNvPr id="27" name="矩形 26"/>
            <p:cNvSpPr/>
            <p:nvPr/>
          </p:nvSpPr>
          <p:spPr>
            <a:xfrm rot="2700000">
              <a:off x="7297" y="2629"/>
              <a:ext cx="5542" cy="5542"/>
            </a:xfrm>
            <a:prstGeom prst="rect">
              <a:avLst/>
            </a:prstGeom>
            <a:solidFill>
              <a:srgbClr val="CECDCC">
                <a:alpha val="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 rot="2700000">
              <a:off x="7832" y="3163"/>
              <a:ext cx="4474" cy="4474"/>
            </a:xfrm>
            <a:prstGeom prst="rect">
              <a:avLst/>
            </a:prstGeom>
            <a:solidFill>
              <a:srgbClr val="7AA8D5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2535555" y="2720340"/>
            <a:ext cx="76962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关键技术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457508" y="1980565"/>
            <a:ext cx="18522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spc="300" dirty="0">
                <a:solidFill>
                  <a:srgbClr val="2A73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PART 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CB6E6-FCD2-ADA3-59CB-F0B1F607A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未标题-1-02">
            <a:extLst>
              <a:ext uri="{FF2B5EF4-FFF2-40B4-BE49-F238E27FC236}">
                <a16:creationId xmlns:a16="http://schemas.microsoft.com/office/drawing/2014/main" id="{162F46F2-FB70-C84C-936C-A02F64194CA0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8423" b="26938"/>
          <a:stretch>
            <a:fillRect/>
          </a:stretch>
        </p:blipFill>
        <p:spPr>
          <a:xfrm rot="10800000" flipH="1">
            <a:off x="0" y="0"/>
            <a:ext cx="1744980" cy="274129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8E167A9-9F28-3233-201C-67808669D66C}"/>
              </a:ext>
            </a:extLst>
          </p:cNvPr>
          <p:cNvSpPr txBox="1"/>
          <p:nvPr/>
        </p:nvSpPr>
        <p:spPr>
          <a:xfrm>
            <a:off x="1332865" y="196215"/>
            <a:ext cx="3032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关键技术</a:t>
            </a:r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8DC496B6-EB20-4396-575E-0056058E6E0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69209" y="1124200"/>
            <a:ext cx="10648092" cy="4609600"/>
            <a:chOff x="769210" y="1272314"/>
            <a:chExt cx="10648092" cy="4609600"/>
          </a:xfrm>
        </p:grpSpPr>
        <p:grpSp>
          <p:nvGrpSpPr>
            <p:cNvPr id="156" name="组合 1">
              <a:extLst>
                <a:ext uri="{FF2B5EF4-FFF2-40B4-BE49-F238E27FC236}">
                  <a16:creationId xmlns:a16="http://schemas.microsoft.com/office/drawing/2014/main" id="{76FDD134-AF79-F493-C0C6-87934807C75C}"/>
                </a:ext>
              </a:extLst>
            </p:cNvPr>
            <p:cNvGrpSpPr/>
            <p:nvPr/>
          </p:nvGrpSpPr>
          <p:grpSpPr>
            <a:xfrm>
              <a:off x="774700" y="1272314"/>
              <a:ext cx="3140677" cy="2156686"/>
              <a:chOff x="774700" y="1272314"/>
              <a:chExt cx="3140677" cy="2156686"/>
            </a:xfrm>
          </p:grpSpPr>
          <p:sp>
            <p:nvSpPr>
              <p:cNvPr id="192" name="1">
                <a:extLst>
                  <a:ext uri="{FF2B5EF4-FFF2-40B4-BE49-F238E27FC236}">
                    <a16:creationId xmlns:a16="http://schemas.microsoft.com/office/drawing/2014/main" id="{64AC4454-FA6F-02AE-CAF0-218F93B119FE}"/>
                  </a:ext>
                </a:extLst>
              </p:cNvPr>
              <p:cNvSpPr/>
              <p:nvPr/>
            </p:nvSpPr>
            <p:spPr>
              <a:xfrm>
                <a:off x="879780" y="1683328"/>
                <a:ext cx="3035597" cy="1745672"/>
              </a:xfrm>
              <a:prstGeom prst="roundRect">
                <a:avLst>
                  <a:gd name="adj" fmla="val 11905"/>
                </a:avLst>
              </a:prstGeom>
              <a:solidFill>
                <a:schemeClr val="bg1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1">
                <a:extLst>
                  <a:ext uri="{FF2B5EF4-FFF2-40B4-BE49-F238E27FC236}">
                    <a16:creationId xmlns:a16="http://schemas.microsoft.com/office/drawing/2014/main" id="{9C351541-7F84-6E7D-9866-1BE05AF64856}"/>
                  </a:ext>
                </a:extLst>
              </p:cNvPr>
              <p:cNvSpPr/>
              <p:nvPr/>
            </p:nvSpPr>
            <p:spPr>
              <a:xfrm>
                <a:off x="774700" y="1439141"/>
                <a:ext cx="1940656" cy="488373"/>
              </a:xfrm>
              <a:prstGeom prst="round1Rect">
                <a:avLst>
                  <a:gd name="adj" fmla="val 36171"/>
                </a:avLst>
              </a:prstGeom>
              <a:solidFill>
                <a:srgbClr val="2A73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1">
                <a:extLst>
                  <a:ext uri="{FF2B5EF4-FFF2-40B4-BE49-F238E27FC236}">
                    <a16:creationId xmlns:a16="http://schemas.microsoft.com/office/drawing/2014/main" id="{7C028938-43E7-6EF5-1955-4A5AA4A79E91}"/>
                  </a:ext>
                </a:extLst>
              </p:cNvPr>
              <p:cNvSpPr/>
              <p:nvPr/>
            </p:nvSpPr>
            <p:spPr>
              <a:xfrm flipH="1" flipV="1">
                <a:off x="774700" y="1927512"/>
                <a:ext cx="105080" cy="312017"/>
              </a:xfrm>
              <a:prstGeom prst="rtTriangl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Body-1">
                <a:extLst>
                  <a:ext uri="{FF2B5EF4-FFF2-40B4-BE49-F238E27FC236}">
                    <a16:creationId xmlns:a16="http://schemas.microsoft.com/office/drawing/2014/main" id="{825D73BE-16F4-266B-2116-AE951A1E3A2A}"/>
                  </a:ext>
                </a:extLst>
              </p:cNvPr>
              <p:cNvSpPr txBox="1"/>
              <p:nvPr>
                <p:custDataLst>
                  <p:tags r:id="rId17"/>
                </p:custDataLst>
              </p:nvPr>
            </p:nvSpPr>
            <p:spPr>
              <a:xfrm flipH="1">
                <a:off x="979795" y="2072287"/>
                <a:ext cx="2848817" cy="134092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实现无状态认证，提升系统性能；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生成包含用户信息和权限的</a:t>
                </a:r>
                <a:r>
                  <a:rPr kumimoji="1" lang="en-US" altLang="zh-CN" sz="1400" dirty="0">
                    <a:latin typeface="+mn-ea"/>
                    <a:sym typeface="Arial" panose="020B0604020202020204" pitchFamily="34" charset="0"/>
                  </a:rPr>
                  <a:t>token</a:t>
                </a: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sz="1400" dirty="0">
                    <a:latin typeface="+mn-ea"/>
                    <a:sym typeface="Arial" panose="020B0604020202020204" pitchFamily="34" charset="0"/>
                  </a:rPr>
                  <a:t>token</a:t>
                </a: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过期时间管理；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刷新</a:t>
                </a:r>
                <a:r>
                  <a:rPr kumimoji="1" lang="en-US" altLang="zh-CN" sz="1400" dirty="0">
                    <a:latin typeface="+mn-ea"/>
                    <a:sym typeface="Arial" panose="020B0604020202020204" pitchFamily="34" charset="0"/>
                  </a:rPr>
                  <a:t>token</a:t>
                </a: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机制；角色信息提取；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6" name="Title-1">
                <a:extLst>
                  <a:ext uri="{FF2B5EF4-FFF2-40B4-BE49-F238E27FC236}">
                    <a16:creationId xmlns:a16="http://schemas.microsoft.com/office/drawing/2014/main" id="{B7AB187E-0CF0-517D-ABD2-061CD71904DB}"/>
                  </a:ext>
                </a:extLst>
              </p:cNvPr>
              <p:cNvSpPr txBox="1"/>
              <p:nvPr>
                <p:custDataLst>
                  <p:tags r:id="rId18"/>
                </p:custDataLst>
              </p:nvPr>
            </p:nvSpPr>
            <p:spPr>
              <a:xfrm flipH="1">
                <a:off x="819529" y="1500078"/>
                <a:ext cx="1462233" cy="36649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b="1" dirty="0">
                    <a:solidFill>
                      <a:schemeClr val="bg1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JWT</a:t>
                </a:r>
                <a:r>
                  <a:rPr lang="zh-CN" altLang="en-US" b="1" dirty="0">
                    <a:solidFill>
                      <a:schemeClr val="bg1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认证机制</a:t>
                </a:r>
              </a:p>
            </p:txBody>
          </p:sp>
          <p:sp>
            <p:nvSpPr>
              <p:cNvPr id="197" name="Index-1">
                <a:extLst>
                  <a:ext uri="{FF2B5EF4-FFF2-40B4-BE49-F238E27FC236}">
                    <a16:creationId xmlns:a16="http://schemas.microsoft.com/office/drawing/2014/main" id="{A8C79002-51B2-5AF0-454D-B72ED11876B4}"/>
                  </a:ext>
                </a:extLst>
              </p:cNvPr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2093054" y="1272314"/>
                <a:ext cx="622302" cy="33365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400" b="1" dirty="0">
                    <a:ln>
                      <a:solidFill>
                        <a:schemeClr val="accent3"/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01</a:t>
                </a:r>
                <a:endParaRPr lang="zh-CN" altLang="en-US" sz="2400" b="1" dirty="0">
                  <a:ln>
                    <a:solidFill>
                      <a:schemeClr val="accent3"/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57" name="组合 2">
              <a:extLst>
                <a:ext uri="{FF2B5EF4-FFF2-40B4-BE49-F238E27FC236}">
                  <a16:creationId xmlns:a16="http://schemas.microsoft.com/office/drawing/2014/main" id="{5BB37644-4227-82C6-4893-81792F75C852}"/>
                </a:ext>
              </a:extLst>
            </p:cNvPr>
            <p:cNvGrpSpPr/>
            <p:nvPr/>
          </p:nvGrpSpPr>
          <p:grpSpPr>
            <a:xfrm>
              <a:off x="4525661" y="1272314"/>
              <a:ext cx="3140677" cy="2156686"/>
              <a:chOff x="774700" y="1272314"/>
              <a:chExt cx="3140677" cy="2156686"/>
            </a:xfrm>
          </p:grpSpPr>
          <p:sp>
            <p:nvSpPr>
              <p:cNvPr id="186" name="2">
                <a:extLst>
                  <a:ext uri="{FF2B5EF4-FFF2-40B4-BE49-F238E27FC236}">
                    <a16:creationId xmlns:a16="http://schemas.microsoft.com/office/drawing/2014/main" id="{5FAD94B1-06B7-DFDE-F874-82EFC29DA376}"/>
                  </a:ext>
                </a:extLst>
              </p:cNvPr>
              <p:cNvSpPr/>
              <p:nvPr/>
            </p:nvSpPr>
            <p:spPr>
              <a:xfrm>
                <a:off x="879780" y="1683328"/>
                <a:ext cx="3035597" cy="1745672"/>
              </a:xfrm>
              <a:prstGeom prst="roundRect">
                <a:avLst>
                  <a:gd name="adj" fmla="val 11905"/>
                </a:avLst>
              </a:prstGeom>
              <a:solidFill>
                <a:schemeClr val="bg1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2">
                <a:extLst>
                  <a:ext uri="{FF2B5EF4-FFF2-40B4-BE49-F238E27FC236}">
                    <a16:creationId xmlns:a16="http://schemas.microsoft.com/office/drawing/2014/main" id="{902DB587-E47C-6390-7802-4D2A11FCFAC5}"/>
                  </a:ext>
                </a:extLst>
              </p:cNvPr>
              <p:cNvSpPr/>
              <p:nvPr/>
            </p:nvSpPr>
            <p:spPr>
              <a:xfrm>
                <a:off x="774700" y="1439141"/>
                <a:ext cx="1940656" cy="488373"/>
              </a:xfrm>
              <a:prstGeom prst="round1Rect">
                <a:avLst>
                  <a:gd name="adj" fmla="val 36171"/>
                </a:avLst>
              </a:prstGeom>
              <a:solidFill>
                <a:srgbClr val="2A73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2">
                <a:extLst>
                  <a:ext uri="{FF2B5EF4-FFF2-40B4-BE49-F238E27FC236}">
                    <a16:creationId xmlns:a16="http://schemas.microsoft.com/office/drawing/2014/main" id="{7FD096B8-08B9-F028-C844-C1D19F5252A3}"/>
                  </a:ext>
                </a:extLst>
              </p:cNvPr>
              <p:cNvSpPr/>
              <p:nvPr/>
            </p:nvSpPr>
            <p:spPr>
              <a:xfrm flipH="1" flipV="1">
                <a:off x="774700" y="1927512"/>
                <a:ext cx="105080" cy="312017"/>
              </a:xfrm>
              <a:prstGeom prst="rtTriangl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Body-2">
                <a:extLst>
                  <a:ext uri="{FF2B5EF4-FFF2-40B4-BE49-F238E27FC236}">
                    <a16:creationId xmlns:a16="http://schemas.microsoft.com/office/drawing/2014/main" id="{ACB5406B-E3E2-2007-9B2C-FCA83BF90236}"/>
                  </a:ext>
                </a:extLst>
              </p:cNvPr>
              <p:cNvSpPr txBox="1"/>
              <p:nvPr>
                <p:custDataLst>
                  <p:tags r:id="rId14"/>
                </p:custDataLst>
              </p:nvPr>
            </p:nvSpPr>
            <p:spPr>
              <a:xfrm flipH="1">
                <a:off x="1066557" y="2064147"/>
                <a:ext cx="2678128" cy="109483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商品缓存，提升查询性能；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购物车数据缓存；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库存管理数据缓存；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sz="1400" dirty="0">
                    <a:latin typeface="+mn-ea"/>
                    <a:sym typeface="Arial" panose="020B0604020202020204" pitchFamily="34" charset="0"/>
                  </a:rPr>
                  <a:t>JWT</a:t>
                </a: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认证；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0" name="Title-2">
                <a:extLst>
                  <a:ext uri="{FF2B5EF4-FFF2-40B4-BE49-F238E27FC236}">
                    <a16:creationId xmlns:a16="http://schemas.microsoft.com/office/drawing/2014/main" id="{06F3D65C-402D-2D56-08C9-6132DBFBA50D}"/>
                  </a:ext>
                </a:extLst>
              </p:cNvPr>
              <p:cNvSpPr txBox="1"/>
              <p:nvPr>
                <p:custDataLst>
                  <p:tags r:id="rId15"/>
                </p:custDataLst>
              </p:nvPr>
            </p:nvSpPr>
            <p:spPr>
              <a:xfrm flipH="1">
                <a:off x="1066563" y="1500079"/>
                <a:ext cx="1236771" cy="36649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b="1" dirty="0">
                    <a:solidFill>
                      <a:schemeClr val="bg1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Redis</a:t>
                </a:r>
                <a:r>
                  <a:rPr lang="zh-CN" altLang="en-US" b="1" dirty="0">
                    <a:solidFill>
                      <a:schemeClr val="bg1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缓存</a:t>
                </a:r>
              </a:p>
            </p:txBody>
          </p:sp>
          <p:sp>
            <p:nvSpPr>
              <p:cNvPr id="191" name="Index-2">
                <a:extLst>
                  <a:ext uri="{FF2B5EF4-FFF2-40B4-BE49-F238E27FC236}">
                    <a16:creationId xmlns:a16="http://schemas.microsoft.com/office/drawing/2014/main" id="{C436E80C-99CE-5633-91B3-61570CF062BA}"/>
                  </a:ext>
                </a:extLst>
              </p:cNvPr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2093054" y="1272314"/>
                <a:ext cx="622302" cy="33365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400" b="1" dirty="0">
                    <a:ln>
                      <a:solidFill>
                        <a:schemeClr val="accent3"/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02</a:t>
                </a:r>
                <a:endParaRPr lang="zh-CN" altLang="en-US" sz="2400" b="1" dirty="0">
                  <a:ln>
                    <a:solidFill>
                      <a:schemeClr val="accent3"/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58" name="组合 3">
              <a:extLst>
                <a:ext uri="{FF2B5EF4-FFF2-40B4-BE49-F238E27FC236}">
                  <a16:creationId xmlns:a16="http://schemas.microsoft.com/office/drawing/2014/main" id="{09CF23F4-C718-B992-B806-883FFD0ABB00}"/>
                </a:ext>
              </a:extLst>
            </p:cNvPr>
            <p:cNvGrpSpPr/>
            <p:nvPr/>
          </p:nvGrpSpPr>
          <p:grpSpPr>
            <a:xfrm>
              <a:off x="8251890" y="1272314"/>
              <a:ext cx="3165412" cy="2156686"/>
              <a:chOff x="749965" y="1272314"/>
              <a:chExt cx="3165412" cy="2156686"/>
            </a:xfrm>
          </p:grpSpPr>
          <p:sp>
            <p:nvSpPr>
              <p:cNvPr id="180" name="3">
                <a:extLst>
                  <a:ext uri="{FF2B5EF4-FFF2-40B4-BE49-F238E27FC236}">
                    <a16:creationId xmlns:a16="http://schemas.microsoft.com/office/drawing/2014/main" id="{D1B1C094-9264-87F8-8B38-9C41B724498B}"/>
                  </a:ext>
                </a:extLst>
              </p:cNvPr>
              <p:cNvSpPr/>
              <p:nvPr/>
            </p:nvSpPr>
            <p:spPr>
              <a:xfrm>
                <a:off x="879780" y="1683328"/>
                <a:ext cx="3035597" cy="1745672"/>
              </a:xfrm>
              <a:prstGeom prst="roundRect">
                <a:avLst>
                  <a:gd name="adj" fmla="val 11905"/>
                </a:avLst>
              </a:prstGeom>
              <a:solidFill>
                <a:schemeClr val="bg1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3">
                <a:extLst>
                  <a:ext uri="{FF2B5EF4-FFF2-40B4-BE49-F238E27FC236}">
                    <a16:creationId xmlns:a16="http://schemas.microsoft.com/office/drawing/2014/main" id="{ABD118A8-152D-F451-854B-96B1737AAF62}"/>
                  </a:ext>
                </a:extLst>
              </p:cNvPr>
              <p:cNvSpPr/>
              <p:nvPr/>
            </p:nvSpPr>
            <p:spPr>
              <a:xfrm>
                <a:off x="774700" y="1439141"/>
                <a:ext cx="2086576" cy="488373"/>
              </a:xfrm>
              <a:prstGeom prst="round1Rect">
                <a:avLst>
                  <a:gd name="adj" fmla="val 36171"/>
                </a:avLst>
              </a:prstGeom>
              <a:solidFill>
                <a:srgbClr val="2A73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3">
                <a:extLst>
                  <a:ext uri="{FF2B5EF4-FFF2-40B4-BE49-F238E27FC236}">
                    <a16:creationId xmlns:a16="http://schemas.microsoft.com/office/drawing/2014/main" id="{A9AC82A9-3566-2B68-77DD-A2E9948A5157}"/>
                  </a:ext>
                </a:extLst>
              </p:cNvPr>
              <p:cNvSpPr/>
              <p:nvPr/>
            </p:nvSpPr>
            <p:spPr>
              <a:xfrm flipH="1" flipV="1">
                <a:off x="774700" y="1927512"/>
                <a:ext cx="105080" cy="312017"/>
              </a:xfrm>
              <a:prstGeom prst="rtTriangl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Body-3">
                <a:extLst>
                  <a:ext uri="{FF2B5EF4-FFF2-40B4-BE49-F238E27FC236}">
                    <a16:creationId xmlns:a16="http://schemas.microsoft.com/office/drawing/2014/main" id="{C5A3B461-8B6D-AA30-3D5E-4E52311D8909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 flipH="1">
                <a:off x="1066557" y="2064147"/>
                <a:ext cx="2678128" cy="109483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图片上传与存储；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图片压缩与处理；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文件路径管理；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图片访问控制；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4" name="Title-3">
                <a:extLst>
                  <a:ext uri="{FF2B5EF4-FFF2-40B4-BE49-F238E27FC236}">
                    <a16:creationId xmlns:a16="http://schemas.microsoft.com/office/drawing/2014/main" id="{C56DACF5-E631-D114-FCDE-A610F608F81C}"/>
                  </a:ext>
                </a:extLst>
              </p:cNvPr>
              <p:cNvSpPr txBox="1"/>
              <p:nvPr>
                <p:custDataLst>
                  <p:tags r:id="rId12"/>
                </p:custDataLst>
              </p:nvPr>
            </p:nvSpPr>
            <p:spPr>
              <a:xfrm flipH="1">
                <a:off x="749965" y="1527277"/>
                <a:ext cx="1847058" cy="36649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1" dirty="0">
                    <a:solidFill>
                      <a:schemeClr val="bg1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文件上传与管理</a:t>
                </a:r>
              </a:p>
            </p:txBody>
          </p:sp>
          <p:sp>
            <p:nvSpPr>
              <p:cNvPr id="185" name="Index-3">
                <a:extLst>
                  <a:ext uri="{FF2B5EF4-FFF2-40B4-BE49-F238E27FC236}">
                    <a16:creationId xmlns:a16="http://schemas.microsoft.com/office/drawing/2014/main" id="{8CE578BC-33AA-CC86-17FE-82A7F566A94C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247106" y="1272314"/>
                <a:ext cx="622302" cy="33365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400" b="1" dirty="0">
                    <a:ln>
                      <a:solidFill>
                        <a:schemeClr val="accent3"/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03</a:t>
                </a:r>
                <a:endParaRPr lang="zh-CN" altLang="en-US" sz="2400" b="1" dirty="0">
                  <a:ln>
                    <a:solidFill>
                      <a:schemeClr val="accent3"/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59" name="组合 4">
              <a:extLst>
                <a:ext uri="{FF2B5EF4-FFF2-40B4-BE49-F238E27FC236}">
                  <a16:creationId xmlns:a16="http://schemas.microsoft.com/office/drawing/2014/main" id="{DE6C708B-4D60-2E68-57C6-5EB019C8BA79}"/>
                </a:ext>
              </a:extLst>
            </p:cNvPr>
            <p:cNvGrpSpPr/>
            <p:nvPr/>
          </p:nvGrpSpPr>
          <p:grpSpPr>
            <a:xfrm>
              <a:off x="769210" y="3725228"/>
              <a:ext cx="3146167" cy="2156686"/>
              <a:chOff x="769210" y="1272314"/>
              <a:chExt cx="3146167" cy="2156686"/>
            </a:xfrm>
          </p:grpSpPr>
          <p:sp>
            <p:nvSpPr>
              <p:cNvPr id="174" name="4">
                <a:extLst>
                  <a:ext uri="{FF2B5EF4-FFF2-40B4-BE49-F238E27FC236}">
                    <a16:creationId xmlns:a16="http://schemas.microsoft.com/office/drawing/2014/main" id="{6FC29D3D-9427-8685-2388-310C847FA5CD}"/>
                  </a:ext>
                </a:extLst>
              </p:cNvPr>
              <p:cNvSpPr/>
              <p:nvPr/>
            </p:nvSpPr>
            <p:spPr>
              <a:xfrm>
                <a:off x="879780" y="1683328"/>
                <a:ext cx="3035597" cy="1745672"/>
              </a:xfrm>
              <a:prstGeom prst="roundRect">
                <a:avLst>
                  <a:gd name="adj" fmla="val 11905"/>
                </a:avLst>
              </a:prstGeom>
              <a:solidFill>
                <a:schemeClr val="bg1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4">
                <a:extLst>
                  <a:ext uri="{FF2B5EF4-FFF2-40B4-BE49-F238E27FC236}">
                    <a16:creationId xmlns:a16="http://schemas.microsoft.com/office/drawing/2014/main" id="{FC04279B-B905-7BCC-363E-2480799FE346}"/>
                  </a:ext>
                </a:extLst>
              </p:cNvPr>
              <p:cNvSpPr/>
              <p:nvPr/>
            </p:nvSpPr>
            <p:spPr>
              <a:xfrm>
                <a:off x="774700" y="1439141"/>
                <a:ext cx="1940656" cy="488373"/>
              </a:xfrm>
              <a:prstGeom prst="round1Rect">
                <a:avLst>
                  <a:gd name="adj" fmla="val 36171"/>
                </a:avLst>
              </a:prstGeom>
              <a:solidFill>
                <a:srgbClr val="2A73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4">
                <a:extLst>
                  <a:ext uri="{FF2B5EF4-FFF2-40B4-BE49-F238E27FC236}">
                    <a16:creationId xmlns:a16="http://schemas.microsoft.com/office/drawing/2014/main" id="{C656ACAB-DEC5-7CE5-5A1C-5C5C23AAFC61}"/>
                  </a:ext>
                </a:extLst>
              </p:cNvPr>
              <p:cNvSpPr/>
              <p:nvPr/>
            </p:nvSpPr>
            <p:spPr>
              <a:xfrm flipH="1" flipV="1">
                <a:off x="774700" y="1927512"/>
                <a:ext cx="105080" cy="312017"/>
              </a:xfrm>
              <a:prstGeom prst="rtTriangl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Body-4">
                <a:extLst>
                  <a:ext uri="{FF2B5EF4-FFF2-40B4-BE49-F238E27FC236}">
                    <a16:creationId xmlns:a16="http://schemas.microsoft.com/office/drawing/2014/main" id="{491B027E-1FF6-E031-8DDF-FCD777B22F2A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 flipH="1">
                <a:off x="1066557" y="2064147"/>
                <a:ext cx="2678128" cy="109483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订单创建与状态流转；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订单重复提示；订单超时处理；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退款流程处理；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支付接口集成（模拟）；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8" name="Title-4">
                <a:extLst>
                  <a:ext uri="{FF2B5EF4-FFF2-40B4-BE49-F238E27FC236}">
                    <a16:creationId xmlns:a16="http://schemas.microsoft.com/office/drawing/2014/main" id="{EBEFBEA0-D09F-0C50-62EC-7148E6E79C0E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 flipH="1">
                <a:off x="769210" y="1500079"/>
                <a:ext cx="1617533" cy="36649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1" dirty="0">
                    <a:solidFill>
                      <a:schemeClr val="bg1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订单处理流程</a:t>
                </a:r>
              </a:p>
            </p:txBody>
          </p:sp>
          <p:sp>
            <p:nvSpPr>
              <p:cNvPr id="179" name="Index-4">
                <a:extLst>
                  <a:ext uri="{FF2B5EF4-FFF2-40B4-BE49-F238E27FC236}">
                    <a16:creationId xmlns:a16="http://schemas.microsoft.com/office/drawing/2014/main" id="{8E9C771C-C9BA-4B2A-F9C2-AFED38CDFC05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093054" y="1272314"/>
                <a:ext cx="622302" cy="33365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400" b="1" dirty="0">
                    <a:ln>
                      <a:solidFill>
                        <a:schemeClr val="accent3"/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04</a:t>
                </a:r>
                <a:endParaRPr lang="zh-CN" altLang="en-US" sz="2400" b="1" dirty="0">
                  <a:ln>
                    <a:solidFill>
                      <a:schemeClr val="accent3"/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60" name="组合 5">
              <a:extLst>
                <a:ext uri="{FF2B5EF4-FFF2-40B4-BE49-F238E27FC236}">
                  <a16:creationId xmlns:a16="http://schemas.microsoft.com/office/drawing/2014/main" id="{B504BD7A-617C-1736-0346-1AB944117F78}"/>
                </a:ext>
              </a:extLst>
            </p:cNvPr>
            <p:cNvGrpSpPr/>
            <p:nvPr/>
          </p:nvGrpSpPr>
          <p:grpSpPr>
            <a:xfrm>
              <a:off x="4525661" y="3725228"/>
              <a:ext cx="3140677" cy="2156686"/>
              <a:chOff x="774700" y="1272314"/>
              <a:chExt cx="3140677" cy="2156686"/>
            </a:xfrm>
          </p:grpSpPr>
          <p:sp>
            <p:nvSpPr>
              <p:cNvPr id="168" name="5">
                <a:extLst>
                  <a:ext uri="{FF2B5EF4-FFF2-40B4-BE49-F238E27FC236}">
                    <a16:creationId xmlns:a16="http://schemas.microsoft.com/office/drawing/2014/main" id="{5CA05455-7345-A6B5-978E-FC061ABC8BD1}"/>
                  </a:ext>
                </a:extLst>
              </p:cNvPr>
              <p:cNvSpPr/>
              <p:nvPr/>
            </p:nvSpPr>
            <p:spPr>
              <a:xfrm>
                <a:off x="879780" y="1683328"/>
                <a:ext cx="3035597" cy="1745672"/>
              </a:xfrm>
              <a:prstGeom prst="roundRect">
                <a:avLst>
                  <a:gd name="adj" fmla="val 11905"/>
                </a:avLst>
              </a:prstGeom>
              <a:solidFill>
                <a:schemeClr val="bg1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5">
                <a:extLst>
                  <a:ext uri="{FF2B5EF4-FFF2-40B4-BE49-F238E27FC236}">
                    <a16:creationId xmlns:a16="http://schemas.microsoft.com/office/drawing/2014/main" id="{32C67F56-2BAD-279E-ED91-7903CC9FA160}"/>
                  </a:ext>
                </a:extLst>
              </p:cNvPr>
              <p:cNvSpPr/>
              <p:nvPr/>
            </p:nvSpPr>
            <p:spPr>
              <a:xfrm>
                <a:off x="774700" y="1439141"/>
                <a:ext cx="1940656" cy="488373"/>
              </a:xfrm>
              <a:prstGeom prst="round1Rect">
                <a:avLst>
                  <a:gd name="adj" fmla="val 36171"/>
                </a:avLst>
              </a:prstGeom>
              <a:solidFill>
                <a:srgbClr val="2A73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5">
                <a:extLst>
                  <a:ext uri="{FF2B5EF4-FFF2-40B4-BE49-F238E27FC236}">
                    <a16:creationId xmlns:a16="http://schemas.microsoft.com/office/drawing/2014/main" id="{636D28D3-50A9-71C9-FAFF-FE7E1257B14C}"/>
                  </a:ext>
                </a:extLst>
              </p:cNvPr>
              <p:cNvSpPr/>
              <p:nvPr/>
            </p:nvSpPr>
            <p:spPr>
              <a:xfrm flipH="1" flipV="1">
                <a:off x="774700" y="1927512"/>
                <a:ext cx="105080" cy="312017"/>
              </a:xfrm>
              <a:prstGeom prst="rtTriangl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Body-5">
                <a:extLst>
                  <a:ext uri="{FF2B5EF4-FFF2-40B4-BE49-F238E27FC236}">
                    <a16:creationId xmlns:a16="http://schemas.microsoft.com/office/drawing/2014/main" id="{33E5CDE2-6B5E-3684-7162-31FD210749ED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 flipH="1">
                <a:off x="1066557" y="2064147"/>
                <a:ext cx="2678128" cy="109483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密码加密存储（</a:t>
                </a:r>
                <a:r>
                  <a:rPr kumimoji="1" lang="en-US" altLang="zh-CN" sz="1400" dirty="0" err="1">
                    <a:latin typeface="+mn-ea"/>
                    <a:sym typeface="Arial" panose="020B0604020202020204" pitchFamily="34" charset="0"/>
                  </a:rPr>
                  <a:t>BCrypt</a:t>
                </a: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）；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sz="1400" dirty="0">
                    <a:latin typeface="+mn-ea"/>
                    <a:sym typeface="Arial" panose="020B0604020202020204" pitchFamily="34" charset="0"/>
                  </a:rPr>
                  <a:t>SQL</a:t>
                </a: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注入防护；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sz="1400" dirty="0">
                    <a:latin typeface="+mn-ea"/>
                    <a:sym typeface="Arial" panose="020B0604020202020204" pitchFamily="34" charset="0"/>
                  </a:rPr>
                  <a:t>XSS</a:t>
                </a: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攻击防护；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敏感数据脱敏；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2" name="Title-5">
                <a:extLst>
                  <a:ext uri="{FF2B5EF4-FFF2-40B4-BE49-F238E27FC236}">
                    <a16:creationId xmlns:a16="http://schemas.microsoft.com/office/drawing/2014/main" id="{6E4DB6E6-3459-A082-5681-A0D9577D68D7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 flipH="1">
                <a:off x="1066563" y="1500079"/>
                <a:ext cx="1236771" cy="36649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1" dirty="0">
                    <a:solidFill>
                      <a:schemeClr val="bg1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数据安全</a:t>
                </a:r>
              </a:p>
            </p:txBody>
          </p:sp>
          <p:sp>
            <p:nvSpPr>
              <p:cNvPr id="173" name="Index-5">
                <a:extLst>
                  <a:ext uri="{FF2B5EF4-FFF2-40B4-BE49-F238E27FC236}">
                    <a16:creationId xmlns:a16="http://schemas.microsoft.com/office/drawing/2014/main" id="{FD35BD7B-13DF-E910-F0D3-A75548B2B112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093054" y="1272314"/>
                <a:ext cx="622302" cy="33365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400" b="1" dirty="0">
                    <a:ln>
                      <a:solidFill>
                        <a:schemeClr val="accent3"/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05</a:t>
                </a:r>
                <a:endParaRPr lang="zh-CN" altLang="en-US" sz="2400" b="1" dirty="0">
                  <a:ln>
                    <a:solidFill>
                      <a:schemeClr val="accent3"/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61" name="组合 6">
              <a:extLst>
                <a:ext uri="{FF2B5EF4-FFF2-40B4-BE49-F238E27FC236}">
                  <a16:creationId xmlns:a16="http://schemas.microsoft.com/office/drawing/2014/main" id="{0B2AA611-CFD1-DCCD-D2A6-49B4F6E56AB6}"/>
                </a:ext>
              </a:extLst>
            </p:cNvPr>
            <p:cNvGrpSpPr/>
            <p:nvPr/>
          </p:nvGrpSpPr>
          <p:grpSpPr>
            <a:xfrm>
              <a:off x="8276622" y="3725228"/>
              <a:ext cx="3140680" cy="2156686"/>
              <a:chOff x="774697" y="1272314"/>
              <a:chExt cx="3140680" cy="2156686"/>
            </a:xfrm>
          </p:grpSpPr>
          <p:sp>
            <p:nvSpPr>
              <p:cNvPr id="162" name="6">
                <a:extLst>
                  <a:ext uri="{FF2B5EF4-FFF2-40B4-BE49-F238E27FC236}">
                    <a16:creationId xmlns:a16="http://schemas.microsoft.com/office/drawing/2014/main" id="{7FED8428-E6A2-F131-4C75-40C5DA5AF35B}"/>
                  </a:ext>
                </a:extLst>
              </p:cNvPr>
              <p:cNvSpPr/>
              <p:nvPr/>
            </p:nvSpPr>
            <p:spPr>
              <a:xfrm>
                <a:off x="879780" y="1683328"/>
                <a:ext cx="3035597" cy="1745672"/>
              </a:xfrm>
              <a:prstGeom prst="roundRect">
                <a:avLst>
                  <a:gd name="adj" fmla="val 11905"/>
                </a:avLst>
              </a:prstGeom>
              <a:solidFill>
                <a:schemeClr val="bg1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6">
                <a:extLst>
                  <a:ext uri="{FF2B5EF4-FFF2-40B4-BE49-F238E27FC236}">
                    <a16:creationId xmlns:a16="http://schemas.microsoft.com/office/drawing/2014/main" id="{85E96751-2C59-6A82-241E-C3A393BA0218}"/>
                  </a:ext>
                </a:extLst>
              </p:cNvPr>
              <p:cNvSpPr/>
              <p:nvPr/>
            </p:nvSpPr>
            <p:spPr>
              <a:xfrm>
                <a:off x="774700" y="1439141"/>
                <a:ext cx="1940656" cy="488373"/>
              </a:xfrm>
              <a:prstGeom prst="round1Rect">
                <a:avLst>
                  <a:gd name="adj" fmla="val 36171"/>
                </a:avLst>
              </a:prstGeom>
              <a:solidFill>
                <a:srgbClr val="2A73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6">
                <a:extLst>
                  <a:ext uri="{FF2B5EF4-FFF2-40B4-BE49-F238E27FC236}">
                    <a16:creationId xmlns:a16="http://schemas.microsoft.com/office/drawing/2014/main" id="{86E02EE1-2C7B-A48E-4ED2-4D100E15FB9B}"/>
                  </a:ext>
                </a:extLst>
              </p:cNvPr>
              <p:cNvSpPr/>
              <p:nvPr/>
            </p:nvSpPr>
            <p:spPr>
              <a:xfrm flipH="1" flipV="1">
                <a:off x="774700" y="1927512"/>
                <a:ext cx="105080" cy="312017"/>
              </a:xfrm>
              <a:prstGeom prst="rtTriangl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Body-6">
                <a:extLst>
                  <a:ext uri="{FF2B5EF4-FFF2-40B4-BE49-F238E27FC236}">
                    <a16:creationId xmlns:a16="http://schemas.microsoft.com/office/drawing/2014/main" id="{1DA29F8E-6EB8-49D3-35AC-63936BF06D96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 flipH="1">
                <a:off x="1066557" y="2064147"/>
                <a:ext cx="2678128" cy="109483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基于角色的权限管理（</a:t>
                </a:r>
                <a:r>
                  <a:rPr kumimoji="1" lang="en-US" altLang="zh-CN" sz="1400" dirty="0">
                    <a:latin typeface="+mn-ea"/>
                    <a:sym typeface="Arial" panose="020B0604020202020204" pitchFamily="34" charset="0"/>
                  </a:rPr>
                  <a:t>RBAC</a:t>
                </a: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）；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权限动态分配；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细粒度权限控制；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latin typeface="+mn-ea"/>
                    <a:sym typeface="Arial" panose="020B0604020202020204" pitchFamily="34" charset="0"/>
                  </a:rPr>
                  <a:t>权限验证拦截器；</a:t>
                </a: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66" name="Title-6">
                <a:extLst>
                  <a:ext uri="{FF2B5EF4-FFF2-40B4-BE49-F238E27FC236}">
                    <a16:creationId xmlns:a16="http://schemas.microsoft.com/office/drawing/2014/main" id="{2DACA27D-FAFC-C686-F857-7A25AE65848C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 flipH="1">
                <a:off x="774697" y="1507240"/>
                <a:ext cx="1728058" cy="36649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1" dirty="0">
                    <a:solidFill>
                      <a:schemeClr val="bg1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动态权限控制</a:t>
                </a:r>
              </a:p>
            </p:txBody>
          </p:sp>
          <p:sp>
            <p:nvSpPr>
              <p:cNvPr id="167" name="Index-6">
                <a:extLst>
                  <a:ext uri="{FF2B5EF4-FFF2-40B4-BE49-F238E27FC236}">
                    <a16:creationId xmlns:a16="http://schemas.microsoft.com/office/drawing/2014/main" id="{3843C3F1-DAAA-D385-A0D5-C185E4E62AC2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093054" y="1272314"/>
                <a:ext cx="622302" cy="33365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400" b="1" dirty="0">
                    <a:ln>
                      <a:solidFill>
                        <a:schemeClr val="accent3"/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06</a:t>
                </a:r>
                <a:endParaRPr lang="zh-CN" altLang="en-US" sz="2400" b="1" dirty="0">
                  <a:ln>
                    <a:solidFill>
                      <a:schemeClr val="accent3"/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5768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4260850" y="1104900"/>
            <a:ext cx="4245610" cy="4245610"/>
            <a:chOff x="7297" y="2629"/>
            <a:chExt cx="5542" cy="5542"/>
          </a:xfrm>
        </p:grpSpPr>
        <p:sp>
          <p:nvSpPr>
            <p:cNvPr id="27" name="矩形 26"/>
            <p:cNvSpPr/>
            <p:nvPr/>
          </p:nvSpPr>
          <p:spPr>
            <a:xfrm rot="2700000">
              <a:off x="7297" y="2629"/>
              <a:ext cx="5542" cy="5542"/>
            </a:xfrm>
            <a:prstGeom prst="rect">
              <a:avLst/>
            </a:prstGeom>
            <a:solidFill>
              <a:srgbClr val="CECDCC">
                <a:alpha val="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 rot="2700000">
              <a:off x="7832" y="3163"/>
              <a:ext cx="4474" cy="4474"/>
            </a:xfrm>
            <a:prstGeom prst="rect">
              <a:avLst/>
            </a:prstGeom>
            <a:solidFill>
              <a:srgbClr val="7AA8D5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2535555" y="2720340"/>
            <a:ext cx="76962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毕业论文核心内容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457508" y="1980565"/>
            <a:ext cx="18522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spc="300" dirty="0">
                <a:solidFill>
                  <a:srgbClr val="2A73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PART 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未标题-1-02"/>
          <p:cNvPicPr>
            <a:picLocks noChangeAspect="1"/>
          </p:cNvPicPr>
          <p:nvPr/>
        </p:nvPicPr>
        <p:blipFill>
          <a:blip r:embed="rId16"/>
          <a:srcRect l="28423" b="26938"/>
          <a:stretch>
            <a:fillRect/>
          </a:stretch>
        </p:blipFill>
        <p:spPr>
          <a:xfrm rot="10800000" flipH="1">
            <a:off x="0" y="0"/>
            <a:ext cx="1744980" cy="27412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2865" y="196215"/>
            <a:ext cx="3277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毕业论文核心内容</a:t>
            </a: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3EE4A579-9E9E-C01D-09BF-5AA6ABF6E4EE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6742" y="907219"/>
            <a:ext cx="11819208" cy="5185658"/>
            <a:chOff x="42470" y="1171322"/>
            <a:chExt cx="11819208" cy="5185658"/>
          </a:xfrm>
        </p:grpSpPr>
        <p:grpSp>
          <p:nvGrpSpPr>
            <p:cNvPr id="90" name="组合 0">
              <a:extLst>
                <a:ext uri="{FF2B5EF4-FFF2-40B4-BE49-F238E27FC236}">
                  <a16:creationId xmlns:a16="http://schemas.microsoft.com/office/drawing/2014/main" id="{8FCD6DDD-4FE2-8D45-7B71-7AF2B92A89D1}"/>
                </a:ext>
              </a:extLst>
            </p:cNvPr>
            <p:cNvGrpSpPr/>
            <p:nvPr/>
          </p:nvGrpSpPr>
          <p:grpSpPr>
            <a:xfrm>
              <a:off x="3036427" y="1171322"/>
              <a:ext cx="6119147" cy="4515356"/>
              <a:chOff x="3036427" y="1171322"/>
              <a:chExt cx="6119147" cy="4515356"/>
            </a:xfrm>
          </p:grpSpPr>
          <p:sp>
            <p:nvSpPr>
              <p:cNvPr id="111" name="0">
                <a:extLst>
                  <a:ext uri="{FF2B5EF4-FFF2-40B4-BE49-F238E27FC236}">
                    <a16:creationId xmlns:a16="http://schemas.microsoft.com/office/drawing/2014/main" id="{447AE817-5A7D-46E5-4870-25A9EF57B0A9}"/>
                  </a:ext>
                </a:extLst>
              </p:cNvPr>
              <p:cNvSpPr/>
              <p:nvPr/>
            </p:nvSpPr>
            <p:spPr>
              <a:xfrm>
                <a:off x="3036427" y="1171322"/>
                <a:ext cx="6119147" cy="4473546"/>
              </a:xfrm>
              <a:custGeom>
                <a:avLst/>
                <a:gdLst>
                  <a:gd name="connsiteX0" fmla="*/ 2447624 w 5934832"/>
                  <a:gd name="connsiteY0" fmla="*/ 0 h 4399416"/>
                  <a:gd name="connsiteX1" fmla="*/ 3487210 w 5934832"/>
                  <a:gd name="connsiteY1" fmla="*/ 0 h 4399416"/>
                  <a:gd name="connsiteX2" fmla="*/ 3619515 w 5934832"/>
                  <a:gd name="connsiteY2" fmla="*/ 385258 h 4399416"/>
                  <a:gd name="connsiteX3" fmla="*/ 5642724 w 5934832"/>
                  <a:gd name="connsiteY3" fmla="*/ 4035427 h 4399416"/>
                  <a:gd name="connsiteX4" fmla="*/ 5934832 w 5934832"/>
                  <a:gd name="connsiteY4" fmla="*/ 4399416 h 4399416"/>
                  <a:gd name="connsiteX5" fmla="*/ 0 w 5934832"/>
                  <a:gd name="connsiteY5" fmla="*/ 4399416 h 4399416"/>
                  <a:gd name="connsiteX6" fmla="*/ 292109 w 5934832"/>
                  <a:gd name="connsiteY6" fmla="*/ 4035427 h 4399416"/>
                  <a:gd name="connsiteX7" fmla="*/ 2315317 w 5934832"/>
                  <a:gd name="connsiteY7" fmla="*/ 385258 h 4399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934832" h="4399416">
                    <a:moveTo>
                      <a:pt x="2447624" y="0"/>
                    </a:moveTo>
                    <a:lnTo>
                      <a:pt x="3487210" y="0"/>
                    </a:lnTo>
                    <a:lnTo>
                      <a:pt x="3619515" y="385258"/>
                    </a:lnTo>
                    <a:cubicBezTo>
                      <a:pt x="4110305" y="1705921"/>
                      <a:pt x="4796170" y="2933935"/>
                      <a:pt x="5642724" y="4035427"/>
                    </a:cubicBezTo>
                    <a:lnTo>
                      <a:pt x="5934832" y="4399416"/>
                    </a:lnTo>
                    <a:lnTo>
                      <a:pt x="0" y="4399416"/>
                    </a:lnTo>
                    <a:lnTo>
                      <a:pt x="292109" y="4035427"/>
                    </a:lnTo>
                    <a:cubicBezTo>
                      <a:pt x="1138664" y="2933935"/>
                      <a:pt x="1824527" y="1705921"/>
                      <a:pt x="2315317" y="385258"/>
                    </a:cubicBezTo>
                    <a:close/>
                  </a:path>
                </a:pathLst>
              </a:custGeom>
              <a:noFill/>
              <a:ln w="9587" cap="flat">
                <a:gradFill>
                  <a:gsLst>
                    <a:gs pos="50000">
                      <a:schemeClr val="accent2"/>
                    </a:gs>
                    <a:gs pos="0">
                      <a:srgbClr val="0055FB">
                        <a:alpha val="0"/>
                      </a:srgbClr>
                    </a:gs>
                    <a:gs pos="100000">
                      <a:srgbClr val="0055FB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73152" tIns="36576" rIns="73152" bIns="36576" numCol="1" spcCol="0" rtlCol="0" fromWordArt="0" anchor="ctr" anchorCtr="0" forceAA="0" compatLnSpc="1">
                <a:noAutofit/>
              </a:bodyPr>
              <a:lstStyle/>
              <a:p>
                <a:pPr defTabSz="731520"/>
                <a:endParaRPr lang="zh-CN" altLang="en-US" sz="1440" dirty="0">
                  <a:solidFill>
                    <a:prstClr val="black"/>
                  </a:solidFill>
                  <a:latin typeface="思源宋体 CN Medium" panose="02020500000000000000" charset="-122"/>
                  <a:ea typeface="思源宋体 CN Medium" panose="02020500000000000000" charset="-122"/>
                  <a:cs typeface="思源宋体 CN Medium" panose="02020500000000000000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2" name="0">
                <a:extLst>
                  <a:ext uri="{FF2B5EF4-FFF2-40B4-BE49-F238E27FC236}">
                    <a16:creationId xmlns:a16="http://schemas.microsoft.com/office/drawing/2014/main" id="{F0D727A8-1972-4746-6960-23C7A8694959}"/>
                  </a:ext>
                </a:extLst>
              </p:cNvPr>
              <p:cNvSpPr/>
              <p:nvPr/>
            </p:nvSpPr>
            <p:spPr>
              <a:xfrm>
                <a:off x="5392774" y="1556338"/>
                <a:ext cx="1386538" cy="1094128"/>
              </a:xfrm>
              <a:prstGeom prst="triangle">
                <a:avLst>
                  <a:gd name="adj" fmla="val 48744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思源宋体 CN Medium" panose="02020500000000000000" charset="-122"/>
                  <a:ea typeface="思源宋体 CN Medium" panose="02020500000000000000" charset="-122"/>
                  <a:cs typeface="思源宋体 CN Medium" panose="02020500000000000000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3" name="0">
                <a:extLst>
                  <a:ext uri="{FF2B5EF4-FFF2-40B4-BE49-F238E27FC236}">
                    <a16:creationId xmlns:a16="http://schemas.microsoft.com/office/drawing/2014/main" id="{0C65A17F-BFCE-6DF1-9C92-B770363F08DF}"/>
                  </a:ext>
                </a:extLst>
              </p:cNvPr>
              <p:cNvSpPr/>
              <p:nvPr/>
            </p:nvSpPr>
            <p:spPr>
              <a:xfrm>
                <a:off x="4798940" y="2736831"/>
                <a:ext cx="2574210" cy="925705"/>
              </a:xfrm>
              <a:custGeom>
                <a:avLst/>
                <a:gdLst>
                  <a:gd name="connsiteX0" fmla="*/ 350535 w 1656368"/>
                  <a:gd name="connsiteY0" fmla="*/ 0 h 646035"/>
                  <a:gd name="connsiteX1" fmla="*/ 1305832 w 1656368"/>
                  <a:gd name="connsiteY1" fmla="*/ 0 h 646035"/>
                  <a:gd name="connsiteX2" fmla="*/ 1656368 w 1656368"/>
                  <a:gd name="connsiteY2" fmla="*/ 646035 h 646035"/>
                  <a:gd name="connsiteX3" fmla="*/ 0 w 1656368"/>
                  <a:gd name="connsiteY3" fmla="*/ 646035 h 646035"/>
                  <a:gd name="connsiteX4" fmla="*/ 350535 w 1656368"/>
                  <a:gd name="connsiteY4" fmla="*/ 0 h 646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6368" h="646035">
                    <a:moveTo>
                      <a:pt x="350535" y="0"/>
                    </a:moveTo>
                    <a:lnTo>
                      <a:pt x="1305832" y="0"/>
                    </a:lnTo>
                    <a:lnTo>
                      <a:pt x="1656368" y="646035"/>
                    </a:lnTo>
                    <a:lnTo>
                      <a:pt x="0" y="646035"/>
                    </a:lnTo>
                    <a:lnTo>
                      <a:pt x="350535" y="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3152" tIns="36576" rIns="73152" bIns="36576" numCol="1" spcCol="0" rtlCol="0" fromWordArt="0" anchor="ctr" anchorCtr="0" forceAA="0" compatLnSpc="1">
                <a:noAutofit/>
              </a:bodyPr>
              <a:lstStyle/>
              <a:p>
                <a:pPr algn="ctr" defTabSz="731520"/>
                <a:endParaRPr lang="zh-CN" altLang="en-US" sz="1440" dirty="0">
                  <a:solidFill>
                    <a:schemeClr val="bg1"/>
                  </a:solidFill>
                  <a:latin typeface="思源宋体 CN Medium" panose="02020500000000000000" charset="-122"/>
                  <a:ea typeface="思源宋体 CN Medium" panose="02020500000000000000" charset="-122"/>
                  <a:cs typeface="思源宋体 CN Medium" panose="02020500000000000000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4" name="0">
                <a:extLst>
                  <a:ext uri="{FF2B5EF4-FFF2-40B4-BE49-F238E27FC236}">
                    <a16:creationId xmlns:a16="http://schemas.microsoft.com/office/drawing/2014/main" id="{0A6EC83D-1573-4359-9B93-34F40F63FCA2}"/>
                  </a:ext>
                </a:extLst>
              </p:cNvPr>
              <p:cNvSpPr/>
              <p:nvPr/>
            </p:nvSpPr>
            <p:spPr>
              <a:xfrm>
                <a:off x="4215609" y="3748901"/>
                <a:ext cx="3740873" cy="925705"/>
              </a:xfrm>
              <a:custGeom>
                <a:avLst/>
                <a:gdLst>
                  <a:gd name="connsiteX0" fmla="*/ 350535 w 2407053"/>
                  <a:gd name="connsiteY0" fmla="*/ 0 h 646035"/>
                  <a:gd name="connsiteX1" fmla="*/ 2056517 w 2407053"/>
                  <a:gd name="connsiteY1" fmla="*/ 0 h 646035"/>
                  <a:gd name="connsiteX2" fmla="*/ 2407053 w 2407053"/>
                  <a:gd name="connsiteY2" fmla="*/ 646035 h 646035"/>
                  <a:gd name="connsiteX3" fmla="*/ 0 w 2407053"/>
                  <a:gd name="connsiteY3" fmla="*/ 646035 h 646035"/>
                  <a:gd name="connsiteX4" fmla="*/ 350535 w 2407053"/>
                  <a:gd name="connsiteY4" fmla="*/ 0 h 646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7053" h="646035">
                    <a:moveTo>
                      <a:pt x="350535" y="0"/>
                    </a:moveTo>
                    <a:lnTo>
                      <a:pt x="2056517" y="0"/>
                    </a:lnTo>
                    <a:lnTo>
                      <a:pt x="2407053" y="646035"/>
                    </a:lnTo>
                    <a:lnTo>
                      <a:pt x="0" y="646035"/>
                    </a:lnTo>
                    <a:lnTo>
                      <a:pt x="350535" y="0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3152" tIns="36576" rIns="73152" bIns="36576" numCol="1" spcCol="0" rtlCol="0" fromWordArt="0" anchor="ctr" anchorCtr="0" forceAA="0" compatLnSpc="1">
                <a:noAutofit/>
              </a:bodyPr>
              <a:lstStyle/>
              <a:p>
                <a:pPr algn="ctr" defTabSz="731520"/>
                <a:endParaRPr lang="zh-CN" altLang="en-US" sz="1440" dirty="0">
                  <a:solidFill>
                    <a:prstClr val="white"/>
                  </a:solidFill>
                  <a:latin typeface="+mn-ea"/>
                  <a:cs typeface="思源宋体 CN Medium" panose="02020500000000000000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5" name="0">
                <a:extLst>
                  <a:ext uri="{FF2B5EF4-FFF2-40B4-BE49-F238E27FC236}">
                    <a16:creationId xmlns:a16="http://schemas.microsoft.com/office/drawing/2014/main" id="{66B7048A-4AC3-4D79-85EB-90A1D1BE4835}"/>
                  </a:ext>
                </a:extLst>
              </p:cNvPr>
              <p:cNvSpPr/>
              <p:nvPr/>
            </p:nvSpPr>
            <p:spPr>
              <a:xfrm>
                <a:off x="3583365" y="4760973"/>
                <a:ext cx="5005356" cy="925705"/>
              </a:xfrm>
              <a:custGeom>
                <a:avLst/>
                <a:gdLst>
                  <a:gd name="connsiteX0" fmla="*/ 380178 w 3220682"/>
                  <a:gd name="connsiteY0" fmla="*/ 0 h 646035"/>
                  <a:gd name="connsiteX1" fmla="*/ 2840504 w 3220682"/>
                  <a:gd name="connsiteY1" fmla="*/ 0 h 646035"/>
                  <a:gd name="connsiteX2" fmla="*/ 3220682 w 3220682"/>
                  <a:gd name="connsiteY2" fmla="*/ 646035 h 646035"/>
                  <a:gd name="connsiteX3" fmla="*/ 0 w 3220682"/>
                  <a:gd name="connsiteY3" fmla="*/ 646035 h 646035"/>
                  <a:gd name="connsiteX4" fmla="*/ 380178 w 3220682"/>
                  <a:gd name="connsiteY4" fmla="*/ 0 h 646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20682" h="646035">
                    <a:moveTo>
                      <a:pt x="380178" y="0"/>
                    </a:moveTo>
                    <a:lnTo>
                      <a:pt x="2840504" y="0"/>
                    </a:lnTo>
                    <a:lnTo>
                      <a:pt x="3220682" y="646035"/>
                    </a:lnTo>
                    <a:lnTo>
                      <a:pt x="0" y="646035"/>
                    </a:lnTo>
                    <a:lnTo>
                      <a:pt x="38017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3152" tIns="36576" rIns="73152" bIns="36576" numCol="1" spcCol="0" rtlCol="0" fromWordArt="0" anchor="ctr" anchorCtr="0" forceAA="0" compatLnSpc="1">
                <a:noAutofit/>
              </a:bodyPr>
              <a:lstStyle/>
              <a:p>
                <a:pPr algn="ctr" defTabSz="731520"/>
                <a:endParaRPr lang="zh-CN" altLang="en-US" sz="1440" dirty="0">
                  <a:solidFill>
                    <a:prstClr val="white"/>
                  </a:solidFill>
                  <a:latin typeface="思源宋体 CN Medium" panose="02020500000000000000" charset="-122"/>
                  <a:ea typeface="思源宋体 CN Medium" panose="02020500000000000000" charset="-122"/>
                  <a:cs typeface="思源宋体 CN Medium" panose="02020500000000000000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6" name="0">
                <a:extLst>
                  <a:ext uri="{FF2B5EF4-FFF2-40B4-BE49-F238E27FC236}">
                    <a16:creationId xmlns:a16="http://schemas.microsoft.com/office/drawing/2014/main" id="{B02D6C3A-1B77-5974-20DD-3185C24CFE6A}"/>
                  </a:ext>
                </a:extLst>
              </p:cNvPr>
              <p:cNvSpPr/>
              <p:nvPr/>
            </p:nvSpPr>
            <p:spPr>
              <a:xfrm flipH="1">
                <a:off x="6895071" y="1955100"/>
                <a:ext cx="87393" cy="8618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思源宋体 CN Medium" panose="02020500000000000000" charset="-122"/>
                  <a:ea typeface="思源宋体 CN Medium" panose="02020500000000000000" charset="-122"/>
                  <a:cs typeface="思源宋体 CN Medium" panose="02020500000000000000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7" name="0">
                <a:extLst>
                  <a:ext uri="{FF2B5EF4-FFF2-40B4-BE49-F238E27FC236}">
                    <a16:creationId xmlns:a16="http://schemas.microsoft.com/office/drawing/2014/main" id="{BCFDAEA3-3BD4-F4DE-0865-F154917711FC}"/>
                  </a:ext>
                </a:extLst>
              </p:cNvPr>
              <p:cNvSpPr/>
              <p:nvPr/>
            </p:nvSpPr>
            <p:spPr>
              <a:xfrm flipH="1">
                <a:off x="8011227" y="4101514"/>
                <a:ext cx="87393" cy="8618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思源宋体 CN Medium" panose="02020500000000000000" charset="-122"/>
                  <a:ea typeface="思源宋体 CN Medium" panose="02020500000000000000" charset="-122"/>
                  <a:cs typeface="思源宋体 CN Medium" panose="02020500000000000000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8" name="0">
                <a:extLst>
                  <a:ext uri="{FF2B5EF4-FFF2-40B4-BE49-F238E27FC236}">
                    <a16:creationId xmlns:a16="http://schemas.microsoft.com/office/drawing/2014/main" id="{5E9C353B-F68B-B73F-9F42-C9BF1B9E2A5F}"/>
                  </a:ext>
                </a:extLst>
              </p:cNvPr>
              <p:cNvSpPr/>
              <p:nvPr/>
            </p:nvSpPr>
            <p:spPr>
              <a:xfrm flipH="1">
                <a:off x="5192706" y="1955100"/>
                <a:ext cx="87393" cy="8618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思源宋体 CN Medium" panose="02020500000000000000" charset="-122"/>
                  <a:ea typeface="思源宋体 CN Medium" panose="02020500000000000000" charset="-122"/>
                  <a:cs typeface="思源宋体 CN Medium" panose="02020500000000000000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9" name="0">
                <a:extLst>
                  <a:ext uri="{FF2B5EF4-FFF2-40B4-BE49-F238E27FC236}">
                    <a16:creationId xmlns:a16="http://schemas.microsoft.com/office/drawing/2014/main" id="{E8A612F2-3661-C940-80A0-41D046670360}"/>
                  </a:ext>
                </a:extLst>
              </p:cNvPr>
              <p:cNvSpPr/>
              <p:nvPr/>
            </p:nvSpPr>
            <p:spPr>
              <a:xfrm flipH="1">
                <a:off x="4077571" y="4101514"/>
                <a:ext cx="87393" cy="8618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思源宋体 CN Medium" panose="02020500000000000000" charset="-122"/>
                  <a:ea typeface="思源宋体 CN Medium" panose="02020500000000000000" charset="-122"/>
                  <a:cs typeface="思源宋体 CN Medium" panose="02020500000000000000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2B8A6E82-CBD2-C77D-7FB2-2C4D47C0DE6C}"/>
                </a:ext>
              </a:extLst>
            </p:cNvPr>
            <p:cNvGrpSpPr/>
            <p:nvPr/>
          </p:nvGrpSpPr>
          <p:grpSpPr>
            <a:xfrm>
              <a:off x="757562" y="1507490"/>
              <a:ext cx="5553715" cy="2439513"/>
              <a:chOff x="757562" y="1507490"/>
              <a:chExt cx="5553715" cy="2439513"/>
            </a:xfrm>
          </p:grpSpPr>
          <p:sp>
            <p:nvSpPr>
              <p:cNvPr id="107" name="1">
                <a:extLst>
                  <a:ext uri="{FF2B5EF4-FFF2-40B4-BE49-F238E27FC236}">
                    <a16:creationId xmlns:a16="http://schemas.microsoft.com/office/drawing/2014/main" id="{F4829C58-881A-BAD7-509B-47B454058BAC}"/>
                  </a:ext>
                </a:extLst>
              </p:cNvPr>
              <p:cNvSpPr/>
              <p:nvPr/>
            </p:nvSpPr>
            <p:spPr>
              <a:xfrm>
                <a:off x="757562" y="1507490"/>
                <a:ext cx="3177405" cy="2439513"/>
              </a:xfrm>
              <a:prstGeom prst="roundRect">
                <a:avLst>
                  <a:gd name="adj" fmla="val 399"/>
                </a:avLst>
              </a:prstGeom>
              <a:solidFill>
                <a:schemeClr val="accent1">
                  <a:lumMod val="20000"/>
                  <a:lumOff val="80000"/>
                  <a:alpha val="15079"/>
                </a:schemeClr>
              </a:solidFill>
              <a:ln w="15875">
                <a:solidFill>
                  <a:schemeClr val="accent1"/>
                </a:solidFill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Microsoft YaHei" panose="020B0503020204020204" pitchFamily="34" charset="-122"/>
                </a:endParaRPr>
              </a:p>
            </p:txBody>
          </p:sp>
          <p:sp>
            <p:nvSpPr>
              <p:cNvPr id="108" name="Body-1">
                <a:extLst>
                  <a:ext uri="{FF2B5EF4-FFF2-40B4-BE49-F238E27FC236}">
                    <a16:creationId xmlns:a16="http://schemas.microsoft.com/office/drawing/2014/main" id="{A181BB21-D9EF-0A63-4188-6EEECFDF46A6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06599" y="2077661"/>
                <a:ext cx="3018694" cy="1657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>
                  <a:lnSpc>
                    <a:spcPct val="150000"/>
                  </a:lnSpc>
                </a:pPr>
                <a:r>
                  <a:rPr lang="zh-CN" altLang="en-US" sz="1400" b="0" i="0" dirty="0">
                    <a:solidFill>
                      <a:srgbClr val="060607"/>
                    </a:solidFill>
                    <a:effectLst/>
                    <a:latin typeface="+mn-ea"/>
                    <a:sym typeface="Microsoft YaHei" panose="020B0503020204020204" pitchFamily="34" charset="-122"/>
                  </a:rPr>
                  <a:t>需求分析：功能需求、非功能需求；</a:t>
                </a:r>
              </a:p>
              <a:p>
                <a:pPr algn="ctr" fontAlgn="base">
                  <a:lnSpc>
                    <a:spcPct val="150000"/>
                  </a:lnSpc>
                </a:pPr>
                <a:r>
                  <a:rPr lang="zh-CN" altLang="en-US" sz="1400" b="0" i="0" dirty="0">
                    <a:solidFill>
                      <a:srgbClr val="060607"/>
                    </a:solidFill>
                    <a:effectLst/>
                    <a:latin typeface="+mn-ea"/>
                    <a:sym typeface="Microsoft YaHei" panose="020B0503020204020204" pitchFamily="34" charset="-122"/>
                  </a:rPr>
                  <a:t>可行性分析：技术可行性、经济可行性、操作可行性；</a:t>
                </a:r>
              </a:p>
              <a:p>
                <a:pPr algn="ctr" fontAlgn="base">
                  <a:lnSpc>
                    <a:spcPct val="150000"/>
                  </a:lnSpc>
                </a:pPr>
                <a:r>
                  <a:rPr lang="zh-CN" altLang="en-US" sz="1400" b="0" i="0" dirty="0">
                    <a:solidFill>
                      <a:srgbClr val="060607"/>
                    </a:solidFill>
                    <a:effectLst/>
                    <a:latin typeface="+mn-ea"/>
                    <a:sym typeface="Microsoft YaHei" panose="020B0503020204020204" pitchFamily="34" charset="-122"/>
                  </a:rPr>
                  <a:t>系统流程分析：用户流程、商家流程、管理员流程；</a:t>
                </a:r>
              </a:p>
            </p:txBody>
          </p:sp>
          <p:sp>
            <p:nvSpPr>
              <p:cNvPr id="109" name="Title-1">
                <a:extLst>
                  <a:ext uri="{FF2B5EF4-FFF2-40B4-BE49-F238E27FC236}">
                    <a16:creationId xmlns:a16="http://schemas.microsoft.com/office/drawing/2014/main" id="{DF7C2E70-470E-C6EE-6E2E-463D7DEA13E0}"/>
                  </a:ext>
                </a:extLst>
              </p:cNvPr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143502" y="1567699"/>
                <a:ext cx="23931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i="0" dirty="0">
                    <a:solidFill>
                      <a:schemeClr val="accent1"/>
                    </a:solidFill>
                    <a:effectLst/>
                    <a:latin typeface="+mn-ea"/>
                    <a:sym typeface="Microsoft YaHei" panose="020B0503020204020204" pitchFamily="34" charset="-122"/>
                  </a:rPr>
                  <a:t>1. </a:t>
                </a:r>
                <a:r>
                  <a:rPr lang="zh-CN" altLang="en-US" sz="1600" i="0" dirty="0">
                    <a:solidFill>
                      <a:schemeClr val="accent1"/>
                    </a:solidFill>
                    <a:effectLst/>
                    <a:latin typeface="+mn-ea"/>
                    <a:sym typeface="Microsoft YaHei" panose="020B0503020204020204" pitchFamily="34" charset="-122"/>
                  </a:rPr>
                  <a:t>系统分析</a:t>
                </a:r>
              </a:p>
            </p:txBody>
          </p:sp>
          <p:sp>
            <p:nvSpPr>
              <p:cNvPr id="110" name="Index-1">
                <a:extLst>
                  <a:ext uri="{FF2B5EF4-FFF2-40B4-BE49-F238E27FC236}">
                    <a16:creationId xmlns:a16="http://schemas.microsoft.com/office/drawing/2014/main" id="{203A5EA7-8744-F729-A8C9-27C9FBC5969C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5870131" y="2030828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accent1"/>
                    </a:solidFill>
                  </a:rPr>
                  <a:t>01</a:t>
                </a:r>
                <a:endParaRPr lang="zh-CN" altLang="en-US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172FCEC3-108F-F9E4-8648-62D7F617A2B8}"/>
                </a:ext>
              </a:extLst>
            </p:cNvPr>
            <p:cNvGrpSpPr/>
            <p:nvPr/>
          </p:nvGrpSpPr>
          <p:grpSpPr>
            <a:xfrm>
              <a:off x="5865471" y="2933329"/>
              <a:ext cx="5996207" cy="3423651"/>
              <a:chOff x="5865471" y="2933329"/>
              <a:chExt cx="5996207" cy="3423651"/>
            </a:xfrm>
          </p:grpSpPr>
          <p:sp>
            <p:nvSpPr>
              <p:cNvPr id="103" name="2">
                <a:extLst>
                  <a:ext uri="{FF2B5EF4-FFF2-40B4-BE49-F238E27FC236}">
                    <a16:creationId xmlns:a16="http://schemas.microsoft.com/office/drawing/2014/main" id="{75669119-AA52-2ED0-C2EA-CC51B86A6FDD}"/>
                  </a:ext>
                </a:extLst>
              </p:cNvPr>
              <p:cNvSpPr/>
              <p:nvPr/>
            </p:nvSpPr>
            <p:spPr>
              <a:xfrm>
                <a:off x="8789036" y="4674606"/>
                <a:ext cx="3072642" cy="1682374"/>
              </a:xfrm>
              <a:prstGeom prst="roundRect">
                <a:avLst>
                  <a:gd name="adj" fmla="val 399"/>
                </a:avLst>
              </a:prstGeom>
              <a:solidFill>
                <a:schemeClr val="accent1">
                  <a:lumMod val="20000"/>
                  <a:lumOff val="80000"/>
                  <a:alpha val="15079"/>
                </a:schemeClr>
              </a:solidFill>
              <a:ln w="15875">
                <a:solidFill>
                  <a:schemeClr val="accent1"/>
                </a:solidFill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Microsoft YaHei" panose="020B0503020204020204" pitchFamily="34" charset="-122"/>
                </a:endParaRPr>
              </a:p>
            </p:txBody>
          </p:sp>
          <p:sp>
            <p:nvSpPr>
              <p:cNvPr id="104" name="Body-2">
                <a:extLst>
                  <a:ext uri="{FF2B5EF4-FFF2-40B4-BE49-F238E27FC236}">
                    <a16:creationId xmlns:a16="http://schemas.microsoft.com/office/drawing/2014/main" id="{E27A05D0-467F-5EDD-0F83-1CF3D90B91F4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8970473" y="5007810"/>
                <a:ext cx="2749598" cy="1334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base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rgbClr val="060607"/>
                    </a:solidFill>
                    <a:latin typeface="+mn-ea"/>
                    <a:sym typeface="Microsoft YaHei" panose="020B0503020204020204" pitchFamily="34" charset="-122"/>
                  </a:rPr>
                  <a:t>功能测试：单元测试、集成测试；</a:t>
                </a:r>
                <a:endParaRPr lang="en-US" altLang="zh-CN" sz="1400" dirty="0">
                  <a:solidFill>
                    <a:srgbClr val="060607"/>
                  </a:solidFill>
                  <a:latin typeface="+mn-ea"/>
                  <a:sym typeface="Microsoft YaHei" panose="020B0503020204020204" pitchFamily="34" charset="-122"/>
                </a:endParaRPr>
              </a:p>
              <a:p>
                <a:pPr fontAlgn="base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rgbClr val="060607"/>
                    </a:solidFill>
                    <a:latin typeface="+mn-ea"/>
                    <a:sym typeface="Microsoft YaHei" panose="020B0503020204020204" pitchFamily="34" charset="-122"/>
                  </a:rPr>
                  <a:t>性能测试：响应时间、并发处理；</a:t>
                </a:r>
                <a:endParaRPr lang="en-US" altLang="zh-CN" sz="1400" dirty="0">
                  <a:solidFill>
                    <a:srgbClr val="060607"/>
                  </a:solidFill>
                  <a:latin typeface="+mn-ea"/>
                  <a:sym typeface="Microsoft YaHei" panose="020B0503020204020204" pitchFamily="34" charset="-122"/>
                </a:endParaRPr>
              </a:p>
              <a:p>
                <a:pPr fontAlgn="base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rgbClr val="060607"/>
                    </a:solidFill>
                    <a:latin typeface="+mn-ea"/>
                    <a:sym typeface="Microsoft YaHei" panose="020B0503020204020204" pitchFamily="34" charset="-122"/>
                  </a:rPr>
                  <a:t>安全测试：漏洞扫描、渗透测试；</a:t>
                </a:r>
                <a:endParaRPr lang="en-US" altLang="zh-CN" sz="1400" dirty="0">
                  <a:solidFill>
                    <a:srgbClr val="060607"/>
                  </a:solidFill>
                  <a:latin typeface="+mn-ea"/>
                  <a:sym typeface="Microsoft YaHei" panose="020B0503020204020204" pitchFamily="34" charset="-122"/>
                </a:endParaRPr>
              </a:p>
              <a:p>
                <a:pPr fontAlgn="base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rgbClr val="060607"/>
                    </a:solidFill>
                    <a:latin typeface="+mn-ea"/>
                    <a:sym typeface="Microsoft YaHei" panose="020B0503020204020204" pitchFamily="34" charset="-122"/>
                  </a:rPr>
                  <a:t>用户测试：用户体验评估；</a:t>
                </a:r>
                <a:endParaRPr lang="zh-CN" altLang="en-US" sz="1400" b="0" i="0" dirty="0">
                  <a:solidFill>
                    <a:srgbClr val="060607"/>
                  </a:solidFill>
                  <a:effectLst/>
                  <a:latin typeface="+mn-ea"/>
                  <a:sym typeface="Microsoft YaHei" panose="020B0503020204020204" pitchFamily="34" charset="-122"/>
                </a:endParaRPr>
              </a:p>
            </p:txBody>
          </p:sp>
          <p:sp>
            <p:nvSpPr>
              <p:cNvPr id="105" name="Title-2">
                <a:extLst>
                  <a:ext uri="{FF2B5EF4-FFF2-40B4-BE49-F238E27FC236}">
                    <a16:creationId xmlns:a16="http://schemas.microsoft.com/office/drawing/2014/main" id="{957CCC8E-8305-115D-2A94-D8C16032F66A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128781" y="4764454"/>
                <a:ext cx="23931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i="0" dirty="0">
                    <a:solidFill>
                      <a:schemeClr val="accent1"/>
                    </a:solidFill>
                    <a:effectLst/>
                    <a:latin typeface="+mn-ea"/>
                    <a:sym typeface="Microsoft YaHei" panose="020B0503020204020204" pitchFamily="34" charset="-122"/>
                  </a:rPr>
                  <a:t>4. </a:t>
                </a:r>
                <a:r>
                  <a:rPr lang="zh-CN" altLang="en-US" sz="1600" i="0" dirty="0">
                    <a:solidFill>
                      <a:schemeClr val="accent1"/>
                    </a:solidFill>
                    <a:effectLst/>
                    <a:latin typeface="+mn-ea"/>
                    <a:sym typeface="Microsoft YaHei" panose="020B0503020204020204" pitchFamily="34" charset="-122"/>
                  </a:rPr>
                  <a:t>系统测试</a:t>
                </a:r>
              </a:p>
            </p:txBody>
          </p:sp>
          <p:sp>
            <p:nvSpPr>
              <p:cNvPr id="106" name="Index-2">
                <a:extLst>
                  <a:ext uri="{FF2B5EF4-FFF2-40B4-BE49-F238E27FC236}">
                    <a16:creationId xmlns:a16="http://schemas.microsoft.com/office/drawing/2014/main" id="{85A98D15-BA40-D547-ABF8-8D125B0BBE48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865471" y="2933329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</a:rPr>
                  <a:t>02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65A91953-9712-7639-2842-D9BC895FB4FE}"/>
                </a:ext>
              </a:extLst>
            </p:cNvPr>
            <p:cNvGrpSpPr/>
            <p:nvPr/>
          </p:nvGrpSpPr>
          <p:grpSpPr>
            <a:xfrm>
              <a:off x="5865471" y="1556337"/>
              <a:ext cx="5524943" cy="2731198"/>
              <a:chOff x="5865471" y="1556337"/>
              <a:chExt cx="5524943" cy="2731198"/>
            </a:xfrm>
          </p:grpSpPr>
          <p:sp>
            <p:nvSpPr>
              <p:cNvPr id="99" name="3">
                <a:extLst>
                  <a:ext uri="{FF2B5EF4-FFF2-40B4-BE49-F238E27FC236}">
                    <a16:creationId xmlns:a16="http://schemas.microsoft.com/office/drawing/2014/main" id="{0136D6D3-8C67-D6EF-717F-DDBBFDCBFFF2}"/>
                  </a:ext>
                </a:extLst>
              </p:cNvPr>
              <p:cNvSpPr/>
              <p:nvPr/>
            </p:nvSpPr>
            <p:spPr>
              <a:xfrm>
                <a:off x="8098620" y="1556337"/>
                <a:ext cx="3291794" cy="2361866"/>
              </a:xfrm>
              <a:prstGeom prst="roundRect">
                <a:avLst>
                  <a:gd name="adj" fmla="val 399"/>
                </a:avLst>
              </a:prstGeom>
              <a:solidFill>
                <a:schemeClr val="accent1">
                  <a:lumMod val="20000"/>
                  <a:lumOff val="80000"/>
                  <a:alpha val="15079"/>
                </a:schemeClr>
              </a:solidFill>
              <a:ln w="15875">
                <a:solidFill>
                  <a:schemeClr val="accent1"/>
                </a:solidFill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Microsoft YaHei" panose="020B0503020204020204" pitchFamily="34" charset="-122"/>
                </a:endParaRPr>
              </a:p>
            </p:txBody>
          </p:sp>
          <p:sp>
            <p:nvSpPr>
              <p:cNvPr id="100" name="Body-3">
                <a:extLst>
                  <a:ext uri="{FF2B5EF4-FFF2-40B4-BE49-F238E27FC236}">
                    <a16:creationId xmlns:a16="http://schemas.microsoft.com/office/drawing/2014/main" id="{9CFE4303-46B3-9992-7C57-7B72AF65B6BB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179602" y="1894091"/>
                <a:ext cx="3054191" cy="1980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>
                  <a:lnSpc>
                    <a:spcPct val="150000"/>
                  </a:lnSpc>
                </a:pPr>
                <a:r>
                  <a:rPr lang="zh-CN" altLang="en-US" sz="1400" b="0" i="0" dirty="0">
                    <a:solidFill>
                      <a:srgbClr val="060607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Microsoft YaHei" panose="020B0503020204020204" pitchFamily="34" charset="-122"/>
                  </a:rPr>
                  <a:t>前端实现：组件开发、状态管理、路由配置；</a:t>
                </a:r>
              </a:p>
              <a:p>
                <a:pPr algn="ctr" fontAlgn="base">
                  <a:lnSpc>
                    <a:spcPct val="150000"/>
                  </a:lnSpc>
                </a:pPr>
                <a:r>
                  <a:rPr lang="zh-CN" altLang="en-US" sz="1400" b="0" i="0" dirty="0">
                    <a:solidFill>
                      <a:srgbClr val="060607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Microsoft YaHei" panose="020B0503020204020204" pitchFamily="34" charset="-122"/>
                  </a:rPr>
                  <a:t>后端实现：</a:t>
                </a:r>
                <a:r>
                  <a:rPr lang="en-US" altLang="zh-CN" sz="1400" b="0" i="0" dirty="0">
                    <a:solidFill>
                      <a:srgbClr val="060607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Microsoft YaHei" panose="020B0503020204020204" pitchFamily="34" charset="-122"/>
                  </a:rPr>
                  <a:t>API</a:t>
                </a:r>
                <a:r>
                  <a:rPr lang="zh-CN" altLang="en-US" sz="1400" b="0" i="0" dirty="0">
                    <a:solidFill>
                      <a:srgbClr val="060607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Microsoft YaHei" panose="020B0503020204020204" pitchFamily="34" charset="-122"/>
                  </a:rPr>
                  <a:t>开发、业务逻辑实现、数据访问层；</a:t>
                </a:r>
              </a:p>
              <a:p>
                <a:pPr algn="ctr" fontAlgn="base">
                  <a:lnSpc>
                    <a:spcPct val="150000"/>
                  </a:lnSpc>
                </a:pPr>
                <a:r>
                  <a:rPr lang="zh-CN" altLang="en-US" sz="1400" b="0" i="0" dirty="0">
                    <a:solidFill>
                      <a:srgbClr val="060607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Microsoft YaHei" panose="020B0503020204020204" pitchFamily="34" charset="-122"/>
                  </a:rPr>
                  <a:t>数据库实现：表结构创建、索引优化；</a:t>
                </a:r>
              </a:p>
              <a:p>
                <a:pPr algn="ctr" fontAlgn="base">
                  <a:lnSpc>
                    <a:spcPct val="150000"/>
                  </a:lnSpc>
                </a:pPr>
                <a:r>
                  <a:rPr lang="zh-CN" altLang="en-US" sz="1400" b="0" i="0" dirty="0">
                    <a:solidFill>
                      <a:srgbClr val="060607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Microsoft YaHei" panose="020B0503020204020204" pitchFamily="34" charset="-122"/>
                  </a:rPr>
                  <a:t>部署与配置：环境配置、依赖管理；</a:t>
                </a:r>
              </a:p>
            </p:txBody>
          </p:sp>
          <p:sp>
            <p:nvSpPr>
              <p:cNvPr id="101" name="Title-3">
                <a:extLst>
                  <a:ext uri="{FF2B5EF4-FFF2-40B4-BE49-F238E27FC236}">
                    <a16:creationId xmlns:a16="http://schemas.microsoft.com/office/drawing/2014/main" id="{E4663388-12B1-F4CA-B860-BEA3FB34736D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8510121" y="1610323"/>
                <a:ext cx="23931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i="0" dirty="0">
                    <a:solidFill>
                      <a:schemeClr val="accent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Microsoft YaHei" panose="020B0503020204020204" pitchFamily="34" charset="-122"/>
                  </a:rPr>
                  <a:t>3. </a:t>
                </a:r>
                <a:r>
                  <a:rPr lang="zh-CN" altLang="en-US" sz="1600" i="0" dirty="0">
                    <a:solidFill>
                      <a:schemeClr val="accent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Microsoft YaHei" panose="020B0503020204020204" pitchFamily="34" charset="-122"/>
                  </a:rPr>
                  <a:t>系统实现</a:t>
                </a:r>
              </a:p>
            </p:txBody>
          </p:sp>
          <p:sp>
            <p:nvSpPr>
              <p:cNvPr id="102" name="Index-3">
                <a:extLst>
                  <a:ext uri="{FF2B5EF4-FFF2-40B4-BE49-F238E27FC236}">
                    <a16:creationId xmlns:a16="http://schemas.microsoft.com/office/drawing/2014/main" id="{73706742-E382-D274-2D70-AC333DBF0075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65471" y="3918203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</a:rPr>
                  <a:t>03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E607C5A0-1D5C-1814-E86A-EBED1FA87DED}"/>
                </a:ext>
              </a:extLst>
            </p:cNvPr>
            <p:cNvGrpSpPr/>
            <p:nvPr/>
          </p:nvGrpSpPr>
          <p:grpSpPr>
            <a:xfrm>
              <a:off x="42470" y="4675222"/>
              <a:ext cx="6264147" cy="1596140"/>
              <a:chOff x="42470" y="4675222"/>
              <a:chExt cx="6264147" cy="1596140"/>
            </a:xfrm>
          </p:grpSpPr>
          <p:sp>
            <p:nvSpPr>
              <p:cNvPr id="95" name="4">
                <a:extLst>
                  <a:ext uri="{FF2B5EF4-FFF2-40B4-BE49-F238E27FC236}">
                    <a16:creationId xmlns:a16="http://schemas.microsoft.com/office/drawing/2014/main" id="{8CD0121C-2FE3-AE00-6785-E1E6B19019FE}"/>
                  </a:ext>
                </a:extLst>
              </p:cNvPr>
              <p:cNvSpPr/>
              <p:nvPr/>
            </p:nvSpPr>
            <p:spPr>
              <a:xfrm flipH="1">
                <a:off x="78683" y="4675222"/>
                <a:ext cx="3177405" cy="1596140"/>
              </a:xfrm>
              <a:prstGeom prst="roundRect">
                <a:avLst>
                  <a:gd name="adj" fmla="val 399"/>
                </a:avLst>
              </a:prstGeom>
              <a:solidFill>
                <a:schemeClr val="accent1">
                  <a:lumMod val="20000"/>
                  <a:lumOff val="80000"/>
                  <a:alpha val="15079"/>
                </a:schemeClr>
              </a:solidFill>
              <a:ln w="15875">
                <a:solidFill>
                  <a:schemeClr val="accent1"/>
                </a:solidFill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Microsoft YaHei" panose="020B0503020204020204" pitchFamily="34" charset="-122"/>
                </a:endParaRPr>
              </a:p>
            </p:txBody>
          </p:sp>
          <p:sp>
            <p:nvSpPr>
              <p:cNvPr id="96" name="Body-4">
                <a:extLst>
                  <a:ext uri="{FF2B5EF4-FFF2-40B4-BE49-F238E27FC236}">
                    <a16:creationId xmlns:a16="http://schemas.microsoft.com/office/drawing/2014/main" id="{E2EF9A45-D80C-67C3-69D8-C8C5938B9265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 flipH="1">
                <a:off x="42470" y="5012976"/>
                <a:ext cx="3258504" cy="1011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>
                  <a:lnSpc>
                    <a:spcPct val="150000"/>
                  </a:lnSpc>
                </a:pPr>
                <a:r>
                  <a:rPr lang="zh-CN" altLang="en-US" sz="1400" b="0" i="0" dirty="0">
                    <a:solidFill>
                      <a:srgbClr val="060607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Microsoft YaHei" panose="020B0503020204020204" pitchFamily="34" charset="-122"/>
                  </a:rPr>
                  <a:t>架构设计：前后端分离架构；</a:t>
                </a:r>
              </a:p>
              <a:p>
                <a:pPr algn="ctr" fontAlgn="base">
                  <a:lnSpc>
                    <a:spcPct val="150000"/>
                  </a:lnSpc>
                </a:pPr>
                <a:r>
                  <a:rPr lang="zh-CN" altLang="en-US" sz="1400" b="0" i="0" dirty="0">
                    <a:solidFill>
                      <a:srgbClr val="060607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Microsoft YaHei" panose="020B0503020204020204" pitchFamily="34" charset="-122"/>
                  </a:rPr>
                  <a:t>数据库设计：</a:t>
                </a:r>
                <a:r>
                  <a:rPr lang="en-US" altLang="zh-CN" sz="1400" b="0" i="0" dirty="0">
                    <a:solidFill>
                      <a:srgbClr val="060607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Microsoft YaHei" panose="020B0503020204020204" pitchFamily="34" charset="-122"/>
                  </a:rPr>
                  <a:t>ER</a:t>
                </a:r>
                <a:r>
                  <a:rPr lang="zh-CN" altLang="en-US" sz="1400" b="0" i="0" dirty="0">
                    <a:solidFill>
                      <a:srgbClr val="060607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Microsoft YaHei" panose="020B0503020204020204" pitchFamily="34" charset="-122"/>
                  </a:rPr>
                  <a:t>图、表结构设计；</a:t>
                </a:r>
              </a:p>
              <a:p>
                <a:pPr algn="ctr" fontAlgn="base">
                  <a:lnSpc>
                    <a:spcPct val="150000"/>
                  </a:lnSpc>
                </a:pPr>
                <a:r>
                  <a:rPr lang="zh-CN" altLang="en-US" sz="1400" b="0" i="0" dirty="0">
                    <a:solidFill>
                      <a:srgbClr val="060607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Microsoft YaHei" panose="020B0503020204020204" pitchFamily="34" charset="-122"/>
                  </a:rPr>
                  <a:t>页面设计：响应式布局、用户体验设计；</a:t>
                </a:r>
              </a:p>
            </p:txBody>
          </p:sp>
          <p:sp>
            <p:nvSpPr>
              <p:cNvPr id="97" name="Title-4">
                <a:extLst>
                  <a:ext uri="{FF2B5EF4-FFF2-40B4-BE49-F238E27FC236}">
                    <a16:creationId xmlns:a16="http://schemas.microsoft.com/office/drawing/2014/main" id="{1767FC94-EAD2-8DD3-ABF2-99FED462CC11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 flipH="1">
                <a:off x="470811" y="4705755"/>
                <a:ext cx="23931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i="0" dirty="0">
                    <a:solidFill>
                      <a:schemeClr val="accent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Microsoft YaHei" panose="020B0503020204020204" pitchFamily="34" charset="-122"/>
                  </a:rPr>
                  <a:t>2. </a:t>
                </a:r>
                <a:r>
                  <a:rPr lang="zh-CN" altLang="en-US" sz="1600" i="0" dirty="0">
                    <a:solidFill>
                      <a:schemeClr val="accent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sym typeface="Microsoft YaHei" panose="020B0503020204020204" pitchFamily="34" charset="-122"/>
                  </a:rPr>
                  <a:t>系统设计</a:t>
                </a:r>
              </a:p>
            </p:txBody>
          </p:sp>
          <p:sp>
            <p:nvSpPr>
              <p:cNvPr id="98" name="Index-4">
                <a:extLst>
                  <a:ext uri="{FF2B5EF4-FFF2-40B4-BE49-F238E27FC236}">
                    <a16:creationId xmlns:a16="http://schemas.microsoft.com/office/drawing/2014/main" id="{B9F3DD5C-B1B5-D41C-18E2-F351767C560F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865471" y="4915190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</a:rPr>
                  <a:t>04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FD782-D694-369D-5866-A84773731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89645F21-A54B-8B6F-1366-A33AC7E634B5}"/>
              </a:ext>
            </a:extLst>
          </p:cNvPr>
          <p:cNvGrpSpPr/>
          <p:nvPr/>
        </p:nvGrpSpPr>
        <p:grpSpPr>
          <a:xfrm>
            <a:off x="4260850" y="1104900"/>
            <a:ext cx="4245610" cy="4245610"/>
            <a:chOff x="7297" y="2629"/>
            <a:chExt cx="5542" cy="5542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D98414B9-C38E-0BC2-EAA1-B94469F1A7A4}"/>
                </a:ext>
              </a:extLst>
            </p:cNvPr>
            <p:cNvSpPr/>
            <p:nvPr/>
          </p:nvSpPr>
          <p:spPr>
            <a:xfrm rot="2700000">
              <a:off x="7297" y="2629"/>
              <a:ext cx="5542" cy="5542"/>
            </a:xfrm>
            <a:prstGeom prst="rect">
              <a:avLst/>
            </a:prstGeom>
            <a:solidFill>
              <a:srgbClr val="CECDCC">
                <a:alpha val="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7E9F779-23A1-232B-1D09-78E6CC402B7B}"/>
                </a:ext>
              </a:extLst>
            </p:cNvPr>
            <p:cNvSpPr/>
            <p:nvPr/>
          </p:nvSpPr>
          <p:spPr>
            <a:xfrm rot="2700000">
              <a:off x="7832" y="3163"/>
              <a:ext cx="4474" cy="4474"/>
            </a:xfrm>
            <a:prstGeom prst="rect">
              <a:avLst/>
            </a:prstGeom>
            <a:solidFill>
              <a:srgbClr val="7AA8D5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028FDA16-6D3C-2496-AECA-8232209422CB}"/>
              </a:ext>
            </a:extLst>
          </p:cNvPr>
          <p:cNvSpPr txBox="1"/>
          <p:nvPr/>
        </p:nvSpPr>
        <p:spPr>
          <a:xfrm>
            <a:off x="1768520" y="2719873"/>
            <a:ext cx="92302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成果价值、创新点与总结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1D7D452-E6CA-5C55-6087-ABD469B64284}"/>
              </a:ext>
            </a:extLst>
          </p:cNvPr>
          <p:cNvSpPr txBox="1"/>
          <p:nvPr/>
        </p:nvSpPr>
        <p:spPr>
          <a:xfrm>
            <a:off x="5457728" y="1980565"/>
            <a:ext cx="18518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spc="300" dirty="0">
                <a:solidFill>
                  <a:srgbClr val="2A73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PART 06</a:t>
            </a:r>
          </a:p>
        </p:txBody>
      </p:sp>
    </p:spTree>
    <p:extLst>
      <p:ext uri="{BB962C8B-B14F-4D97-AF65-F5344CB8AC3E}">
        <p14:creationId xmlns:p14="http://schemas.microsoft.com/office/powerpoint/2010/main" val="187840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B5F3C-7BF9-C6D2-0361-D62B784FF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未标题-1-02">
            <a:extLst>
              <a:ext uri="{FF2B5EF4-FFF2-40B4-BE49-F238E27FC236}">
                <a16:creationId xmlns:a16="http://schemas.microsoft.com/office/drawing/2014/main" id="{11675863-64B5-DD01-9214-A9FA179CAB1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8423" b="26938"/>
          <a:stretch>
            <a:fillRect/>
          </a:stretch>
        </p:blipFill>
        <p:spPr>
          <a:xfrm rot="10800000" flipH="1">
            <a:off x="0" y="0"/>
            <a:ext cx="1744980" cy="274129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45DADB0-2D77-E395-EF98-47BC9DE3FCBC}"/>
              </a:ext>
            </a:extLst>
          </p:cNvPr>
          <p:cNvSpPr txBox="1"/>
          <p:nvPr/>
        </p:nvSpPr>
        <p:spPr>
          <a:xfrm>
            <a:off x="1332865" y="196215"/>
            <a:ext cx="3982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成果价值、创新点与总结</a:t>
            </a:r>
          </a:p>
        </p:txBody>
      </p: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95006AA5-803B-F6A7-4C77-FF3E169D68B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16310" y="854095"/>
            <a:ext cx="10759380" cy="5807690"/>
            <a:chOff x="716310" y="1278305"/>
            <a:chExt cx="10759380" cy="4301391"/>
          </a:xfrm>
        </p:grpSpPr>
        <p:grpSp>
          <p:nvGrpSpPr>
            <p:cNvPr id="146" name="组合 145">
              <a:extLst>
                <a:ext uri="{FF2B5EF4-FFF2-40B4-BE49-F238E27FC236}">
                  <a16:creationId xmlns:a16="http://schemas.microsoft.com/office/drawing/2014/main" id="{D2DBA70A-0FEC-0BC4-1232-3820E0A5EBE1}"/>
                </a:ext>
              </a:extLst>
            </p:cNvPr>
            <p:cNvGrpSpPr/>
            <p:nvPr/>
          </p:nvGrpSpPr>
          <p:grpSpPr>
            <a:xfrm>
              <a:off x="716311" y="1278305"/>
              <a:ext cx="5181486" cy="1394964"/>
              <a:chOff x="716311" y="1278305"/>
              <a:chExt cx="5181486" cy="1394964"/>
            </a:xfrm>
          </p:grpSpPr>
          <p:sp>
            <p:nvSpPr>
              <p:cNvPr id="206" name="1">
                <a:extLst>
                  <a:ext uri="{FF2B5EF4-FFF2-40B4-BE49-F238E27FC236}">
                    <a16:creationId xmlns:a16="http://schemas.microsoft.com/office/drawing/2014/main" id="{43B46DCC-9EF8-8C2C-497B-4DF0F81B30F0}"/>
                  </a:ext>
                </a:extLst>
              </p:cNvPr>
              <p:cNvSpPr/>
              <p:nvPr/>
            </p:nvSpPr>
            <p:spPr>
              <a:xfrm>
                <a:off x="716311" y="1278305"/>
                <a:ext cx="5181486" cy="1394964"/>
              </a:xfrm>
              <a:prstGeom prst="roundRect">
                <a:avLst>
                  <a:gd name="adj" fmla="val 6364"/>
                </a:avLst>
              </a:prstGeom>
              <a:solidFill>
                <a:schemeClr val="bg1"/>
              </a:solidFill>
              <a:ln w="9525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" name="Title-1">
                <a:extLst>
                  <a:ext uri="{FF2B5EF4-FFF2-40B4-BE49-F238E27FC236}">
                    <a16:creationId xmlns:a16="http://schemas.microsoft.com/office/drawing/2014/main" id="{CB870570-0970-58B4-947B-F133C0D05FF7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998141" y="1411669"/>
                <a:ext cx="2703954" cy="26342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noAutofit/>
              </a:bodyPr>
              <a:lstStyle/>
              <a:p>
                <a:pPr lvl="0">
                  <a:defRPr/>
                </a:pPr>
                <a:r>
                  <a:rPr lang="zh-CN" altLang="en-US" b="1" kern="0" dirty="0">
                    <a:solidFill>
                      <a:srgbClr val="262626">
                        <a:lumMod val="90000"/>
                        <a:lumOff val="10000"/>
                      </a:srgbClr>
                    </a:solidFill>
                    <a:ea typeface="Microsoft YaHei" panose="020B0503020204020204" charset="-122"/>
                  </a:rPr>
                  <a:t>成果价值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262626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Microsoft YaHei" panose="020B0503020204020204" charset="-122"/>
                  <a:cs typeface="+mn-cs"/>
                </a:endParaRPr>
              </a:p>
            </p:txBody>
          </p:sp>
          <p:sp>
            <p:nvSpPr>
              <p:cNvPr id="208" name="Body-1">
                <a:extLst>
                  <a:ext uri="{FF2B5EF4-FFF2-40B4-BE49-F238E27FC236}">
                    <a16:creationId xmlns:a16="http://schemas.microsoft.com/office/drawing/2014/main" id="{73F1B68D-E76C-8C53-3737-ECFD15828C21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998140" y="1691271"/>
                <a:ext cx="4799454" cy="69840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lIns="108000" tIns="108000" rIns="108000" bIns="10800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3765">
                  <a:lnSpc>
                    <a:spcPct val="130000"/>
                  </a:lnSpc>
                  <a:buSzPct val="100000"/>
                  <a:defRPr/>
                </a:pP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实现了一个功能完善的摄影器材交易系统；</a:t>
                </a:r>
                <a:endParaRPr lang="en-US" altLang="zh-CN" sz="1400" dirty="0">
                  <a:solidFill>
                    <a:schemeClr val="tx1"/>
                  </a:solidFill>
                  <a:latin typeface="+mn-ea"/>
                </a:endParaRPr>
              </a:p>
              <a:p>
                <a:pPr defTabSz="913765">
                  <a:lnSpc>
                    <a:spcPct val="130000"/>
                  </a:lnSpc>
                  <a:buSzPct val="100000"/>
                  <a:defRPr/>
                </a:pP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提供了便捷的摄影器材交易平台；</a:t>
                </a:r>
                <a:endParaRPr lang="en-US" altLang="zh-CN" sz="1400" dirty="0">
                  <a:solidFill>
                    <a:schemeClr val="tx1"/>
                  </a:solidFill>
                  <a:latin typeface="+mn-ea"/>
                </a:endParaRPr>
              </a:p>
              <a:p>
                <a:pPr defTabSz="913765">
                  <a:lnSpc>
                    <a:spcPct val="130000"/>
                  </a:lnSpc>
                  <a:buSzPct val="100000"/>
                  <a:defRPr/>
                </a:pP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提升了摄影器材交易的效率和透明度；</a:t>
                </a:r>
                <a:endParaRPr lang="en-US" altLang="zh-CN" sz="1400" dirty="0">
                  <a:solidFill>
                    <a:schemeClr val="tx1"/>
                  </a:solidFill>
                  <a:latin typeface="+mn-ea"/>
                </a:endParaRPr>
              </a:p>
              <a:p>
                <a:pPr defTabSz="913765">
                  <a:lnSpc>
                    <a:spcPct val="130000"/>
                  </a:lnSpc>
                  <a:buSzPct val="100000"/>
                  <a:defRPr/>
                </a:pP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促进了摄影器材的流通和共享。</a:t>
                </a:r>
                <a:endParaRPr kumimoji="0" lang="en-GB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  <p:grpSp>
          <p:nvGrpSpPr>
            <p:cNvPr id="147" name="组合 146">
              <a:extLst>
                <a:ext uri="{FF2B5EF4-FFF2-40B4-BE49-F238E27FC236}">
                  <a16:creationId xmlns:a16="http://schemas.microsoft.com/office/drawing/2014/main" id="{1B43BE71-BD28-99ED-C131-37D8CB0196A8}"/>
                </a:ext>
              </a:extLst>
            </p:cNvPr>
            <p:cNvGrpSpPr/>
            <p:nvPr/>
          </p:nvGrpSpPr>
          <p:grpSpPr>
            <a:xfrm>
              <a:off x="716311" y="2806632"/>
              <a:ext cx="5181486" cy="1302891"/>
              <a:chOff x="716311" y="2806632"/>
              <a:chExt cx="5181486" cy="1302891"/>
            </a:xfrm>
          </p:grpSpPr>
          <p:sp>
            <p:nvSpPr>
              <p:cNvPr id="203" name="3">
                <a:extLst>
                  <a:ext uri="{FF2B5EF4-FFF2-40B4-BE49-F238E27FC236}">
                    <a16:creationId xmlns:a16="http://schemas.microsoft.com/office/drawing/2014/main" id="{88EAFB30-D1DC-C956-3F8A-DDC54FE2EFF3}"/>
                  </a:ext>
                </a:extLst>
              </p:cNvPr>
              <p:cNvSpPr/>
              <p:nvPr/>
            </p:nvSpPr>
            <p:spPr>
              <a:xfrm>
                <a:off x="716311" y="2806632"/>
                <a:ext cx="5181486" cy="1302891"/>
              </a:xfrm>
              <a:prstGeom prst="roundRect">
                <a:avLst>
                  <a:gd name="adj" fmla="val 6364"/>
                </a:avLst>
              </a:prstGeom>
              <a:solidFill>
                <a:schemeClr val="bg1"/>
              </a:solidFill>
              <a:ln w="9525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Title-3">
                <a:extLst>
                  <a:ext uri="{FF2B5EF4-FFF2-40B4-BE49-F238E27FC236}">
                    <a16:creationId xmlns:a16="http://schemas.microsoft.com/office/drawing/2014/main" id="{62B7212E-E6BA-1634-D10C-824D3E526D58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998141" y="2939997"/>
                <a:ext cx="2703954" cy="26342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noAutofit/>
              </a:bodyPr>
              <a:lstStyle/>
              <a:p>
                <a:pPr lvl="0">
                  <a:defRPr/>
                </a:pPr>
                <a:r>
                  <a:rPr lang="zh-CN" altLang="en-US" b="1" kern="0" dirty="0">
                    <a:solidFill>
                      <a:srgbClr val="262626">
                        <a:lumMod val="90000"/>
                        <a:lumOff val="10000"/>
                      </a:srgbClr>
                    </a:solidFill>
                    <a:ea typeface="Microsoft YaHei" panose="020B0503020204020204" charset="-122"/>
                  </a:rPr>
                  <a:t>专业特色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262626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Microsoft YaHei" panose="020B0503020204020204" charset="-122"/>
                  <a:cs typeface="+mn-cs"/>
                </a:endParaRPr>
              </a:p>
            </p:txBody>
          </p:sp>
          <p:sp>
            <p:nvSpPr>
              <p:cNvPr id="205" name="Body-3">
                <a:extLst>
                  <a:ext uri="{FF2B5EF4-FFF2-40B4-BE49-F238E27FC236}">
                    <a16:creationId xmlns:a16="http://schemas.microsoft.com/office/drawing/2014/main" id="{2B52634A-67DA-D9C4-6868-642E7D9D5F4C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998140" y="3219599"/>
                <a:ext cx="4799454" cy="69840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lIns="108000" tIns="108000" rIns="108000" bIns="10800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3765">
                  <a:lnSpc>
                    <a:spcPct val="130000"/>
                  </a:lnSpc>
                  <a:buSzPct val="100000"/>
                  <a:defRPr/>
                </a:pP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结合摄影行业特点，提供专业、多模式的器材交易功能；支持二手器材交易、器材租赁，满足不同用户的需求；提供详细的商品信息和评价系统；实现了商家管理后台，便于商家运营。</a:t>
                </a:r>
                <a:endParaRPr kumimoji="0" lang="en-GB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  <p:grpSp>
          <p:nvGrpSpPr>
            <p:cNvPr id="148" name="组合 147">
              <a:extLst>
                <a:ext uri="{FF2B5EF4-FFF2-40B4-BE49-F238E27FC236}">
                  <a16:creationId xmlns:a16="http://schemas.microsoft.com/office/drawing/2014/main" id="{EA3B9205-BC8E-FDFC-855C-91D9DFA299CE}"/>
                </a:ext>
              </a:extLst>
            </p:cNvPr>
            <p:cNvGrpSpPr/>
            <p:nvPr/>
          </p:nvGrpSpPr>
          <p:grpSpPr>
            <a:xfrm>
              <a:off x="716310" y="4334962"/>
              <a:ext cx="10759379" cy="1244734"/>
              <a:chOff x="716310" y="4334962"/>
              <a:chExt cx="10759379" cy="1244734"/>
            </a:xfrm>
          </p:grpSpPr>
          <p:sp>
            <p:nvSpPr>
              <p:cNvPr id="200" name="5">
                <a:extLst>
                  <a:ext uri="{FF2B5EF4-FFF2-40B4-BE49-F238E27FC236}">
                    <a16:creationId xmlns:a16="http://schemas.microsoft.com/office/drawing/2014/main" id="{1459B8E9-01A9-3DC2-8116-5B9794CD57C0}"/>
                  </a:ext>
                </a:extLst>
              </p:cNvPr>
              <p:cNvSpPr/>
              <p:nvPr/>
            </p:nvSpPr>
            <p:spPr>
              <a:xfrm>
                <a:off x="716310" y="4334962"/>
                <a:ext cx="10759379" cy="1244734"/>
              </a:xfrm>
              <a:prstGeom prst="roundRect">
                <a:avLst>
                  <a:gd name="adj" fmla="val 6364"/>
                </a:avLst>
              </a:prstGeom>
              <a:solidFill>
                <a:schemeClr val="bg1"/>
              </a:solidFill>
              <a:ln w="9525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1" name="Title-5">
                <a:extLst>
                  <a:ext uri="{FF2B5EF4-FFF2-40B4-BE49-F238E27FC236}">
                    <a16:creationId xmlns:a16="http://schemas.microsoft.com/office/drawing/2014/main" id="{F3D168A4-300D-F6AE-97D6-243D7E2782B5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998141" y="4468326"/>
                <a:ext cx="2703954" cy="26342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noAutofit/>
              </a:bodyPr>
              <a:lstStyle/>
              <a:p>
                <a:pPr lvl="0">
                  <a:defRPr/>
                </a:pPr>
                <a:r>
                  <a:rPr lang="zh-CN" altLang="en-US" b="1" kern="0" dirty="0">
                    <a:solidFill>
                      <a:srgbClr val="262626">
                        <a:lumMod val="90000"/>
                        <a:lumOff val="10000"/>
                      </a:srgbClr>
                    </a:solidFill>
                    <a:ea typeface="Microsoft YaHei" panose="020B0503020204020204" charset="-122"/>
                  </a:rPr>
                  <a:t>总结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262626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Microsoft YaHei" panose="020B0503020204020204" charset="-122"/>
                  <a:cs typeface="+mn-cs"/>
                </a:endParaRPr>
              </a:p>
            </p:txBody>
          </p:sp>
          <p:sp>
            <p:nvSpPr>
              <p:cNvPr id="202" name="Body-5">
                <a:extLst>
                  <a:ext uri="{FF2B5EF4-FFF2-40B4-BE49-F238E27FC236}">
                    <a16:creationId xmlns:a16="http://schemas.microsoft.com/office/drawing/2014/main" id="{6EE4159F-C02B-CC55-A329-11ADC4F6F3A5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998139" y="4747928"/>
                <a:ext cx="10213651" cy="69840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lIns="108000" tIns="108000" rIns="108000" bIns="10800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3765">
                  <a:lnSpc>
                    <a:spcPct val="130000"/>
                  </a:lnSpc>
                  <a:buSzPct val="100000"/>
                  <a:defRPr/>
                </a:pP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成功完成了摄影器材交易系统的设计与实现；系统功能完善，性能稳定，安全性高；</a:t>
                </a:r>
                <a:endParaRPr lang="en-US" altLang="zh-CN" sz="1400" dirty="0">
                  <a:solidFill>
                    <a:schemeClr val="tx1"/>
                  </a:solidFill>
                  <a:latin typeface="+mn-ea"/>
                </a:endParaRPr>
              </a:p>
              <a:p>
                <a:pPr defTabSz="913765">
                  <a:lnSpc>
                    <a:spcPct val="130000"/>
                  </a:lnSpc>
                  <a:buSzPct val="100000"/>
                  <a:defRPr/>
                </a:pP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满足了摄影爱好者和商家的需求；为摄影器材交易提供了便捷、安全、高效的平台；</a:t>
                </a:r>
                <a:endParaRPr lang="en-US" altLang="zh-CN" sz="1400" dirty="0">
                  <a:solidFill>
                    <a:schemeClr val="tx1"/>
                  </a:solidFill>
                  <a:latin typeface="+mn-ea"/>
                </a:endParaRPr>
              </a:p>
              <a:p>
                <a:pPr defTabSz="913765">
                  <a:lnSpc>
                    <a:spcPct val="130000"/>
                  </a:lnSpc>
                  <a:buSzPct val="100000"/>
                  <a:defRPr/>
                </a:pP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学习并实践了全栈开发技术，提升了软件开发能力。</a:t>
                </a:r>
                <a:endParaRPr kumimoji="0" lang="en-GB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  <p:grpSp>
          <p:nvGrpSpPr>
            <p:cNvPr id="149" name="组合 148">
              <a:extLst>
                <a:ext uri="{FF2B5EF4-FFF2-40B4-BE49-F238E27FC236}">
                  <a16:creationId xmlns:a16="http://schemas.microsoft.com/office/drawing/2014/main" id="{732D1DCC-B58D-A551-3860-246EA03F3929}"/>
                </a:ext>
              </a:extLst>
            </p:cNvPr>
            <p:cNvGrpSpPr/>
            <p:nvPr/>
          </p:nvGrpSpPr>
          <p:grpSpPr>
            <a:xfrm>
              <a:off x="6294204" y="1278305"/>
              <a:ext cx="5181486" cy="1394964"/>
              <a:chOff x="6294204" y="1278305"/>
              <a:chExt cx="5181486" cy="1394964"/>
            </a:xfrm>
          </p:grpSpPr>
          <p:sp>
            <p:nvSpPr>
              <p:cNvPr id="154" name="2">
                <a:extLst>
                  <a:ext uri="{FF2B5EF4-FFF2-40B4-BE49-F238E27FC236}">
                    <a16:creationId xmlns:a16="http://schemas.microsoft.com/office/drawing/2014/main" id="{B4F46FB5-987E-CA98-269B-2642D8816A8B}"/>
                  </a:ext>
                </a:extLst>
              </p:cNvPr>
              <p:cNvSpPr/>
              <p:nvPr/>
            </p:nvSpPr>
            <p:spPr>
              <a:xfrm>
                <a:off x="6294204" y="1278305"/>
                <a:ext cx="5181486" cy="1394964"/>
              </a:xfrm>
              <a:prstGeom prst="roundRect">
                <a:avLst>
                  <a:gd name="adj" fmla="val 6364"/>
                </a:avLst>
              </a:prstGeom>
              <a:solidFill>
                <a:schemeClr val="bg1"/>
              </a:solidFill>
              <a:ln w="9525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Title-2">
                <a:extLst>
                  <a:ext uri="{FF2B5EF4-FFF2-40B4-BE49-F238E27FC236}">
                    <a16:creationId xmlns:a16="http://schemas.microsoft.com/office/drawing/2014/main" id="{9E9864DB-17B8-8852-9952-63D6E99C39A7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576034" y="1411669"/>
                <a:ext cx="2703954" cy="26342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noAutofit/>
              </a:bodyPr>
              <a:lstStyle/>
              <a:p>
                <a:pPr lvl="0">
                  <a:defRPr/>
                </a:pPr>
                <a:r>
                  <a:rPr lang="zh-CN" altLang="en-US" b="1" kern="0" dirty="0">
                    <a:solidFill>
                      <a:srgbClr val="262626">
                        <a:lumMod val="90000"/>
                        <a:lumOff val="10000"/>
                      </a:srgbClr>
                    </a:solidFill>
                    <a:ea typeface="Microsoft YaHei" panose="020B0503020204020204" charset="-122"/>
                  </a:rPr>
                  <a:t>创新点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262626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Microsoft YaHei" panose="020B0503020204020204" charset="-122"/>
                  <a:cs typeface="+mn-cs"/>
                </a:endParaRPr>
              </a:p>
            </p:txBody>
          </p:sp>
          <p:sp>
            <p:nvSpPr>
              <p:cNvPr id="199" name="Body-2">
                <a:extLst>
                  <a:ext uri="{FF2B5EF4-FFF2-40B4-BE49-F238E27FC236}">
                    <a16:creationId xmlns:a16="http://schemas.microsoft.com/office/drawing/2014/main" id="{064BAC04-C7DA-9DEF-5459-3C188B6018EC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6576033" y="1691271"/>
                <a:ext cx="4799454" cy="69840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lIns="108000" tIns="108000" rIns="108000" bIns="10800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3765">
                  <a:lnSpc>
                    <a:spcPct val="130000"/>
                  </a:lnSpc>
                  <a:buSzPct val="100000"/>
                  <a:defRPr/>
                </a:pP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全栈技术集成 ：整合了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+mn-ea"/>
                  </a:rPr>
                  <a:t>Vue 3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、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+mn-ea"/>
                  </a:rPr>
                  <a:t>Spring Boot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、</a:t>
                </a:r>
                <a:r>
                  <a:rPr lang="en-US" altLang="zh-CN" sz="1400" dirty="0" err="1">
                    <a:solidFill>
                      <a:schemeClr val="tx1"/>
                    </a:solidFill>
                    <a:latin typeface="+mn-ea"/>
                  </a:rPr>
                  <a:t>MyBatis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+mn-ea"/>
                  </a:rPr>
                  <a:t> Plus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等现代技术栈；模块化设计 ：采用模块化架构，便于系统扩展和维护；多模式交易体现；安全性保障 ：实现了多层次的安全防护机制；用户体验 ：响应式设计。</a:t>
                </a:r>
                <a:endParaRPr kumimoji="0" lang="en-GB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702FCDB4-DABA-F662-AEC3-669C9523DC91}"/>
                </a:ext>
              </a:extLst>
            </p:cNvPr>
            <p:cNvGrpSpPr/>
            <p:nvPr/>
          </p:nvGrpSpPr>
          <p:grpSpPr>
            <a:xfrm>
              <a:off x="6294204" y="2806633"/>
              <a:ext cx="5181486" cy="1302890"/>
              <a:chOff x="6294204" y="2806633"/>
              <a:chExt cx="5181486" cy="1302890"/>
            </a:xfrm>
          </p:grpSpPr>
          <p:sp>
            <p:nvSpPr>
              <p:cNvPr id="151" name="4">
                <a:extLst>
                  <a:ext uri="{FF2B5EF4-FFF2-40B4-BE49-F238E27FC236}">
                    <a16:creationId xmlns:a16="http://schemas.microsoft.com/office/drawing/2014/main" id="{8CCB5580-DEA5-6705-3BFA-13D860758449}"/>
                  </a:ext>
                </a:extLst>
              </p:cNvPr>
              <p:cNvSpPr/>
              <p:nvPr/>
            </p:nvSpPr>
            <p:spPr>
              <a:xfrm>
                <a:off x="6294204" y="2806633"/>
                <a:ext cx="5181486" cy="1302890"/>
              </a:xfrm>
              <a:prstGeom prst="roundRect">
                <a:avLst>
                  <a:gd name="adj" fmla="val 6364"/>
                </a:avLst>
              </a:prstGeom>
              <a:solidFill>
                <a:schemeClr val="bg1"/>
              </a:solidFill>
              <a:ln w="9525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Title-4">
                <a:extLst>
                  <a:ext uri="{FF2B5EF4-FFF2-40B4-BE49-F238E27FC236}">
                    <a16:creationId xmlns:a16="http://schemas.microsoft.com/office/drawing/2014/main" id="{92F12287-ADBD-1BC7-119A-30E1EAB1ABCA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576034" y="2939997"/>
                <a:ext cx="2703954" cy="26342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noAutofit/>
              </a:bodyPr>
              <a:lstStyle/>
              <a:p>
                <a:pPr lvl="0">
                  <a:defRPr/>
                </a:pPr>
                <a:r>
                  <a:rPr lang="zh-CN" altLang="en-US" b="1" kern="0" dirty="0">
                    <a:solidFill>
                      <a:srgbClr val="262626">
                        <a:lumMod val="90000"/>
                        <a:lumOff val="10000"/>
                      </a:srgbClr>
                    </a:solidFill>
                    <a:ea typeface="Microsoft YaHei" panose="020B0503020204020204" charset="-122"/>
                  </a:rPr>
                  <a:t>未来展望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262626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Microsoft YaHei" panose="020B0503020204020204" charset="-122"/>
                  <a:cs typeface="+mn-cs"/>
                </a:endParaRPr>
              </a:p>
            </p:txBody>
          </p:sp>
          <p:sp>
            <p:nvSpPr>
              <p:cNvPr id="153" name="Body-4">
                <a:extLst>
                  <a:ext uri="{FF2B5EF4-FFF2-40B4-BE49-F238E27FC236}">
                    <a16:creationId xmlns:a16="http://schemas.microsoft.com/office/drawing/2014/main" id="{367A2CFA-E78F-F944-CB32-9ADA95148D52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6576033" y="3219599"/>
                <a:ext cx="4799454" cy="69840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lIns="108000" tIns="108000" rIns="108000" bIns="10800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3765">
                  <a:lnSpc>
                    <a:spcPct val="130000"/>
                  </a:lnSpc>
                  <a:buSzPct val="100000"/>
                  <a:defRPr/>
                </a:pPr>
                <a:r>
                  <a:rPr lang="zh-CN" altLang="en-US" sz="1400" dirty="0">
                    <a:solidFill>
                      <a:schemeClr val="tx1"/>
                    </a:solidFill>
                    <a:latin typeface="+mn-ea"/>
                  </a:rPr>
                  <a:t>增加移动端应用，提升用户体验；集成第三方支付和物流接口；引入人工智能推荐系统，提升商品推荐精度；接入大模型智能客服；扩展国际化支持，面向全球用户；持续优化系统性能和安全性。</a:t>
                </a:r>
                <a:endParaRPr kumimoji="0" lang="en-GB" altLang="zh-CN" sz="14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65883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260850" y="1104900"/>
            <a:ext cx="4245610" cy="4245610"/>
            <a:chOff x="7297" y="2629"/>
            <a:chExt cx="5542" cy="5542"/>
          </a:xfrm>
        </p:grpSpPr>
        <p:sp>
          <p:nvSpPr>
            <p:cNvPr id="5" name="矩形 4"/>
            <p:cNvSpPr/>
            <p:nvPr/>
          </p:nvSpPr>
          <p:spPr>
            <a:xfrm rot="2700000">
              <a:off x="7297" y="2629"/>
              <a:ext cx="5542" cy="5542"/>
            </a:xfrm>
            <a:prstGeom prst="rect">
              <a:avLst/>
            </a:prstGeom>
            <a:solidFill>
              <a:srgbClr val="CECDCC">
                <a:alpha val="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 rot="2700000">
              <a:off x="7831" y="3163"/>
              <a:ext cx="4474" cy="4474"/>
            </a:xfrm>
            <a:prstGeom prst="rect">
              <a:avLst/>
            </a:prstGeom>
            <a:solidFill>
              <a:srgbClr val="7AA8D5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1642042" y="2504430"/>
            <a:ext cx="94832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感谢各位评委老师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B5BD16-310A-E867-06A5-56C3383E927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6110" y="264140"/>
            <a:ext cx="1080000" cy="108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VhNGU4Y2M4YjA3Mzk3MTQ5M2MxNWM4NWFjMzljY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2916"/>
  <p:tag name="OP_SCP_COMPONENT_INFO" val="{&quot;title&quot;:&quot;扁平4项环形总分&quot;,&quot;description&quot;:&quot;蓝色,扁平,4项&quot;,&quot;keywords&quot;:[&quot;蓝色&quot;,&quot;扁平&quot;,&quot;4项&quot;],&quot;labels&quot;:[]}"/>
  <p:tag name="OP_SCP_GROUP_ID" val="2665e891-a1d8-2d97-435b-d9959aca58e3"/>
  <p:tag name="OP_SCP_ITEM_COUNT" val="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机添加文本&#10;单机添加文本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4"/>
  <p:tag name="OP_SCP_DEFAULT_TEXT" val="单机添加文本&#10;单机添加文本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机添加文本&#10;单机添加文本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机添加文本&#10;单机添加文本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0"/>
  <p:tag name="OP_SCP_DEFAULT_TEXT" val="添加标题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3417"/>
  <p:tag name="OP_SCP_COMPONENT_INFO" val="{&quot;title&quot;:&quot;扁平6项列表框架&quot;,&quot;description&quot;:&quot;蓝色,扁平,6项&quot;,&quot;keywords&quot;:[&quot;蓝色&quot;,&quot;扁平&quot;,&quot;6项&quot;],&quot;labels&quot;:[]}"/>
  <p:tag name="OP_SCP_GROUP_ID" val="5ff0d77d-8f3b-0ac1-9440-28ccf12012ae"/>
  <p:tag name="OP_SCP_ITEM_COUNT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机添加文本&#10;单机添加文本&#10;单机添加文本&#10;单机添加文本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机添加文本&#10;单机添加文本&#10;单机添加文本&#10;单机添加文本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机添加文本&#10;单机添加文本&#10;单机添加文本&#10;单机添加文本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机添加文本&#10;单机添加文本&#10;单机添加文本&#10;单机添加文本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机添加文本&#10;单机添加文本&#10;单机添加文本&#10;单机添加文本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5"/>
  <p:tag name="OP_SCP_DEFAULT_TEXT" val="添加标题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5"/>
  <p:tag name="OP_SCP_DEFAULT_TEXT" val="添加标题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5"/>
  <p:tag name="OP_SCP_DEFAULT_TEXT" val="单机添加文本&#10;单机添加文本&#10;单机添加文本&#10;单机添加文本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4"/>
  <p:tag name="OP_SCP_DEFAULT_TEXT" val="单机添加文本&#10;单机添加文本&#10;单机添加文本&#10;单机添加文本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6"/>
  <p:tag name="OP_SCP_DEFAULT_TEXT" val="添加标题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机添加文本&#10;单机添加文本&#10;单机添加文本&#10;单机添加文本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添加标题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机添加文本&#10;单机添加文本&#10;单机添加文本&#10;单机添加文本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4"/>
  <p:tag name="OP_SCP_DEFAULT_TEXT" val="添加标题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4"/>
  <p:tag name="OP_SCP_DEFAULT_TEXT" val="单机添加文本&#10;单机添加文本&#10;单机添加文本&#10;单机添加文本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5"/>
  <p:tag name="OP_SCP_DEFAULT_TEXT" val="添加标题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5"/>
  <p:tag name="OP_SCP_DEFAULT_TEXT" val="单机添加文本&#10;单机添加文本&#10;单机添加文本&#10;单机添加文本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机添加文本&#10;单机添加文本&#10;单机添加文本&#10;单机添加文本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0"/>
  <p:tag name="OP_SCP_DEFAULT_TEXT" val="添加标题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3548"/>
  <p:tag name="OP_SCP_COMPONENT_INFO" val="{&quot;title&quot;:&quot;扁平6项列表&quot;,&quot;description&quot;:&quot;扁平6项列表&quot;,&quot;keywords&quot;:[&quot;扁平&quot;,&quot;6项&quot;,&quot;列表&quot;],&quot;labels&quot;:[]}"/>
  <p:tag name="OP_SCP_GROUP_ID" val="66ed4bde-f521-d49d-00e2-3dbe87bc1188"/>
  <p:tag name="OP_SCP_ITEM_COUNT" val="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6"/>
  <p:tag name="OP_SCP_DEFAULT_TEXT" val="单击此处添加文本，单击此处添加文本，单击此处添加文本，单击此处添加文本。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DEFAULT_TEXT" val="添加标题"/>
  <p:tag name="OP_SCP_ITEM_INDEX" val="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6"/>
  <p:tag name="OP_SCP_DEFAULT_TEXT" val="0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5"/>
  <p:tag name="OP_SCP_DEFAULT_TEXT" val="单击此处添加文本，单击此处添加文本，单击此处添加文本，单击此处添加文本。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DEFAULT_TEXT" val="添加标题"/>
  <p:tag name="OP_SCP_ITEM_INDEX" val="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5"/>
  <p:tag name="OP_SCP_DEFAULT_TEXT" val="0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4"/>
  <p:tag name="OP_SCP_DEFAULT_TEXT" val="单击此处添加文本，单击此处添加文本，单击此处添加文本，单击此处添加文本。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DEFAULT_TEXT" val="添加标题"/>
  <p:tag name="OP_SCP_ITEM_INDEX" val="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4"/>
  <p:tag name="OP_SCP_DEFAULT_TEXT" val="0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，单击此处添加文本。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DEFAULT_TEXT" val="添加标题"/>
  <p:tag name="OP_SCP_ITEM_INDEX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3"/>
  <p:tag name="OP_SCP_DEFAULT_TEXT" val="0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。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  <p:tag name="OP_SCP_SHAPE_TYPE" val="Index"/>
  <p:tag name="OP_SCP_DEFAULT_TEXT" val="0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。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DEFAULT_TEXT" val="添加标题"/>
  <p:tag name="OP_SCP_ITEM_INDEX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0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2524"/>
  <p:tag name="OP_SCP_COMPONENT_INFO" val="{&quot;title&quot;:&quot;扁平4项棱锥&quot;,&quot;description&quot;:&quot;扁平,蓝色,4项&quot;,&quot;keywords&quot;:[&quot;扁平&quot;,&quot;蓝色&quot;,&quot;4项&quot;],&quot;labels&quot;:[]}"/>
  <p:tag name="OP_SCP_GROUP_ID" val="f18c5705-1ea5-77fc-7b9d-7a8b8b101035"/>
  <p:tag name="OP_SCP_ITEM_COUNT" val="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4"/>
  <p:tag name="OP_SCP_DEFAULT_TEXT" val="单击此处添加文本&#10;单击此处添加文本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4"/>
  <p:tag name="OP_SCP_DEFAULT_TEXT" val="添加标题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4"/>
  <p:tag name="OP_SCP_DEFAULT_TEXT" val="0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击此处添加文本&#10;单击此处添加文本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添加标题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3"/>
  <p:tag name="OP_SCP_DEFAULT_TEXT" val="0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&#10;单击此处添加文本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0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&#10;单击此处添加文本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0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796"/>
  <p:tag name="OP_SCP_COMPONENT_INFO" val="{&quot;title&quot;:&quot;简约白色5项纯文本&quot;,&quot;description&quot;:&quot;5项,纯文本,蓝色&quot;,&quot;keywords&quot;:[&quot;5项&quot;,&quot;纯文本&quot;,&quot;蓝色&quot;],&quot;labels&quot;:[]}"/>
  <p:tag name="OP_SCP_GROUP_ID" val="a6f55e63-6b0c-e5cf-6974-42a0f74c1298"/>
  <p:tag name="OP_SCP_ITEM_COUNT" val="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DEFAULT_TEXT" val="添加标题"/>
  <p:tag name="OP_SCP_ITEM_INDEX" val="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4"/>
  <p:tag name="OP_SCP_DEFAULT_TEXT" val="单击此处添加文本，单击此处添加文本，单击此处添加文本，单击此处添加文本，单击此处添加文本。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DEFAULT_TEXT" val="添加标题"/>
  <p:tag name="OP_SCP_ITEM_INDEX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。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DEFAULT_TEXT" val="添加标题"/>
  <p:tag name="OP_SCP_ITEM_INDEX" val="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5"/>
  <p:tag name="OP_SCP_DEFAULT_TEXT" val="单击此处添加文本，单击此处添加文本，单击此处添加文本，单击此处添加文本，单击此处添加文本，单击此处添加文本，单击此处添加文本，单击此处添加文本，单击此处添加文本，单击此处添加文本。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DEFAULT_TEXT" val="添加标题"/>
  <p:tag name="OP_SCP_ITEM_INDEX" val="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，单击此处添加文本，单击此处添加文本。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。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</TotalTime>
  <Words>1228</Words>
  <Application>Microsoft Office PowerPoint</Application>
  <PresentationFormat>宽屏</PresentationFormat>
  <Paragraphs>243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ui-sans-serif</vt:lpstr>
      <vt:lpstr>思源宋体 CN Medium</vt:lpstr>
      <vt:lpstr>宋体</vt:lpstr>
      <vt:lpstr>微软雅黑</vt:lpstr>
      <vt:lpstr>微软雅黑</vt:lpstr>
      <vt:lpstr>Arial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CF</dc:creator>
  <cp:lastModifiedBy>Seven</cp:lastModifiedBy>
  <cp:revision>45</cp:revision>
  <dcterms:created xsi:type="dcterms:W3CDTF">2021-07-05T06:04:00Z</dcterms:created>
  <dcterms:modified xsi:type="dcterms:W3CDTF">2026-04-10T16:19:51Z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6BF58D2306AA4428AA57B8240B77132B</vt:lpwstr>
  </property>
  <property fmtid="{D5CDD505-2E9C-101B-9397-08002B2CF9AE}" pid="3" name="KSOProductBuildVer">
    <vt:lpwstr>2052-12.1.0.19770</vt:lpwstr>
  </property>
</Properties>
</file>